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Pembukaan. Jelaskan kaitan Pertemuan 1-3: HTML dan form sudah bisa dibuat; Pertemuan 4 fokus membuat tampilan lebih rapi, konsisten, dan nyaman dipakai.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6126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3A68"/>
                </a:solidFill>
              </a:rPr>
              <a:t>CSS Dasar: Membuat HTML Menjadi Visual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179222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Target 100 menit: mahasiswa mampu menerapkan styling dasar untuk warna, font, selector, dan box model pada halaman web sederhana.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2578608"/>
            <a:ext cx="5760720" cy="365760"/>
          </a:xfrm>
          <a:prstGeom prst="roundRect">
            <a:avLst>
              <a:gd name="adj" fmla="val 20000"/>
            </a:avLst>
          </a:prstGeom>
          <a:solidFill>
            <a:srgbClr val="FFF0E2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66547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</a:rPr>
              <a:t>Capaian: menerapkan styling dasar yang konsisten dan user-friendly</a:t>
            </a:r>
            <a:endParaRPr lang="en-US" sz="1000" dirty="0"/>
          </a:p>
        </p:txBody>
      </p:sp>
      <p:pic>
        <p:nvPicPr>
          <p:cNvPr id="7" name="Image 0" descr="/mnt/data/wide_clean_vector_illustration_scene._overall_a_b.png">    </p:cNvPr>
          <p:cNvPicPr>
            <a:picLocks noChangeAspect="1"/>
          </p:cNvPicPr>
          <p:nvPr/>
        </p:nvPicPr>
        <p:blipFill>
          <a:blip r:embed="rId1"/>
          <a:srcRect l="4976" r="4976" t="0" b="0"/>
          <a:stretch/>
        </p:blipFill>
        <p:spPr>
          <a:xfrm>
            <a:off x="7086600" y="658368"/>
            <a:ext cx="4754880" cy="2971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59168" y="425196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96328" y="4361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Output sesi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96328" y="4663440"/>
            <a:ext cx="3931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Halaman berita/kampus sederhana yang sudah memiliki warna, tipografi, spacing, border, dan box model yang rapi.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" y="3584448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15’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252728" y="3639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Orientasi CSS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252728" y="387705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Mengapa HTML perlu dipisahkan dari styling.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411480" y="4160520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" y="43251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20’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252728" y="42153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Selector &amp; cascade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252728" y="445312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Cara memilih elemen dan memahami prioritas aturan.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411480" y="4736592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" y="4901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30’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25272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Warna, font, box model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252728" y="5029200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Membangun tampilan yang nyaman dibaca.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411480" y="5312664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" y="5477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25’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252728" y="53675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Demo &amp; latihan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252728" y="56052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Menerapkan CSS pada halaman HTML.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411480" y="5888736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" y="6053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10’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252728" y="5943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Refleksi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252728" y="618134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Review, tanya jawab, dan tugas singkat.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Alur Pembelajaran 100 Menit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417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Sesi dibagi menjadi konsep, contoh, demo langsung, dan latihan singkat agar mahasiswa melihat dampak CSS secara visual.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0–10’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44168" y="22037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Pembuka &amp; review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44168" y="244144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Mengingat struktur HTML, form, dan kebutuhan styling.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2724912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8895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10–25’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27797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Konsep CSS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44168" y="301752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Rule, declaration, selector, property, value, komentar.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25–45’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44168" y="3355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Selector &amp; cascade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44168" y="359359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Element, class, ID, grouping, inheritance, specificity.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40416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45–70’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44168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Visual dasar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44168" y="41696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Warna, font, text, background, border, box model.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02920" y="4453128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70–90’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44168" y="4507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Demo/praktik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44168" y="474573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Styling halaman artikel/berita kampus.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51937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90–100’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44168" y="50840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Refleksi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44168" y="532180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Checklist hasil, pertanyaan, dan instruksi tugas.</a:t>
            </a:r>
            <a:endParaRPr lang="en-US" sz="1120" dirty="0"/>
          </a:p>
        </p:txBody>
      </p:sp>
      <p:pic>
        <p:nvPicPr>
          <p:cNvPr id="29" name="Image 0" descr="/mnt/data/wide_clean_vector_infographic_illustration_on_a_wh.png">    </p:cNvPr>
          <p:cNvPicPr>
            <a:picLocks noChangeAspect="1"/>
          </p:cNvPicPr>
          <p:nvPr/>
        </p:nvPicPr>
        <p:blipFill>
          <a:blip r:embed="rId1"/>
          <a:srcRect l="9271" r="9271" t="0" b="0"/>
          <a:stretch/>
        </p:blipFill>
        <p:spPr>
          <a:xfrm>
            <a:off x="6446520" y="1874520"/>
            <a:ext cx="5029200" cy="347472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446520" y="5468112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55778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Fokus pedagogis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583680" y="5879592"/>
            <a:ext cx="475488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Mahasiswa tidak hanya menghafal properti CSS, tetapi mampu menjelaskan mengapa style tertentu dipakai dan bagaimana dampaknya ke keterbacaan.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Dari HTML ke CSS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HTML memberi struktur dan makna. CSS mengatur tampilan visual agar konten lebih mudah dibaca dan digunakan.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84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HTML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9260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&lt;h1&gt;, &lt;p&gt;, &lt;article&gt;, &lt;form&gt;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Mendefinisikan konten dan struktur.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842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CSS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31089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color, font-size, margin, padding, border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Mengatur presentasi dan pengalaman visual.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0" y="187452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984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Browser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49640" y="2286000"/>
            <a:ext cx="27432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Membaca HTML + CSS, lalu merender halaman menjadi tampilan visual di layar.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4937760" cy="1170432"/>
          </a:xfrm>
          <a:prstGeom prst="roundRect">
            <a:avLst>
              <a:gd name="adj" fmla="val 3906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3694176"/>
            <a:ext cx="4645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&lt;h1&gt;Portal Berita Kampus&lt;/h1&gt;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&lt;p&gt;Informasi akademik terbaru...&lt;/p&gt;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4754880" cy="1170432"/>
          </a:xfrm>
          <a:prstGeom prst="roundRect">
            <a:avLst>
              <a:gd name="adj" fmla="val 3906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694176"/>
            <a:ext cx="44622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color: #113A68;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{ line-height: 1.7; 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1042416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Pisahkan struktur dari tampilan.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Gunakan CSS untuk konsistensi visual.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Tampilan yang baik membantu pengguna memahami isi.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Anatomi Aturan CSS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Satu aturan CSS terdiri dari selector dan blok deklarasi. Di dalam deklarasi terdapat property dan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56816"/>
            <a:ext cx="3364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 {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property: value;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840480" cy="137160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01184" y="1956816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#113A68;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32px;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04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Selector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2468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Bagian yang memilih elemen HTML yang akan diberi gaya.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94760" y="379476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9044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Property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31920" y="4206240"/>
            <a:ext cx="2834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Nama aspek visual yang diatur, misalnya color, font-size, margin.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69480" y="379476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9044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Value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06640" y="4206240"/>
            <a:ext cx="2834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Nilai yang diberikan untuk property, misalnya #113A68, 16px, center.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0" y="525780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F0F6FF"/>
          </a:solidFill>
          <a:ln w="13970">
            <a:solidFill>
              <a:srgbClr val="113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534466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3A68"/>
                </a:solidFill>
              </a:rPr>
              <a:t>Prinsip penting: satu deklarasi selalu diakhiri titik koma 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Tiga Cara Menulis CSS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Mahasiswa perlu mengenal perbedaan inline, internal, dan external CSS, lalu memilih yang paling rapi untuk proyek.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1. Inline CSS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200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Ditulis langsung pada atribut style. Cepat untuk contoh kecil, tetapi sulit dirawat.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3200400" cy="59436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191256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style="color:blue;"&gt;Teks&lt;/p&gt;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38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2. Internal CSS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3200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Ditulis di dalam tag &lt;style&gt; pada &lt;head&gt;. Cocok untuk latihan satu file.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3063240"/>
            <a:ext cx="3200400" cy="86868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319125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{ color: blue;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938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3. External CSS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3200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Ditulis di file terpisah, misalnya style.css. Paling rapi untuk proyek.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21040" y="3063240"/>
            <a:ext cx="3200400" cy="59436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3191256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 href="style.css"&gt;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480060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113A68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91032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3A68"/>
                </a:solidFill>
              </a:rPr>
              <a:t>Rekomendasi praktikum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96926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Gunakan external CSS agar struktur folder materi di GitHub rapi: index.html + style.css.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3A68"/>
                </a:solidFill>
              </a:rPr>
              <a:t>Selector Dasar: Element, Class, 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Selector menentukan elemen mana yang menerima style. Pemilihan selector yang tepat membuat CSS lebih mudah dikelola.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Element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880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Semua elemen &lt;p&gt;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971800"/>
            <a:ext cx="3154680" cy="658368"/>
          </a:xfrm>
          <a:prstGeom prst="roundRect">
            <a:avLst>
              <a:gd name="adj" fmla="val 6944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3099816"/>
            <a:ext cx="2862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... 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385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Class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2880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Banyak elemen dengan class yang sama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2971800"/>
            <a:ext cx="3154680" cy="658368"/>
          </a:xfrm>
          <a:prstGeom prst="roundRect">
            <a:avLst>
              <a:gd name="adj" fmla="val 6944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3099816"/>
            <a:ext cx="2862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... }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9385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ID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8803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Satu elemen unik dalam halaman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3880" y="2971800"/>
            <a:ext cx="3154680" cy="658368"/>
          </a:xfrm>
          <a:prstGeom prst="roundRect">
            <a:avLst>
              <a:gd name="adj" fmla="val 6944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3099816"/>
            <a:ext cx="2862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{ ... }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97280" y="4343400"/>
            <a:ext cx="9875520" cy="960120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4471416"/>
            <a:ext cx="9582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 class="judul"&gt;Agenda Kampus&lt;/h2&gt;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id="hero"&gt;...&lt;/section&gt;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5532120"/>
            <a:ext cx="10058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</a:rPr>
              <a:t>Gunakan class untuk gaya yang dipakai berulang.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Gunakan ID untuk anchor atau elemen unik, bukan untuk semua styling.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Nama class sebaiknya deskriptif: .card-berita, .btn-daftar.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Grouping dan Combinator Sederhana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Grouping mengurangi duplikasi. Combinator membantu menargetkan elemen berdasarkan posisi di struktur HTML.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4663440" cy="3383280"/>
          </a:xfrm>
          <a:prstGeom prst="roundRect">
            <a:avLst>
              <a:gd name="adj" fmla="val 1351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865376"/>
            <a:ext cx="437083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#113A68;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&gt; img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78308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18928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h1, h2, h3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89320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Grouping selector: menerapkan gaya yang sama ke beberapa elemen sekaligus.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278892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89864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nav 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89320" y="3200400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Descendant selector: memilih semua link yang berada di dalam nav.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379476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39044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.card &gt; img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89320" y="4206240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Child selector: memilih img yang menjadi anak langsung dari .card.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516636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F0F6FF"/>
          </a:solidFill>
          <a:ln w="13970">
            <a:solidFill>
              <a:srgbClr val="113A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52532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3A68"/>
                </a:solidFill>
              </a:rPr>
              <a:t>Gunakan seperlunya: selector terlalu panjang membuat CSS sulit dipahami.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3A68"/>
                </a:solidFill>
              </a:rPr>
              <a:t>Cascade: Mengapa Style Bisa Berubah?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CSS dibaca sebagai “cascading”: aturan dapat saling menimpa berdasarkan sumber, urutan, specificity, dan inheritance.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Urutan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617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Aturan yang ditulis belakangan dapat menimpa aturan sebelumnya.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385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Specificity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4617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Selector yang lebih spesifik biasanya menang.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101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Inheritance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4617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Beberapa property diwariskan dari parent ke child, misalnya color dan font-family.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320040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3101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Default browser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3611880"/>
            <a:ext cx="4617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Browser sudah memiliki style bawaan untuk h1, p, ul, form, dan lain-lain.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892040"/>
            <a:ext cx="10149840" cy="77724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5020056"/>
            <a:ext cx="9857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black;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blue; }  /* ini menang karena muncul belakangan */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Specificity: Prioritas Selector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Ketika beberapa selector menargetkan elemen yang sama, browser menghitung selector mana yang lebih kuat.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Lemah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764792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5144" y="1892808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3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6052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Memilih seluruh elemen 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58775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2491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Sedang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569464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2697480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3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2651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Memilih elemen dengan class intro.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392424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295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C28"/>
                </a:solidFill>
              </a:rPr>
              <a:t>Kuat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3374136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5144" y="3502152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3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#utama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60520" y="34564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Memilih elemen dengan id utama.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19709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7F0"/>
          </a:solidFill>
          <a:ln w="12700">
            <a:solidFill>
              <a:srgbClr val="2E9F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3342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F68"/>
                </a:solidFill>
              </a:rPr>
              <a:t>Terkuat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4178808"/>
            <a:ext cx="16916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DCE7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5144" y="4306824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3A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style="..."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60520" y="4261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Inline style biasanya mengalahkan aturan eksternal.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0" y="1828800"/>
            <a:ext cx="4846320" cy="22860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8464" y="1956816"/>
            <a:ext cx="45537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id="utama" class="intro"&gt;Halo CSS&lt;/p&gt;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black;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.intro { color: orange;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#utama { color: blue; }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852160" y="4434840"/>
            <a:ext cx="4846320" cy="731520"/>
          </a:xfrm>
          <a:prstGeom prst="roundRect">
            <a:avLst>
              <a:gd name="adj" fmla="val 7500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544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Hasil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989320" y="4846320"/>
            <a:ext cx="4572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Teks menjadi biru karena selector ID lebih spesifik daripada class dan element selector.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Warna dalam CSS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Warna membantu hierarki visual, identitas, dan keterbacaan. Gunakan warna secukupnya dan konsisten.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389120" cy="2423160"/>
          </a:xfrm>
          <a:prstGeom prst="roundRect">
            <a:avLst>
              <a:gd name="adj" fmla="val 1887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56816"/>
            <a:ext cx="4096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#1F2937;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#FFFFFF;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rgb(21, 101, 192);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32120" y="178308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892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Named color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Contoh: red, blue, white. Mudah, tetapi kurang fleksibel.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49640" y="178308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892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HEX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0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Contoh: #113A68. Umum digunakan untuk desain web.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32120" y="315468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264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RGB / RGBA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0" y="3566160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Cocok saat butuh transparansi seperti rgba(0,0,0,.2).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49640" y="315468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0F6FF"/>
          </a:solidFill>
          <a:ln w="12700">
            <a:solidFill>
              <a:srgbClr val="113A68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3264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3A68"/>
                </a:solidFill>
              </a:rPr>
              <a:t>Kontras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0" y="3566160"/>
            <a:ext cx="2377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Pastikan teks cukup kontras terhadap latar agar mudah dibaca.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554480" y="5120640"/>
            <a:ext cx="8869680" cy="365760"/>
          </a:xfrm>
          <a:prstGeom prst="roundRect">
            <a:avLst>
              <a:gd name="adj" fmla="val 20000"/>
            </a:avLst>
          </a:prstGeom>
          <a:solidFill>
            <a:srgbClr val="FFF0E2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520750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</a:rPr>
              <a:t>Latihan: ubah warna judul, tombol, dan latar section menggunakan HEX.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Tipografi Dasar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Tipografi bukan hanya font; ia menentukan ritme baca, skala judul, dan kenyamanan membaca konten.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297680" cy="2834640"/>
          </a:xfrm>
          <a:prstGeom prst="roundRect">
            <a:avLst>
              <a:gd name="adj" fmla="val 1613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819656"/>
            <a:ext cx="4005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Arial, sans-serif;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1.7;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36px;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700;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57276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13A68"/>
                </a:solidFill>
              </a:rPr>
              <a:t>Aa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69280" y="2761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3A68"/>
                </a:solidFill>
              </a:rPr>
              <a:t>Judul besar memberi fokus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0" y="318211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Paragraf perlu line-height yang cukup agar nyaman dibaca. Terlalu rapat membuat mata cepat lelah, terlalu renggang membuat konten sulit diikuti.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0" y="461772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47274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Aturan praktis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06440" y="5029200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Gunakan 1–2 keluarga font, bedakan ukuran judul dan isi, jaga line-height 1.5–1.8 untuk paragraf.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Text Styling dan Keterbacaan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CSS juga mengatur perataan, dekorasi link, spasi antar huruf, dan transformasi teks.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120640" cy="3474720"/>
          </a:xfrm>
          <a:prstGeom prst="roundRect">
            <a:avLst>
              <a:gd name="adj" fmla="val 1316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819656"/>
            <a:ext cx="48280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#1565C0;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underline;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.subtitle {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text-transform: uppercase;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letter-spacing: .08em;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9280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text-align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2976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Gunakan left untuk paragraf panjang. Center cocok untuk judul pendek.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8529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text-decoration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42976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Jangan hilangkan tanda link tanpa memberi cue visual lain seperti warna atau hover.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70332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1304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letter-spacing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42976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Boleh digunakan untuk label kecil atau badge, tetapi jangan berlebihan.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98348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F0F6FF"/>
          </a:solidFill>
          <a:ln w="13970">
            <a:solidFill>
              <a:srgbClr val="113A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50703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3A68"/>
                </a:solidFill>
              </a:rPr>
              <a:t>Tujuan utama: teks mudah dipindai, dibaca, dan dipahami.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3A68"/>
                </a:solidFill>
              </a:rPr>
              <a:t>Box Model: Cara Browser Menghitung Ruang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Setiap elemen HTML dianggap sebagai kotak yang terdiri dari content, padding, border, dan margin.</a:t>
            </a:r>
            <a:endParaRPr lang="en-US" sz="1350" dirty="0"/>
          </a:p>
        </p:txBody>
      </p:sp>
      <p:pic>
        <p:nvPicPr>
          <p:cNvPr id="5" name="Image 0" descr="/mnt/data/wide_clean_vector_infographic_illustration_on_a_wh.png">    </p:cNvPr>
          <p:cNvPicPr>
            <a:picLocks noChangeAspect="1"/>
          </p:cNvPicPr>
          <p:nvPr/>
        </p:nvPicPr>
        <p:blipFill>
          <a:blip r:embed="rId1"/>
          <a:srcRect l="9800" r="9800" t="0" b="0"/>
          <a:stretch/>
        </p:blipFill>
        <p:spPr>
          <a:xfrm>
            <a:off x="457200" y="1691640"/>
            <a:ext cx="502920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691640"/>
            <a:ext cx="4754880" cy="2240280"/>
          </a:xfrm>
          <a:prstGeom prst="roundRect">
            <a:avLst>
              <a:gd name="adj" fmla="val 2041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35624" y="1819656"/>
            <a:ext cx="44622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320px;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#DCE7F3;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24px;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89320" y="425196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43616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Content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26480" y="4663440"/>
            <a:ext cx="1965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Isi elemen: teks, gambar, form, atau komponen lainnya.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03920" y="425196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43616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Padding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41080" y="4663440"/>
            <a:ext cx="1965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Jarak antara content dan border. Membuat elemen terasa lega.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525780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53675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Border &amp; Margin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26480" y="5669280"/>
            <a:ext cx="44805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Border membingkai elemen; margin memberi jarak dengan elemen lain.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3A68"/>
                </a:solidFill>
              </a:rPr>
              <a:t>box-sizing: border-box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Tanpa box-sizing, width hanya menghitung content. Dengan border-box, width mencakup content + padding + border.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754880" cy="3154680"/>
          </a:xfrm>
          <a:prstGeom prst="roundRect">
            <a:avLst>
              <a:gd name="adj" fmla="val 1449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819656"/>
            <a:ext cx="44622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Rekomendasi global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box-sizing: border-box;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24px;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#1565C0;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87452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9534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984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D9534F"/>
                </a:solidFill>
              </a:rPr>
              <a:t>Tanpa border-box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6480" y="2286000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Lebar final = width + padding + border. Layout bisa “membengkak”.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3090672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32004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Dengan border-box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0" y="3502152"/>
            <a:ext cx="4114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Lebar final tetap sesuai width. Lebih mudah mengatur layout.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4709160"/>
            <a:ext cx="4389120" cy="365760"/>
          </a:xfrm>
          <a:prstGeom prst="roundRect">
            <a:avLst>
              <a:gd name="adj" fmla="val 20000"/>
            </a:avLst>
          </a:prstGeom>
          <a:solidFill>
            <a:srgbClr val="F0F6FF"/>
          </a:solidFill>
          <a:ln w="13970">
            <a:solidFill>
              <a:srgbClr val="113A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47960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3A68"/>
                </a:solidFill>
              </a:rPr>
              <a:t>Gunakan border-box sebagai kebiasaan sejak awal.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Background, Border, dan Radius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Elemen sederhana bisa terlihat profesional dengan latar, bingkai, dan sudut yang konsisten.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5120640" cy="3474720"/>
          </a:xfrm>
          <a:prstGeom prst="roundRect">
            <a:avLst>
              <a:gd name="adj" fmla="val 1316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773936"/>
            <a:ext cx="48280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#EAF3FF;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#DCE7F3;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16px;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32px;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.badge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#FFF0E2;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999px;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928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Background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1148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Gunakan untuk membedakan section atau memberi penekanan.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8529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Border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41148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Membantu pemisahan komponen tanpa harus memakai warna berat.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703320"/>
            <a:ext cx="4389120" cy="777240"/>
          </a:xfrm>
          <a:prstGeom prst="roundRect">
            <a:avLst>
              <a:gd name="adj" fmla="val 7059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13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Border-radius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41148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Radius kecil memberi kesan modern, tetapi jangan terlalu banyak variasi.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66344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F0F6FF"/>
          </a:solidFill>
          <a:ln w="12700">
            <a:solidFill>
              <a:srgbClr val="113A68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7731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3A68"/>
                </a:solidFill>
              </a:rPr>
              <a:t>Konsistensi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5074920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Tentukan pola: radius 8px untuk input, 16px untuk card, 999px untuk badge.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Display: Block, Inline, Inline-Block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Display menentukan bagaimana elemen menempati ruang dan berinteraksi dengan elemen lain.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928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block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Memulai baris baru dan memenuhi lebar container. Contoh: div, p, h1.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928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inline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Mengalir di dalam teks. Width/height tidak bekerja seperti block. Contoh: span, 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178308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8928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inline-block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21040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Tetap sejajar seperti inline, tetapi bisa diberi width, height, padding.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0" y="3429000"/>
            <a:ext cx="8046720" cy="1828800"/>
          </a:xfrm>
          <a:prstGeom prst="roundRect">
            <a:avLst>
              <a:gd name="adj" fmla="val 2500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7984" y="3557016"/>
            <a:ext cx="77541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inline-block;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 16px;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#1565C0;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#fff;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8px;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11680" y="5559552"/>
            <a:ext cx="8046720" cy="365760"/>
          </a:xfrm>
          <a:prstGeom prst="roundRect">
            <a:avLst>
              <a:gd name="adj" fmla="val 20000"/>
            </a:avLst>
          </a:prstGeom>
          <a:solidFill>
            <a:srgbClr val="FFF0E2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56464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</a:rPr>
              <a:t>Contoh kasus: ubah link biasa menjadi tombol yang mudah diklik.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Spacing: Margin dan Padding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Spacing yang konsisten membuat halaman terlihat rapi, tidak penuh, dan mudah dipindai.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389120" cy="3108960"/>
          </a:xfrm>
          <a:prstGeom prst="roundRect">
            <a:avLst>
              <a:gd name="adj" fmla="val 1471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9656"/>
            <a:ext cx="409651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.section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margin-bottom: 32px;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16px;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h2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78308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8928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Margin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06440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Jarak di luar elemen. Dipakai untuk memisahkan antar komponen.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0" y="2816352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9260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Padding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06440" y="3227832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Jarak di dalam elemen. Dipakai agar isi tidak menempel pada tepi.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0" y="3849624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9593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Skala spacing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06440" y="4261104"/>
            <a:ext cx="4480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Gunakan pola 8, 16, 24, 32px agar desain konsisten.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507492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F0F6FF"/>
          </a:solidFill>
          <a:ln w="13970">
            <a:solidFill>
              <a:srgbClr val="113A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516178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3A68"/>
                </a:solidFill>
              </a:rPr>
              <a:t>Kesalahan umum: terlalu banyak jarak acak antar elemen.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Pseudo-Class: Hover dan Focus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Pseudo-class membuat elemen responsif terhadap interaksi pengguna tanpa JavaScript.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4754880" cy="3429000"/>
          </a:xfrm>
          <a:prstGeom prst="roundRect">
            <a:avLst>
              <a:gd name="adj" fmla="val 1333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728216"/>
            <a:ext cx="4462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#1565C0;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12px 18px;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.btn:hover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#0F4FA8;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.btn:focus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outline: 3px solid #F28C28;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4480560" cy="82296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9385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:hover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72200" y="224028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Muncul saat pointer berada di atas elemen. Cocok untuk link dan tombol.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2880360"/>
            <a:ext cx="4480560" cy="822960"/>
          </a:xfrm>
          <a:prstGeom prst="roundRect">
            <a:avLst>
              <a:gd name="adj" fmla="val 6667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9900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:focus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2200" y="329184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Muncul saat elemen aktif melalui keyboard atau klik. Penting untuk aksesibilitas.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3931920"/>
            <a:ext cx="4480560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40416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:active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2200" y="434340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Muncul saat elemen sedang ditekan. Boleh digunakan untuk umpan balik tombol.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CSS Custom Properties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Variabel CSS membantu menjaga konsistensi warna dan spacing tanpa mengulang nilai yang sama.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394960" cy="3429000"/>
          </a:xfrm>
          <a:prstGeom prst="roundRect">
            <a:avLst>
              <a:gd name="adj" fmla="val 1333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728216"/>
            <a:ext cx="51023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--primary: #113A68;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--accent: #F28C28;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--space: 16px;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color: var(--primary);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padding: var(--space);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{ background: var(--accent); 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29400" y="182880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938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Kapan dipakai?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0" y="2240280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Saat banyak elemen memakai warna, spacing, atau radius yang sama.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288036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990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Manfaat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Mengubah satu nilai dapat memperbarui banyak elemen sekaligus.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393192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0416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Catatan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6560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Untuk pemula, gunakan variabel pada warna utama dan spacing dulu.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3A68"/>
                </a:solidFill>
              </a:rPr>
              <a:t>Debugging CSS dengan DevTools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DevTools membantu melihat style aktif, rule yang tertimpa, ukuran box model, dan perubahan secara langsung.</a:t>
            </a:r>
            <a:endParaRPr lang="en-US" sz="1350" dirty="0"/>
          </a:p>
        </p:txBody>
      </p:sp>
      <p:pic>
        <p:nvPicPr>
          <p:cNvPr id="5" name="Image 0" descr="/mnt/data/wide_clean_vector_illustration_scene._overall_a_b.png">    </p:cNvPr>
          <p:cNvPicPr>
            <a:picLocks noChangeAspect="1"/>
          </p:cNvPicPr>
          <p:nvPr/>
        </p:nvPicPr>
        <p:blipFill>
          <a:blip r:embed="rId1"/>
          <a:srcRect l="0" r="0" t="733" b="733"/>
          <a:stretch/>
        </p:blipFill>
        <p:spPr>
          <a:xfrm>
            <a:off x="502920" y="1691640"/>
            <a:ext cx="502920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600200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98464" y="17647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84848" y="16550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Inspect elemen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84848" y="18928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Klik kanan → Inspect untuk memilih elemen.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5943600" y="2176272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98464" y="23408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2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84848" y="22311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Baca Styles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784848" y="24688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Lihat rule mana yang aktif dan dicoret.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5943600" y="2752344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98464" y="29169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3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784848" y="28072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Cek box model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784848" y="30449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Perhatikan content, padding, border, margin.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5943600" y="3328416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98464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84848" y="33832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Eksperimen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84848" y="36210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Ubah nilai sementara sebelum mengedit file CSS.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1828800" y="5394960"/>
            <a:ext cx="8503920" cy="365760"/>
          </a:xfrm>
          <a:prstGeom prst="roundRect">
            <a:avLst>
              <a:gd name="adj" fmla="val 20000"/>
            </a:avLst>
          </a:prstGeom>
          <a:solidFill>
            <a:srgbClr val="FFF0E2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0" y="548182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8C28"/>
                </a:solidFill>
              </a:rPr>
              <a:t>Tips: jangan hanya menebak; gunakan DevTools untuk membuktikan masalah CSS.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3A68"/>
                </a:solidFill>
              </a:rPr>
              <a:t>Demo Kelas: Styling Halaman Berita Kampus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Dosen menunjukkan transformasi dari HTML polos menjadi halaman sederhana yang lebih rapi dan konsisten.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4846320" cy="2743200"/>
          </a:xfrm>
          <a:prstGeom prst="roundRect">
            <a:avLst>
              <a:gd name="adj" fmla="val 1667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11096"/>
            <a:ext cx="45537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 class="site-header"&gt;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&lt;h1&gt;Portal Berita Kampus&lt;/h1&gt;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&lt;nav&gt;...&lt;/nav&gt;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 class="container"&gt;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&lt;article class="card"&gt;...&lt;/article&gt;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2200" y="1874520"/>
            <a:ext cx="48463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Tambahkan file style.css dan hubungkan dari index.html.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Atur body, warna latar, font, dan line-height.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Style header, nav link, article card, dan tombol.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Cek box model menggunakan DevTools.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416052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42702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Checkpoint demo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4572000"/>
            <a:ext cx="43891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Mahasiswa menyalin pola, bukan hanya hasil akhir. Tekankan alasan di balik setiap property.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Praktik Terbimbing: CSS Dasar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Mahasiswa menerapkan style pada halaman HTML yang sudah dibuat di Pertemuan 1–3.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7647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27048" y="16550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Buat style.css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27048" y="189280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Hubungkan dengan &lt;link rel="stylesheet" href="style.css"&gt;.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85800" y="2176272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3408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27048" y="22311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Atur global style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27048" y="2468880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body, font-family, color, background, line-height.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85800" y="2752344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9169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27048" y="28072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Style struktur halaman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527048" y="30449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header, nav, main, section/article, footer.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328416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EAF3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27048" y="33832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Style komponen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27048" y="362102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card, tombol, link, form field sederhana.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85800" y="3904488"/>
            <a:ext cx="658368" cy="521208"/>
          </a:xfrm>
          <a:prstGeom prst="roundRect">
            <a:avLst>
              <a:gd name="adj" fmla="val 10526"/>
            </a:avLst>
          </a:prstGeom>
          <a:solidFill>
            <a:srgbClr val="FFF0E2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4069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27048" y="39593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3A68"/>
                </a:solidFill>
              </a:rPr>
              <a:t>Validasi visual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27048" y="419709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Cek spacing, kontras, dan box model di DevTools.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400800" y="1965960"/>
            <a:ext cx="4389120" cy="146304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 w="12700">
            <a:solidFill>
              <a:srgbClr val="2C49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2093976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minimal target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 font-family: Arial, sans-serif;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 { max-width: 960px; margin: auto;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padding: 20px; border-radius: 12px; }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384048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9502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Output 25 menit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37960" y="4251960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Satu halaman web sederhana dengan struktur semantik dan tampilan dasar yang konsisten.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Checklist Penilaian Praktik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Gunakan checklist ini untuk mengevaluasi hasil latihan sebelum diunggah atau dikumpulkan.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10835640" cy="512064"/>
          </a:xfrm>
          <a:prstGeom prst="rect">
            <a:avLst/>
          </a:prstGeom>
          <a:solidFill>
            <a:srgbClr val="113A68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8366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Aspek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53512" y="1883664"/>
            <a:ext cx="8494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Kriteria Minimal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249424"/>
            <a:ext cx="21945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249424"/>
            <a:ext cx="86410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8658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3A68"/>
                </a:solidFill>
              </a:rPr>
              <a:t>Koneksi CSS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53512" y="2359152"/>
            <a:ext cx="8494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File style.css terhubung benar dan tidak error path.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761488"/>
            <a:ext cx="2194560" cy="512064"/>
          </a:xfrm>
          <a:prstGeom prst="rect">
            <a:avLst/>
          </a:prstGeom>
          <a:solidFill>
            <a:srgbClr val="F7F9FB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761488"/>
            <a:ext cx="8641080" cy="512064"/>
          </a:xfrm>
          <a:prstGeom prst="rect">
            <a:avLst/>
          </a:prstGeom>
          <a:solidFill>
            <a:srgbClr val="F7F9FB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89864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3A68"/>
                </a:solidFill>
              </a:rPr>
              <a:t>Selector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53512" y="2871216"/>
            <a:ext cx="8494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Menggunakan element, class, dan selector sederhana secara tepat.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273552"/>
            <a:ext cx="21945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3273552"/>
            <a:ext cx="86410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41071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3A68"/>
                </a:solidFill>
              </a:rPr>
              <a:t>Warna &amp; font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53512" y="3383280"/>
            <a:ext cx="8494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Warna konsisten, teks terbaca, line-height nyaman.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785616"/>
            <a:ext cx="2194560" cy="512064"/>
          </a:xfrm>
          <a:prstGeom prst="rect">
            <a:avLst/>
          </a:prstGeom>
          <a:solidFill>
            <a:srgbClr val="F7F9FB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3785616"/>
            <a:ext cx="8641080" cy="512064"/>
          </a:xfrm>
          <a:prstGeom prst="rect">
            <a:avLst/>
          </a:prstGeom>
          <a:solidFill>
            <a:srgbClr val="F7F9FB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92277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3A68"/>
                </a:solidFill>
              </a:rPr>
              <a:t>Box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53512" y="3895344"/>
            <a:ext cx="8494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Padding, margin, border, dan box-sizing diterapkan dengan rapi.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297680"/>
            <a:ext cx="219456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4297680"/>
            <a:ext cx="864108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B8C4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443484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3A68"/>
                </a:solidFill>
              </a:rPr>
              <a:t>Kerapian kode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53512" y="4407408"/>
            <a:ext cx="8494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Indentasi baik, nama class deskriptif, tidak terlalu banyak inline style.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371600" y="5577840"/>
            <a:ext cx="9326880" cy="365760"/>
          </a:xfrm>
          <a:prstGeom prst="roundRect">
            <a:avLst>
              <a:gd name="adj" fmla="val 20000"/>
            </a:avLst>
          </a:prstGeom>
          <a:solidFill>
            <a:srgbClr val="F0F6FF"/>
          </a:solidFill>
          <a:ln w="13970">
            <a:solidFill>
              <a:srgbClr val="113A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664708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3A68"/>
                </a:solidFill>
              </a:rPr>
              <a:t>Bobot latihan: fokus pada ketepatan konsep, bukan banyaknya dekorasi.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PERTEMUAN 4 • CPMK51 / Sub-CPMK51.3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3A68"/>
                </a:solidFill>
              </a:rPr>
              <a:t>Refleksi &amp; Tugas Setelah Kelas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" y="12618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CSS yang baik membuat struktur HTML menjadi tampilan yang jelas, konsisten, dan nyaman digunakan.</a:t>
            </a:r>
            <a:endParaRPr lang="en-US" sz="1350" dirty="0"/>
          </a:p>
        </p:txBody>
      </p:sp>
      <p:pic>
        <p:nvPicPr>
          <p:cNvPr id="5" name="Image 0" descr="/mnt/data/a_clean_vector_illustration_style_classroom_or_wor.png">    </p:cNvPr>
          <p:cNvPicPr>
            <a:picLocks noChangeAspect="1"/>
          </p:cNvPicPr>
          <p:nvPr/>
        </p:nvPicPr>
        <p:blipFill>
          <a:blip r:embed="rId1"/>
          <a:srcRect l="10348" r="10348" t="0" b="0"/>
          <a:stretch/>
        </p:blipFill>
        <p:spPr>
          <a:xfrm>
            <a:off x="7452360" y="868680"/>
            <a:ext cx="425196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96596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EAF3FF"/>
          </a:solidFill>
          <a:ln w="12700">
            <a:solidFill>
              <a:srgbClr val="1565C0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756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Tiga pertanyaan refleksi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93776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1) Selector apa yang paling sering dipakai?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2) Property apa yang paling berpengaruh ke keterbacaan?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3) Bagian mana yang paling sering bermasalah di box model?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379476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FFF0E2"/>
          </a:solidFill>
          <a:ln w="12700">
            <a:solidFill>
              <a:srgbClr val="F28C28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9044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</a:rPr>
              <a:t>Tugas ringkas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49377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Perbaiki tampilan halaman HTML sebelumnya dengan style.css: warna, font, spacing, card, link/tombol, dan footer.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5074920"/>
            <a:ext cx="5212080" cy="731520"/>
          </a:xfrm>
          <a:prstGeom prst="roundRect">
            <a:avLst>
              <a:gd name="adj" fmla="val 7500"/>
            </a:avLst>
          </a:prstGeom>
          <a:solidFill>
            <a:srgbClr val="EAF7F0"/>
          </a:solidFill>
          <a:ln w="12700">
            <a:solidFill>
              <a:srgbClr val="2E9F68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1846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E9F68"/>
                </a:solidFill>
              </a:rPr>
              <a:t>Pertemuan berikutnya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5486400"/>
            <a:ext cx="4937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CSS Layout: Flexbox dan Grid untuk menyusun elemen secara responsif.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6345936"/>
            <a:ext cx="11567160" cy="0"/>
          </a:xfrm>
          <a:prstGeom prst="line">
            <a:avLst/>
          </a:prstGeom>
          <a:noFill/>
          <a:ln w="12700">
            <a:solidFill>
              <a:srgbClr val="DCE7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6428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658600" y="6419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68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TI401 Pertemuan 4 - CSS Dasar</dc:title>
  <dc:subject>TI401 Pertemuan 4 CSS Dasar</dc:subject>
  <dc:creator>Prodi TI UMY</dc:creator>
  <cp:lastModifiedBy>Prodi TI UMY</cp:lastModifiedBy>
  <cp:revision>1</cp:revision>
  <dcterms:created xsi:type="dcterms:W3CDTF">2026-07-19T19:03:00Z</dcterms:created>
  <dcterms:modified xsi:type="dcterms:W3CDTF">2026-07-19T19:03:00Z</dcterms:modified>
</cp:coreProperties>
</file>