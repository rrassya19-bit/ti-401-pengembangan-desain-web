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19456"/>
            <a:ext cx="6858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>
                <a:solidFill>
                  <a:srgbClr val="1565C0"/>
                </a:solidFill>
                <a:latin typeface="Aptos"/>
              </a:rPr>
              <a:t>PERTEMUAN 13 • CPMK52 / Sub-CPMK52.5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40080"/>
            <a:ext cx="1088136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800" b="1">
                <a:solidFill>
                  <a:srgbClr val="173B67"/>
                </a:solidFill>
                <a:latin typeface="Aptos"/>
              </a:rPr>
              <a:t>JavaScript Modules dan Bootstrap Form/Component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0">
                <a:solidFill>
                  <a:srgbClr val="646E7D"/>
                </a:solidFill>
                <a:latin typeface="Aptos"/>
              </a:rPr>
              <a:t>Mahasiswa mampu mengintegrasikan modul JavaScript dan komponen Bootstrap dalam aplikasi web.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331720"/>
            <a:ext cx="5349240" cy="2331720"/>
          </a:xfrm>
          <a:prstGeom prst="roundRect">
            <a:avLst/>
          </a:prstGeom>
          <a:solidFill>
            <a:srgbClr val="E8EFF7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43891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800" b="1">
                <a:solidFill>
                  <a:srgbClr val="1565C0"/>
                </a:solidFill>
                <a:latin typeface="Aptos"/>
              </a:rPr>
              <a:t>JAVASCRIPT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46120"/>
            <a:ext cx="44805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0">
                <a:solidFill>
                  <a:srgbClr val="30353D"/>
                </a:solidFill>
                <a:latin typeface="Aptos"/>
              </a:rPr>
              <a:t>export → import → entry point → kode modular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40480"/>
            <a:ext cx="44805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6E7D"/>
                </a:solidFill>
                <a:latin typeface="Aptos"/>
              </a:rPr>
              <a:t>Memisahkan validasi, UI, dan logika aplikasi.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2331720"/>
            <a:ext cx="5440680" cy="2331720"/>
          </a:xfrm>
          <a:prstGeom prst="roundRect">
            <a:avLst/>
          </a:prstGeom>
          <a:solidFill>
            <a:srgbClr val="FFF4E5"/>
          </a:solidFill>
          <a:ln>
            <a:solidFill>
              <a:srgbClr val="FFF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651760"/>
            <a:ext cx="44805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800" b="1">
                <a:solidFill>
                  <a:srgbClr val="F29E00"/>
                </a:solidFill>
                <a:latin typeface="Aptos"/>
              </a:rPr>
              <a:t>BOOTSTRAP COMPONENT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246120"/>
            <a:ext cx="45720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0">
                <a:solidFill>
                  <a:srgbClr val="30353D"/>
                </a:solidFill>
                <a:latin typeface="Aptos"/>
              </a:rPr>
              <a:t>Form → Alert → Toast → feedback pengguna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840480"/>
            <a:ext cx="45720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6E7D"/>
                </a:solidFill>
                <a:latin typeface="Aptos"/>
              </a:rPr>
              <a:t>Komponen Bootstrap dipadukan dengan event dan module JS.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13 • JavaScript Modules &amp; Bootstrap Form/Component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Capaian &amp; Alur Pembelajaran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394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64008" cy="43434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Capaian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Memahami konsep ES Modules.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Menggunakan named export dan default export.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Menghubungkan module dengan form HTML.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Menggunakan Bootstrap Alert dan Toast.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995928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Mengintegrasikan module + Bootstrap dalam satu aplikasi.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1325880"/>
            <a:ext cx="5394960" cy="43434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1325880"/>
            <a:ext cx="64008" cy="434340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Alur 100 menit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10’ orientasi &amp; review DOM.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20’ konsep module: export/import.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20’ struktur aplikasi modular.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25’ Bootstrap Form + Alert + Toast.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995928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15’ demo &amp; debugging.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50799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10’ refleksi / exit ticket.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13 • JavaScript Modules &amp; Bootstrap Form/Component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Posisi Pertemuan 13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394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64008" cy="43434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Sebelumnya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Pertemuan 11: DOM &amp; event handling.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Pertemuan 12: async/await, Fetch &amp; AI API.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Logika aplikasi mulai bertambah.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Satu file JS dapat cepat menjadi sulit dikelola.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325880"/>
            <a:ext cx="5394960" cy="43434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1325880"/>
            <a:ext cx="64008" cy="434340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Hari ini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Pecah kode menjadi module.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Pisahkan validasi dari UI.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Hubungkan module ke form.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Gunakan Bootstrap component untuk feedback.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995928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Bangun struktur yang lebih maintainable.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52160"/>
            <a:ext cx="102412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400" b="1">
                <a:solidFill>
                  <a:srgbClr val="173B67"/>
                </a:solidFill>
                <a:latin typeface="Aptos"/>
              </a:rPr>
              <a:t>Progression: DOM → Async/API → Modules + Component → Web3 Front-End.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13 • JavaScript Modules &amp; Bootstrap Form/Component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Mengapa Kode Perlu Dipecah Menjadi Module?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394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64008" cy="43434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Masalah satu file besar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Validasi, UI, event, dan data bercampur.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Sulit menemukan fungsi tertentu.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Perubahan satu bagian berisiko memengaruhi bagian lain.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Sulit menggunakan ulang fungsi.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325880"/>
            <a:ext cx="5394960" cy="43434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1325880"/>
            <a:ext cx="64008" cy="434340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Dengan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Satu module memiliki tanggung jawab lebih jelas.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Fungsi dapat di-export dan dipakai ulang.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Dependency terlihat dari import.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Kode lebih mudah diuji dan dirawat.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70448"/>
            <a:ext cx="10515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500" b="1">
                <a:solidFill>
                  <a:srgbClr val="173B67"/>
                </a:solidFill>
                <a:latin typeface="Aptos"/>
              </a:rPr>
              <a:t>Prinsip: pisahkan tanggung jawab, bukan sekadar memindahkan baris kode.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13 • JavaScript Modules &amp; Bootstrap Form/Component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ES Module: export dan import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486400" cy="416052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53312"/>
            <a:ext cx="5166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F29E00"/>
                </a:solidFill>
                <a:latin typeface="Aptos"/>
              </a:rPr>
              <a:t>Named + default export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645919"/>
            <a:ext cx="5166360" cy="368503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/>
            <a:r>
              <a:rPr sz="1100" b="0">
                <a:solidFill>
                  <a:srgbClr val="EBEFF3"/>
                </a:solidFill>
                <a:latin typeface="Consolas"/>
              </a:rPr>
              <a:t>// modules/validasi.js
export function validasiEmail(email) {
  const pola = /^[^\s@]+@[^\s@]+\.[^\s@]+$/;
  return pola.test(email);
}
export default function validasiForm(data) {
  // ...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303520" cy="416052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353312"/>
            <a:ext cx="4983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F29E00"/>
                </a:solidFill>
                <a:latin typeface="Aptos"/>
              </a:rPr>
              <a:t>Import pada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645919"/>
            <a:ext cx="4983480" cy="368503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/>
            <a:r>
              <a:rPr sz="1100" b="0">
                <a:solidFill>
                  <a:srgbClr val="EBEFF3"/>
                </a:solidFill>
                <a:latin typeface="Consolas"/>
              </a:rPr>
              <a:t>// main.js
import validasiForm from "./modules/validasi.js";
import { tampilkanToast, tampilkanErrorList }
  from "./modules/ui.js";
// gunakan fungsi yang di-import
const errors = validasiForm(data);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15000"/>
            <a:ext cx="102412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500" b="1">
                <a:solidFill>
                  <a:srgbClr val="F29E00"/>
                </a:solidFill>
                <a:latin typeface="Aptos"/>
              </a:rPr>
              <a:t>Named export memakai { }, sedangkan default import tidak memakai { }.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13 • JavaScript Modules &amp; Bootstrap Form/Component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Named Export vs Default Export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64008" cy="43434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72184"/>
            <a:ext cx="30632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Named Export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47672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Satu module dapat memiliki banyak named export.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459736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Import menggunakan nama yang sesuai.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971800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Contoh: { validasiEmail }.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483864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Cocok untuk kumpulan helper.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3429000" cy="43434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325880"/>
            <a:ext cx="64008" cy="434340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1472184"/>
            <a:ext cx="30632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Default Export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1947672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Satu nilai utama dari sebuah module.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459736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Saat import, nama lokal dapat dipilih.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2971800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Contoh: import validasiForm from 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3483864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Cocok untuk fungsi utama module.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13258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1325880"/>
            <a:ext cx="64008" cy="4343400"/>
          </a:xfrm>
          <a:prstGeom prst="rect">
            <a:avLst/>
          </a:prstGeom>
          <a:solidFill>
            <a:srgbClr val="2C7A53"/>
          </a:solidFill>
          <a:ln>
            <a:solidFill>
              <a:srgbClr val="2C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1472184"/>
            <a:ext cx="30632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Kombinasi Repository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1947672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validasi.js memiliki named validator.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2459736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validasi.js juga memiliki default validasiForm.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2971800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main.js mengimpor keduanya sesuai kebutuhan.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3483864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Tujuan: API module jelas.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13 • JavaScript Modules &amp; Bootstrap Form/Component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Struktur Folder Pertemuan 13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486400" cy="338328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490472"/>
            <a:ext cx="5166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F29E00"/>
                </a:solidFill>
                <a:latin typeface="Aptos"/>
              </a:rPr>
              <a:t>Struktur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783080"/>
            <a:ext cx="5166360" cy="2907791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/>
            <a:r>
              <a:rPr sz="1500" b="0">
                <a:solidFill>
                  <a:srgbClr val="EBEFF3"/>
                </a:solidFill>
                <a:latin typeface="Consolas"/>
              </a:rPr>
              <a:t>13_javascript-modules-bootstrap-component/
├── index.html
├── main.js
├── README.md
└── modules/
    ├── validasi.js
    └── ui.js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417320"/>
            <a:ext cx="4846320" cy="338328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9400" y="1417320"/>
            <a:ext cx="64008" cy="338328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0568" y="1563624"/>
            <a:ext cx="448055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Tanggung Jawab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039112"/>
            <a:ext cx="44622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index.html → Bootstrap + form + Toast.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2551176"/>
            <a:ext cx="44622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main.js → entry point + event submit.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3063240"/>
            <a:ext cx="44622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validasi.js → fungsi validasi.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3575304"/>
            <a:ext cx="44622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ui.js → Bootstrap Toast &amp; Alert.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4087368"/>
            <a:ext cx="44622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README.md → cara menjalankan &amp; tugas.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2412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500" b="1">
                <a:solidFill>
                  <a:srgbClr val="173B67"/>
                </a:solidFill>
                <a:latin typeface="Aptos"/>
              </a:rPr>
              <a:t>Struktur ini menjadi contoh pemisahan concern sederhana.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13 • JavaScript Modules &amp; Bootstrap Form/Component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Entry Point: &lt;script type="module"&gt;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6400800" cy="246888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90472"/>
            <a:ext cx="6080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F29E00"/>
                </a:solidFill>
                <a:latin typeface="Aptos"/>
              </a:rPr>
              <a:t>index.html pada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83080"/>
            <a:ext cx="6080760" cy="1993391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/>
            <a:r>
              <a:rPr sz="1200" b="0">
                <a:solidFill>
                  <a:srgbClr val="EBEFF3"/>
                </a:solidFill>
                <a:latin typeface="Consolas"/>
              </a:rPr>
              <a:t>&lt;!-- index.html --&gt;
&lt;script src="https://cdn.jsdelivr.net/npm/bootstrap@5.3.3/dist/js/bootstrap.bundle.min.js"&gt;&lt;/script&gt;
&lt;script type="module" src="main.js"&gt;&lt;/script&gt;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60520"/>
            <a:ext cx="53949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160520"/>
            <a:ext cx="64008" cy="178308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430682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Mengapa type="module"?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78231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Browser mengaktifkan sistem import/export.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94375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main.js dapat mengimpor file module.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80644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Scope module lebih terisolasi.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4160520"/>
            <a:ext cx="5394960" cy="178308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91072" y="4160520"/>
            <a:ext cx="64008" cy="178308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30682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Catatan penting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8231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Import ES Module tidak selalu berjalan dari file://.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294375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Repository meminta server lokal ringan.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80644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Contoh: python3 -m http.server 8080.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108192"/>
            <a:ext cx="102412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300" b="1">
                <a:solidFill>
                  <a:srgbClr val="B53737"/>
                </a:solidFill>
                <a:latin typeface="Aptos"/>
              </a:rPr>
              <a:t>Jalankan melalui http://localhost:8080, bukan membuka index.html dengan file://.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13 • JavaScript Modules &amp; Bootstrap Form/Component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Module validasi.js: Memisahkan Aturan Validasi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6675120" cy="425196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07592"/>
            <a:ext cx="6355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F29E00"/>
                </a:solidFill>
                <a:latin typeface="Aptos"/>
              </a:rPr>
              <a:t>Kode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00200"/>
            <a:ext cx="6355080" cy="377647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/>
            <a:r>
              <a:rPr sz="1100" b="0">
                <a:solidFill>
                  <a:srgbClr val="EBEFF3"/>
                </a:solidFill>
                <a:latin typeface="Consolas"/>
              </a:rPr>
              <a:t>export function validasiEmail(email) {
  const pola = /^[^\s@]+@[^\s@]+\.[^\s@]+$/;
  return pola.test(email);
}
export function validasiNamaProduk(nama) {
  return nama.trim().length &gt;= 3;
}
export function validasiHarga(harga) {
  return Number(harga) &gt; 0;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234440"/>
            <a:ext cx="3977639" cy="425196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1234440"/>
            <a:ext cx="64008" cy="425196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1380744"/>
            <a:ext cx="361187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Aturan yang Dipakai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1856232"/>
            <a:ext cx="35935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Nama produk minimal 3 karakter.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8" y="2368296"/>
            <a:ext cx="35935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Harga harus lebih dari 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80360"/>
            <a:ext cx="35935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Email opsional.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4968" y="3392424"/>
            <a:ext cx="35935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Jika email diisi, formatnya divalidasi.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3904488"/>
            <a:ext cx="35935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Aturan berada di module, bukan di UI.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13 • JavaScript Modules &amp; Bootstrap Form/Component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Default Export: validasiForm()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7040880" cy="443484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07592"/>
            <a:ext cx="6720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F29E00"/>
                </a:solidFill>
                <a:latin typeface="Aptos"/>
              </a:rPr>
              <a:t>validasi.js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00200"/>
            <a:ext cx="6720840" cy="3959351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/>
            <a:r>
              <a:rPr sz="1000" b="0">
                <a:solidFill>
                  <a:srgbClr val="EBEFF3"/>
                </a:solidFill>
                <a:latin typeface="Consolas"/>
              </a:rPr>
              <a:t>export default function validasiForm({ nama, harga, email }) {
  const errors = [];
  if (!validasiNamaProduk(nama))
    errors.push("Nama produk minimal 3 karakter.");
  if (!validasiHarga(harga))
    errors.push("Harga harus lebih dari 0.");
  if (email &amp;&amp; !validasiEmail(email))
    errors.push("Format email tidak valid.");
  return errors;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234440"/>
            <a:ext cx="35661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234440"/>
            <a:ext cx="64008" cy="443484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1380744"/>
            <a:ext cx="32004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1856232"/>
            <a:ext cx="31821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Menghasilkan array errors.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368296"/>
            <a:ext cx="31821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[] berarti tidak ada error.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880360"/>
            <a:ext cx="31821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Array error dapat ditampilkan oleh UI.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3392424"/>
            <a:ext cx="31821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Logika validasi tidak bergantung pada Bootstrap.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13 • JavaScript Modules &amp; Bootstrap Form/Component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Bootstrap Form: Struktur Dasar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6858000" cy="448056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07592"/>
            <a:ext cx="6537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F29E00"/>
                </a:solidFill>
                <a:latin typeface="Aptos"/>
              </a:rPr>
              <a:t>index.html —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00200"/>
            <a:ext cx="6537960" cy="400507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/>
            <a:r>
              <a:rPr sz="1000" b="0">
                <a:solidFill>
                  <a:srgbClr val="EBEFF3"/>
                </a:solidFill>
                <a:latin typeface="Consolas"/>
              </a:rPr>
              <a:t>&lt;form id="formProduk" class="row g-3" novalidate&gt;
  &lt;div class="col-12"&gt;
    &lt;label for="nama" class="form-label"&gt;Nama Produk&lt;/label&gt;
    &lt;input type="text" class="form-control" id="nama"&gt;
  &lt;/div&gt;
  &lt;div class="col-12"&gt;
    &lt;label for="harga" class="form-label"&gt;Harga&lt;/label&gt;
    &lt;input type="number" class="form-control" id="harga"&gt;
  &lt;/div&gt;
&lt;/form&gt;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234440"/>
            <a:ext cx="3749039" cy="448056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26679" y="1234440"/>
            <a:ext cx="64008" cy="448056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7848" y="1380744"/>
            <a:ext cx="338327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Class Bootstrap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7848" y="1856232"/>
            <a:ext cx="33649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form-label → styling label.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2368296"/>
            <a:ext cx="33649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form-control → input yang konsisten.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7848" y="2880360"/>
            <a:ext cx="33649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row g-3 → layout + gap.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3392424"/>
            <a:ext cx="33649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col-12 → grid column.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3904488"/>
            <a:ext cx="33649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btn btn-primary → tombol.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13 • JavaScript Modules &amp; Bootstrap Form/Component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Bootstrap Alert: Menampilkan Daftar Error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120640" cy="192024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490472"/>
            <a:ext cx="4800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F29E00"/>
                </a:solidFill>
                <a:latin typeface="Aptos"/>
              </a:rPr>
              <a:t>index.html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783080"/>
            <a:ext cx="4800600" cy="144475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/>
            <a:r>
              <a:rPr sz="1300" b="0">
                <a:solidFill>
                  <a:srgbClr val="EBEFF3"/>
                </a:solidFill>
                <a:latin typeface="Consolas"/>
              </a:rPr>
              <a:t>&lt;div id="errorContainer"
     class="alert alert-danger d-none"&gt;
&lt;/div&gt;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17320"/>
            <a:ext cx="5394960" cy="306324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490472"/>
            <a:ext cx="5074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F29E00"/>
                </a:solidFill>
                <a:latin typeface="Aptos"/>
              </a:rPr>
              <a:t>ui.js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1783080"/>
            <a:ext cx="5074920" cy="258775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/>
            <a:r>
              <a:rPr sz="1200" b="0">
                <a:solidFill>
                  <a:srgbClr val="EBEFF3"/>
                </a:solidFill>
                <a:latin typeface="Consolas"/>
              </a:rPr>
              <a:t>container.innerHTML = "";
if (errors.length === 0) {
  container.classList.add("d-none");
  return;
}
container.classList.remove("d-none");
// buat &lt;ul&gt; dan &lt;li&gt; dari errors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74920"/>
            <a:ext cx="105156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500" b="1">
                <a:solidFill>
                  <a:srgbClr val="173B67"/>
                </a:solidFill>
                <a:latin typeface="Aptos"/>
              </a:rPr>
              <a:t>d-none → tersembunyi. Saat ada error → d-none dilepas dan daftar error ditampilkan.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13 • JavaScript Modules &amp; Bootstrap Form/Component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Bootstrap Toast: Feedback Berhasil / Gagal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6766560" cy="347472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61872"/>
            <a:ext cx="6446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F29E00"/>
                </a:solidFill>
                <a:latin typeface="Aptos"/>
              </a:rPr>
              <a:t>index.html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54480"/>
            <a:ext cx="6446520" cy="2999231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/>
            <a:r>
              <a:rPr sz="1000" b="0">
                <a:solidFill>
                  <a:srgbClr val="EBEFF3"/>
                </a:solidFill>
                <a:latin typeface="Consolas"/>
              </a:rPr>
              <a:t>&lt;div id="liveToast" class="toast text-bg-success" role="alert"&gt;
  &lt;div class="d-flex"&gt;
    &lt;div id="toastBody" class="toast-body"&gt;&lt;/div&gt;
    &lt;button type="button" class="btn-close btn-close-white me-2 m-auto"
            data-bs-dismiss="toast"&gt;&lt;/button&gt;
  &lt;/div&gt;
&lt;/div&gt;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188720"/>
            <a:ext cx="3931920" cy="182880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54112" y="1261872"/>
            <a:ext cx="3611879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F29E00"/>
                </a:solidFill>
                <a:latin typeface="Aptos"/>
              </a:rPr>
              <a:t>ui.js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1554480"/>
            <a:ext cx="3611879" cy="135331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/>
            <a:r>
              <a:rPr sz="1300" b="0">
                <a:solidFill>
                  <a:srgbClr val="EBEFF3"/>
                </a:solidFill>
                <a:latin typeface="Consolas"/>
              </a:rPr>
              <a:t>const toast = new bootstrap.Toast(toastEl);
toast.show();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337560"/>
            <a:ext cx="3931920" cy="196596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3337560"/>
            <a:ext cx="64008" cy="196596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0688" y="3483864"/>
            <a:ext cx="35661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Peran Toast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3959352"/>
            <a:ext cx="35478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0">
                <a:solidFill>
                  <a:srgbClr val="30353D"/>
                </a:solidFill>
                <a:latin typeface="Aptos"/>
              </a:rPr>
              <a:t>• Feedback singkat.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4471416"/>
            <a:ext cx="35478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0">
                <a:solidFill>
                  <a:srgbClr val="30353D"/>
                </a:solidFill>
                <a:latin typeface="Aptos"/>
              </a:rPr>
              <a:t>• Tidak mengganggu alur form.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0688" y="4983480"/>
            <a:ext cx="35478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0">
                <a:solidFill>
                  <a:srgbClr val="30353D"/>
                </a:solidFill>
                <a:latin typeface="Aptos"/>
              </a:rPr>
              <a:t>• Success → text-bg-success.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5495544"/>
            <a:ext cx="35478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0">
                <a:solidFill>
                  <a:srgbClr val="30353D"/>
                </a:solidFill>
                <a:latin typeface="Aptos"/>
              </a:rPr>
              <a:t>• Error → text-bg-danger.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13 • JavaScript Modules &amp; Bootstrap Form/Component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Module ui.js: Memisahkan Presentasi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7315200" cy="452628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61872"/>
            <a:ext cx="69951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F29E00"/>
                </a:solidFill>
                <a:latin typeface="Aptos"/>
              </a:rPr>
              <a:t>ui.js —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54480"/>
            <a:ext cx="6995160" cy="4050791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/>
            <a:r>
              <a:rPr sz="900" b="0">
                <a:solidFill>
                  <a:srgbClr val="EBEFF3"/>
                </a:solidFill>
                <a:latin typeface="Consolas"/>
              </a:rPr>
              <a:t>export function tampilkanToast(pesan, jenis = "success") {
  const toastEl = document.getElementById("liveToast");
  const toastBody = document.getElementById("toastBody");
  toastEl.classList.remove("text-bg-success", "text-bg-danger");
  toastEl.classList.add(
    jenis === "success" ? "text-bg-success" : "text-bg-danger"
  );
  toastBody.textContent = pesan;
  const toast = new bootstrap.Toast(toastEl);
  toast.show();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18872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92440" y="1188720"/>
            <a:ext cx="64008" cy="452628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1335024"/>
            <a:ext cx="30632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Mengapa dipisah?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1810512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main.js fokus pada alur aplikasi.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322576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ui.js fokus pada feedback UI.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834640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Bootstrap API terpusat.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3346704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Fungsi dapat digunakan ulang.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13 • JavaScript Modules &amp; Bootstrap Form/Component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main.js: Entry Point Menghubungkan Semuanya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6949440" cy="443484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6629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F29E00"/>
                </a:solidFill>
                <a:latin typeface="Aptos"/>
              </a:rPr>
              <a:t>main.js —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600200"/>
            <a:ext cx="6629400" cy="3959351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/>
            <a:r>
              <a:rPr sz="1000" b="0">
                <a:solidFill>
                  <a:srgbClr val="EBEFF3"/>
                </a:solidFill>
                <a:latin typeface="Consolas"/>
              </a:rPr>
              <a:t>import validasiForm from "./modules/validasi.js";
import { tampilkanToast, tampilkanErrorList }
  from "./modules/ui.js";
const form = document.getElementById("formProduk");
form.addEventListener("submit", (event) =&gt; {
  event.preventDefault();
  // ambil data → validasi → tampilkan feedback
});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34440"/>
            <a:ext cx="3657600" cy="443484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34440"/>
            <a:ext cx="64008" cy="443484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380744"/>
            <a:ext cx="32918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Tanggung Jawab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856232"/>
            <a:ext cx="32735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Import dependency.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2368296"/>
            <a:ext cx="32735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Ambil form dari DOM.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9288" y="2880360"/>
            <a:ext cx="32735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Tangani submit event.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9288" y="3392424"/>
            <a:ext cx="32735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Kumpulkan data input.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3904488"/>
            <a:ext cx="32735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Panggil validasiForm().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288" y="4416552"/>
            <a:ext cx="32735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Panggil fungsi UI.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13 • JavaScript Modules &amp; Bootstrap Form/Component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Alur Submit Form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600200" cy="3520440"/>
          </a:xfrm>
          <a:prstGeom prst="roundRect">
            <a:avLst/>
          </a:prstGeom>
          <a:solidFill>
            <a:srgbClr val="E8EFF7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6420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900" b="1">
                <a:solidFill>
                  <a:srgbClr val="1565C0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3258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400" b="1">
                <a:solidFill>
                  <a:srgbClr val="173B67"/>
                </a:solidFill>
                <a:latin typeface="Aptos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132588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100" b="0">
                <a:solidFill>
                  <a:srgbClr val="30353D"/>
                </a:solidFill>
                <a:latin typeface="Aptos"/>
              </a:rPr>
              <a:t>Mengisi nama, harga, email.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788920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800" b="1">
                <a:solidFill>
                  <a:srgbClr val="646E7D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39" y="1417320"/>
            <a:ext cx="1600200" cy="352044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7168" y="166420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900" b="1">
                <a:solidFill>
                  <a:srgbClr val="F29E00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599" y="2194560"/>
            <a:ext cx="13258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400" b="1">
                <a:solidFill>
                  <a:srgbClr val="173B67"/>
                </a:solidFill>
                <a:latin typeface="Aptos"/>
              </a:rPr>
              <a:t>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599" y="2743200"/>
            <a:ext cx="132588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100" b="0">
                <a:solidFill>
                  <a:srgbClr val="30353D"/>
                </a:solidFill>
                <a:latin typeface="Aptos"/>
              </a:rPr>
              <a:t>event.preventDefault().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2788920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800" b="1">
                <a:solidFill>
                  <a:srgbClr val="646E7D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59" y="1417320"/>
            <a:ext cx="1600200" cy="3520440"/>
          </a:xfrm>
          <a:prstGeom prst="roundRect">
            <a:avLst/>
          </a:prstGeom>
          <a:solidFill>
            <a:srgbClr val="E8EFF7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166420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900" b="1">
                <a:solidFill>
                  <a:srgbClr val="1565C0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194560"/>
            <a:ext cx="13258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400" b="1">
                <a:solidFill>
                  <a:srgbClr val="173B67"/>
                </a:solidFill>
                <a:latin typeface="Aptos"/>
              </a:rPr>
              <a:t>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743200"/>
            <a:ext cx="132588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100" b="0">
                <a:solidFill>
                  <a:srgbClr val="30353D"/>
                </a:solidFill>
                <a:latin typeface="Aptos"/>
              </a:rPr>
              <a:t>main.js membaca value.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59" y="2788920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800" b="1">
                <a:solidFill>
                  <a:srgbClr val="646E7D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79" y="1417320"/>
            <a:ext cx="1600200" cy="352044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7" y="166420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900" b="1">
                <a:solidFill>
                  <a:srgbClr val="F29E00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194560"/>
            <a:ext cx="13258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400" b="1">
                <a:solidFill>
                  <a:srgbClr val="173B67"/>
                </a:solidFill>
                <a:latin typeface="Aptos"/>
              </a:rPr>
              <a:t>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743200"/>
            <a:ext cx="132588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100" b="0">
                <a:solidFill>
                  <a:srgbClr val="30353D"/>
                </a:solidFill>
                <a:latin typeface="Aptos"/>
              </a:rPr>
              <a:t>validasiForm(data).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2788920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800" b="1">
                <a:solidFill>
                  <a:srgbClr val="646E7D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1417320"/>
            <a:ext cx="1600200" cy="3520440"/>
          </a:xfrm>
          <a:prstGeom prst="roundRect">
            <a:avLst/>
          </a:prstGeom>
          <a:solidFill>
            <a:srgbClr val="E8EFF7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0727" y="166420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900" b="1">
                <a:solidFill>
                  <a:srgbClr val="1565C0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194560"/>
            <a:ext cx="13258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400" b="1">
                <a:solidFill>
                  <a:srgbClr val="173B67"/>
                </a:solidFill>
                <a:latin typeface="Aptos"/>
              </a:rPr>
              <a:t>Feedback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743200"/>
            <a:ext cx="132588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100" b="0">
                <a:solidFill>
                  <a:srgbClr val="30353D"/>
                </a:solidFill>
                <a:latin typeface="Aptos"/>
              </a:rPr>
              <a:t>Alert / Toast.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788920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800" b="1">
                <a:solidFill>
                  <a:srgbClr val="646E7D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5520" y="1417320"/>
            <a:ext cx="1600200" cy="352044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85248" y="166420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900" b="1">
                <a:solidFill>
                  <a:srgbClr val="F29E00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2194560"/>
            <a:ext cx="13258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400" b="1">
                <a:solidFill>
                  <a:srgbClr val="173B67"/>
                </a:solidFill>
                <a:latin typeface="Aptos"/>
              </a:rPr>
              <a:t>Reset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2743200"/>
            <a:ext cx="132588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100" b="0">
                <a:solidFill>
                  <a:srgbClr val="30353D"/>
                </a:solidFill>
                <a:latin typeface="Aptos"/>
              </a:rPr>
              <a:t>Jika sukses, form.reset().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440680"/>
            <a:ext cx="100584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600" b="1">
                <a:solidFill>
                  <a:srgbClr val="173B67"/>
                </a:solidFill>
                <a:latin typeface="Aptos"/>
              </a:rPr>
              <a:t>Module memisahkan fungsi; main.js mengorkestrasi alur.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13 • JavaScript Modules &amp; Bootstrap Form/Component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Validasi → Error List → Toast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6400800" cy="388620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99032"/>
            <a:ext cx="6080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F29E00"/>
                </a:solidFill>
                <a:latin typeface="Aptos"/>
              </a:rPr>
              <a:t>main.js —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91640"/>
            <a:ext cx="6080760" cy="3410711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/>
            <a:r>
              <a:rPr sz="1200" b="0">
                <a:solidFill>
                  <a:srgbClr val="EBEFF3"/>
                </a:solidFill>
                <a:latin typeface="Consolas"/>
              </a:rPr>
              <a:t>const errors = validasiForm(data);
tampilkanErrorList(errors);
if (errors.length === 0) {
  tampilkanToast(`Produk "${data.nama}" berhasil disimpan!`, "success");
  form.reset();
} else {
  tampilkanToast("Form belum valid, periksa kembali.", "danger");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325880"/>
            <a:ext cx="4206240" cy="38862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69480" y="1325880"/>
            <a:ext cx="64008" cy="388620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1472184"/>
            <a:ext cx="384047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Dua jenis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1947672"/>
            <a:ext cx="38221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Alert → menampilkan detail error.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0648" y="2459736"/>
            <a:ext cx="38221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Toast → memberi status ringkas.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0648" y="2971800"/>
            <a:ext cx="38221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Validasi tetap berada di module validasi.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0648" y="3483864"/>
            <a:ext cx="38221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UI tetap berada di module ui.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10332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400" b="0">
                <a:solidFill>
                  <a:srgbClr val="646E7D"/>
                </a:solidFill>
                <a:latin typeface="Aptos"/>
              </a:rPr>
              <a:t>Pemisahan ini membuat aturan validasi tidak tergantung pada komponen Bootstrap.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13 • JavaScript Modules &amp; Bootstrap Form/Component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Bootstrap Component sebagai UI Layer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80160"/>
            <a:ext cx="64008" cy="448056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26463"/>
            <a:ext cx="3017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01952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form-control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414016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form-label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926080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row / 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438144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button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950208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Input menjadi konsisten secara visual.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1280160"/>
            <a:ext cx="3383280" cy="448056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7408" y="1280160"/>
            <a:ext cx="64008" cy="448056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6" y="1426463"/>
            <a:ext cx="3017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1901952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alert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414016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alert-danger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2926080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d-none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3438144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Cocok untuk daftar error atau pesan yang perlu terlihat.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0456" y="128016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0456" y="1280160"/>
            <a:ext cx="64008" cy="4480560"/>
          </a:xfrm>
          <a:prstGeom prst="rect">
            <a:avLst/>
          </a:prstGeom>
          <a:solidFill>
            <a:srgbClr val="2C7A53"/>
          </a:solidFill>
          <a:ln>
            <a:solidFill>
              <a:srgbClr val="2C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21624" y="1426463"/>
            <a:ext cx="3017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Toast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1901952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toast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2414016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text-bg-success / danger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1624" y="2926080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bootstrap.Toast(...)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3438144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Feedback singkat tanpa mengganti halaman.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13 • JavaScript Modules &amp; Bootstrap Form/Component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Bootstrap JavaScript: Mengapa bundle Dimuat?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6675120" cy="214884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490472"/>
            <a:ext cx="6355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F29E00"/>
                </a:solidFill>
                <a:latin typeface="Aptos"/>
              </a:rPr>
              <a:t>index.html —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783080"/>
            <a:ext cx="6355080" cy="167335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/>
            <a:r>
              <a:rPr sz="1200" b="0">
                <a:solidFill>
                  <a:srgbClr val="EBEFF3"/>
                </a:solidFill>
                <a:latin typeface="Consolas"/>
              </a:rPr>
              <a:t>&lt;script src="https://cdn.jsdelivr.net/npm/bootstrap@5.3.3/dist/js/bootstrap.bundle.min.js"&gt;&lt;/script&gt;
&lt;script type="module" src="main.js"&gt;&lt;/script&gt;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17320"/>
            <a:ext cx="3749039" cy="292608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1417320"/>
            <a:ext cx="64008" cy="292608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1563624"/>
            <a:ext cx="338327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Keterkaitan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2039112"/>
            <a:ext cx="33649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Bootstrap CSS → styling.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2551176"/>
            <a:ext cx="33649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Bootstrap bundle → behavior komponen JS.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3063240"/>
            <a:ext cx="33649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ui.js menggunakan bootstrap.Toast.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3575304"/>
            <a:ext cx="33649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main.js memanggil fungsi dari ui.js.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400" b="1">
                <a:solidFill>
                  <a:srgbClr val="B53737"/>
                </a:solidFill>
                <a:latin typeface="Aptos"/>
              </a:rPr>
              <a:t>Tanpa bundle Bootstrap yang sesuai, pemanggilan bootstrap.Toast pada ui.js tidak akan tersedia.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13 • JavaScript Modules &amp; Bootstrap Form/Component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Debugging ES Modules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394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64008" cy="438912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Jika muncul import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Pastikan script menggunakan type="module".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Periksa path ./modules/validasi.js.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Periksa nama file dan huruf besar/kecil.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Jalankan melalui server lokal.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325880"/>
            <a:ext cx="5394960" cy="438912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1325880"/>
            <a:ext cx="64008" cy="438912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Jika Bootstrap component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Pastikan bootstrap.bundle.min.js dimuat.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Periksa id liveToast / toastBody.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Periksa console browser.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Pastikan fungsi ui.js sudah di-import.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52160"/>
            <a:ext cx="102412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500" b="1">
                <a:solidFill>
                  <a:srgbClr val="173B67"/>
                </a:solidFill>
                <a:latin typeface="Aptos"/>
              </a:rPr>
              <a:t>Debugging pertama: buka DevTools → Console → baca error paling awal.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13 • JavaScript Modules &amp; Bootstrap Form/Component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Menjalankan Praktikum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80160"/>
            <a:ext cx="64008" cy="448056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26463"/>
            <a:ext cx="48463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Langkah 1 — Server Lokal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01952"/>
            <a:ext cx="48280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Masuk ke folder 13_javascript-modules-bootstrap-component.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414016"/>
            <a:ext cx="48280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Jalankan: python3 -m http.server 8080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926080"/>
            <a:ext cx="48280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Buka http://localhost:8080.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438144"/>
            <a:ext cx="48280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Jangan menjalankan dari file://.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80160"/>
            <a:ext cx="5349240" cy="242316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3533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F29E00"/>
                </a:solidFill>
                <a:latin typeface="Aptos"/>
              </a:rPr>
              <a:t>Terminal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1645919"/>
            <a:ext cx="5029200" cy="194767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/>
            <a:r>
              <a:rPr sz="1400" b="0">
                <a:solidFill>
                  <a:srgbClr val="EBEFF3"/>
                </a:solidFill>
                <a:latin typeface="Consolas"/>
              </a:rPr>
              <a:t>cd 13_javascript-modules-bootstrap-component
python3 -m http.server 8080
# Browser
http://localhost:8080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77639"/>
            <a:ext cx="5349240" cy="178308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977639"/>
            <a:ext cx="64008" cy="178308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4123944"/>
            <a:ext cx="498347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Langkah 2 — Uji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4599431"/>
            <a:ext cx="496519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0">
                <a:solidFill>
                  <a:srgbClr val="30353D"/>
                </a:solidFill>
                <a:latin typeface="Aptos"/>
              </a:rPr>
              <a:t>• Isi form valid.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5111496"/>
            <a:ext cx="496519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0">
                <a:solidFill>
                  <a:srgbClr val="30353D"/>
                </a:solidFill>
                <a:latin typeface="Aptos"/>
              </a:rPr>
              <a:t>• Coba input invalid.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23560"/>
            <a:ext cx="496519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0">
                <a:solidFill>
                  <a:srgbClr val="30353D"/>
                </a:solidFill>
                <a:latin typeface="Aptos"/>
              </a:rPr>
              <a:t>• Amati Alert dan Toast.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6135624"/>
            <a:ext cx="496519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0">
                <a:solidFill>
                  <a:srgbClr val="30353D"/>
                </a:solidFill>
                <a:latin typeface="Aptos"/>
              </a:rPr>
              <a:t>• Periksa Console jika gagal.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13 • JavaScript Modules &amp; Bootstrap Form/Component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Praktik Terbimbing: Tambahkan Module format.js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5577840" cy="265176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99032"/>
            <a:ext cx="5257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F29E00"/>
                </a:solidFill>
                <a:latin typeface="Aptos"/>
              </a:rPr>
              <a:t>Tugas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91640"/>
            <a:ext cx="5257800" cy="217627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/>
            <a:r>
              <a:rPr sz="1200" b="0">
                <a:solidFill>
                  <a:srgbClr val="EBEFF3"/>
                </a:solidFill>
                <a:latin typeface="Consolas"/>
              </a:rPr>
              <a:t>// modules/format.js
export function formatRupiah(angka) {
  return new Intl.NumberFormat("id-ID", {
    style: "currency",
    currency: "IDR"
  }).format(angka);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25880"/>
            <a:ext cx="5212080" cy="265176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399032"/>
            <a:ext cx="4892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F29E00"/>
                </a:solidFill>
                <a:latin typeface="Aptos"/>
              </a:rPr>
              <a:t>Integrasikan ke main.js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1691640"/>
            <a:ext cx="4892040" cy="217627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/>
            <a:r>
              <a:rPr sz="1200" b="0">
                <a:solidFill>
                  <a:srgbClr val="EBEFF3"/>
                </a:solidFill>
                <a:latin typeface="Consolas"/>
              </a:rPr>
              <a:t>// main.js
import { formatRupiah } from "./modules/format.js";
const hargaTampil = formatRupiah(data.harga);
console.log(hargaTampil);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343400"/>
            <a:ext cx="10972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4343400"/>
            <a:ext cx="64008" cy="1417320"/>
          </a:xfrm>
          <a:prstGeom prst="rect">
            <a:avLst/>
          </a:prstGeom>
          <a:solidFill>
            <a:srgbClr val="2C7A53"/>
          </a:solidFill>
          <a:ln>
            <a:solidFill>
              <a:srgbClr val="2C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4489704"/>
            <a:ext cx="106070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Tujuan Praktik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965192"/>
            <a:ext cx="105887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0">
                <a:solidFill>
                  <a:srgbClr val="30353D"/>
                </a:solidFill>
                <a:latin typeface="Aptos"/>
              </a:rPr>
              <a:t>• Memahami bahwa module baru cukup dibuat, di-export, lalu di-import. Hindari menaruh semua helper kembali ke main.js.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13 • JavaScript Modules &amp; Bootstrap Form/Component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Pengayaan: Bootstrap Modal &amp; Refactoring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394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64008" cy="43434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Tugas 2 — Bootstrap Modal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Ganti Toast dengan Modal untuk konfirmasi.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Tampilkan: “Yakin menyimpan produk?”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Gunakan Modal sebelum aksi simpan.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Pertahankan validasi di module validasi.js.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325880"/>
            <a:ext cx="5394960" cy="43434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1325880"/>
            <a:ext cx="64008" cy="434340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Refactoring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Buat module format.js.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Buat helper DOM bila mulai berulang.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Jaga main.js sebagai orchestrator.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Pastikan setiap module memiliki tanggung jawab jelas.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52160"/>
            <a:ext cx="102412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300" b="0">
                <a:solidFill>
                  <a:srgbClr val="646E7D"/>
                </a:solidFill>
                <a:latin typeface="Aptos"/>
              </a:rPr>
              <a:t>Tugas pengayaan ini mengikuti README Pertemuan 13 pada repository.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13 • JavaScript Modules &amp; Bootstrap Form/Component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Rangkuman &amp; Exit Ticket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394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64008" cy="43434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Poin kunci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ES Modules menggunakan export dan import.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Named export dan default export memiliki sintaks berbeda.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type="module" diperlukan untuk import/export di browser.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Kode dapat dipisah menjadi validasi.js, ui.js, dan main.js.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995928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Bootstrap menyediakan Form, Alert, dan Toast.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1325880"/>
            <a:ext cx="5394960" cy="43434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1325880"/>
            <a:ext cx="64008" cy="434340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Exit Ticket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Mengapa module lebih baik daripada satu file JS besar?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Apa perbedaan named export dan default export?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Mengapa perlu server lokal untuk module pada repository ini?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Apa peran Alert dan Toast?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995928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Gambarkan alur main.js → validasi.js + ui.js.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33872"/>
            <a:ext cx="106984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400" b="1">
                <a:solidFill>
                  <a:srgbClr val="173B67"/>
                </a:solidFill>
                <a:latin typeface="Aptos"/>
              </a:rPr>
              <a:t>Target akhir: mahasiswa mampu mengintegrasikan module JavaScript + Bootstrap component menjadi aplikasi web yang terstruktur.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