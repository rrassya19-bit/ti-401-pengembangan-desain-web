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5720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Aptos"/>
              </a:rPr>
              <a:t>PERTEMUAN 11 • CPMK52 / Sub-CPMK52.3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987552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73B67"/>
                </a:solidFill>
                <a:latin typeface="Aptos"/>
              </a:rPr>
              <a:t>JavaScript DOM: Manipulasi Elemen &amp; Event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0375812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 dirty="0">
                <a:solidFill>
                  <a:srgbClr val="4D5562"/>
                </a:solidFill>
                <a:latin typeface="Aptos"/>
              </a:rPr>
              <a:t>Target 100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menit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: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mahasiswa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mampu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memanipulasi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elemen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HTML dan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menerapkan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event handling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untuk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membangun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halaman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 web </a:t>
            </a:r>
            <a:r>
              <a:rPr sz="1500" b="0" i="0" dirty="0" err="1">
                <a:solidFill>
                  <a:srgbClr val="4D5562"/>
                </a:solidFill>
                <a:latin typeface="Aptos"/>
              </a:rPr>
              <a:t>interaktif</a:t>
            </a:r>
            <a:r>
              <a:rPr sz="1500" b="0" i="0" dirty="0">
                <a:solidFill>
                  <a:srgbClr val="4D5562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40280"/>
            <a:ext cx="4800600" cy="2423160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182880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173B67"/>
                </a:solidFill>
                <a:latin typeface="Aptos"/>
              </a:rPr>
              <a:t>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39319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565C0"/>
                </a:solidFill>
                <a:latin typeface="Aptos"/>
              </a:rPr>
              <a:t>HTML → DOM Tree → JavaScript → UI berubah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0"/>
            <a:ext cx="3931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Seleksi • Manipulasi • Event • 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240280"/>
            <a:ext cx="5074920" cy="2423160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79008" y="2578608"/>
            <a:ext cx="3200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E9D57"/>
                </a:solidFill>
                <a:latin typeface="Aptos"/>
              </a:rPr>
              <a:t>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3154680"/>
            <a:ext cx="40233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173B67"/>
                </a:solidFill>
                <a:latin typeface="Aptos"/>
              </a:rPr>
              <a:t>To-Do List sederhana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3730752"/>
            <a:ext cx="43434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Input tugas → tambah → tandai selesai → hapus → ringkasan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Mengapa Kita Membutuhkan DOM?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143000"/>
            <a:ext cx="960120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4D5562"/>
                </a:solidFill>
                <a:latin typeface="Aptos"/>
              </a:rPr>
              <a:t>HTML memberi struktur; DOM membuat struktur itu dapat diakses dan diubah oleh JavaScript.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828800"/>
            <a:ext cx="3154680" cy="233172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75104"/>
            <a:ext cx="2825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Tanpa 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3" y="2304288"/>
            <a:ext cx="2825495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D" sz="1400" b="0" i="0" dirty="0">
                <a:solidFill>
                  <a:srgbClr val="4D5562"/>
                </a:solidFill>
                <a:latin typeface="Aptos"/>
              </a:rPr>
              <a:t>Halaman </a:t>
            </a:r>
            <a:r>
              <a:rPr lang="en-ID" sz="1400" b="0" i="0" dirty="0" err="1">
                <a:solidFill>
                  <a:srgbClr val="4D5562"/>
                </a:solidFill>
                <a:latin typeface="Aptos"/>
              </a:rPr>
              <a:t>cenderung</a:t>
            </a:r>
            <a:r>
              <a:rPr lang="en-ID" sz="1400" b="0" i="0" dirty="0">
                <a:solidFill>
                  <a:srgbClr val="4D5562"/>
                </a:solidFill>
                <a:latin typeface="Aptos"/>
              </a:rPr>
              <a:t> statis: </a:t>
            </a:r>
            <a:r>
              <a:rPr lang="en-ID" sz="1400" b="0" i="0" dirty="0" err="1">
                <a:solidFill>
                  <a:srgbClr val="4D5562"/>
                </a:solidFill>
                <a:latin typeface="Aptos"/>
              </a:rPr>
              <a:t>teks</a:t>
            </a:r>
            <a:r>
              <a:rPr lang="en-ID" sz="1400" b="0" i="0" dirty="0">
                <a:solidFill>
                  <a:srgbClr val="4D5562"/>
                </a:solidFill>
                <a:latin typeface="Aptos"/>
              </a:rPr>
              <a:t>, </a:t>
            </a:r>
            <a:r>
              <a:rPr lang="en-ID" sz="1400" b="0" i="0" dirty="0" err="1">
                <a:solidFill>
                  <a:srgbClr val="4D5562"/>
                </a:solidFill>
                <a:latin typeface="Aptos"/>
              </a:rPr>
              <a:t>tombol</a:t>
            </a:r>
            <a:r>
              <a:rPr lang="en-ID" sz="1400" b="0" i="0" dirty="0">
                <a:solidFill>
                  <a:srgbClr val="4D5562"/>
                </a:solidFill>
                <a:latin typeface="Aptos"/>
              </a:rPr>
              <a:t>, dan list </a:t>
            </a:r>
            <a:r>
              <a:rPr lang="en-ID" sz="1400" b="0" i="0" dirty="0" err="1">
                <a:solidFill>
                  <a:srgbClr val="4D5562"/>
                </a:solidFill>
                <a:latin typeface="Aptos"/>
              </a:rPr>
              <a:t>tidak</a:t>
            </a:r>
            <a:r>
              <a:rPr lang="en-ID"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lang="en-ID" sz="1400" b="0" i="0" dirty="0" err="1">
                <a:solidFill>
                  <a:srgbClr val="4D5562"/>
                </a:solidFill>
                <a:latin typeface="Aptos"/>
              </a:rPr>
              <a:t>merespons</a:t>
            </a:r>
            <a:r>
              <a:rPr lang="en-ID"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lang="en-ID" sz="1400" b="0" i="0" dirty="0" err="1">
                <a:solidFill>
                  <a:srgbClr val="4D5562"/>
                </a:solidFill>
                <a:latin typeface="Aptos"/>
              </a:rPr>
              <a:t>aksi</a:t>
            </a:r>
            <a:r>
              <a:rPr lang="en-ID"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lang="en-ID" sz="1400" b="0" i="0" dirty="0" err="1">
                <a:solidFill>
                  <a:srgbClr val="4D5562"/>
                </a:solidFill>
                <a:latin typeface="Aptos"/>
              </a:rPr>
              <a:t>pengguna</a:t>
            </a:r>
            <a:r>
              <a:rPr lang="en-ID" sz="1400" b="0" i="0" dirty="0">
                <a:solidFill>
                  <a:srgbClr val="4D5562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828800"/>
            <a:ext cx="3154680" cy="233172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50792" y="1975104"/>
            <a:ext cx="2825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Dengan 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2304288"/>
            <a:ext cx="2926080" cy="9356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4D5562"/>
                </a:solidFill>
                <a:latin typeface="Aptos"/>
              </a:rPr>
              <a:t>JavaScript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dapat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memilih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node,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mengubah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isi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membuat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node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baru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menghapus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node, dan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mengubah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class/style.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1828800"/>
            <a:ext cx="3154680" cy="233172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1975104"/>
            <a:ext cx="2825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Dengan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304287"/>
            <a:ext cx="2724912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 dirty="0" err="1">
                <a:solidFill>
                  <a:srgbClr val="4D5562"/>
                </a:solidFill>
                <a:latin typeface="Aptos"/>
              </a:rPr>
              <a:t>Klik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ketikan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keyboard, submit form, dan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aksi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lain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dapat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memicu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fungsi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JavaScript.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91440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73B67"/>
                </a:solidFill>
                <a:latin typeface="Aptos"/>
              </a:rPr>
              <a:t>Inti pembelajaran: pilih elemen → ubah/manipulasi → dengarkan event → render ulang bila perlu.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Prasyarat &amp; Posisi Pertemuan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234440"/>
            <a:ext cx="2880360" cy="3200400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73B67"/>
                </a:solidFill>
                <a:latin typeface="Aptos"/>
              </a:rPr>
              <a:t>Sebelumnya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JavaScript dasar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79192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Function &amp;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00984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Console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234440"/>
            <a:ext cx="2880360" cy="3200400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77640" y="1481328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73B67"/>
                </a:solidFill>
                <a:latin typeface="Aptos"/>
              </a:rPr>
              <a:t>Hari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057400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DOM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79192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Seleksi &amp; manipulasi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00984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Event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234440"/>
            <a:ext cx="2880360" cy="3200400"/>
          </a:xfrm>
          <a:prstGeom prst="roundRect">
            <a:avLst/>
          </a:prstGeom>
          <a:solidFill>
            <a:srgbClr val="FCF1E3"/>
          </a:solidFill>
          <a:ln>
            <a:solidFill>
              <a:srgbClr val="FCF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42048" y="1481328"/>
            <a:ext cx="24688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73B67"/>
                </a:solidFill>
                <a:latin typeface="Aptos"/>
              </a:rPr>
              <a:t>Setelah 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2057400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Async / Fetch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679192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Integrasi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3300984"/>
            <a:ext cx="23317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UI lebih dinamis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7D8DA2"/>
                </a:solidFill>
                <a:latin typeface="Aptos"/>
              </a:rPr>
              <a:t>Input → memahami JavaScript dasar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800600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7D8DA2"/>
                </a:solidFill>
                <a:latin typeface="Aptos"/>
              </a:rPr>
              <a:t>Proses → menghubungkan JS dengan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800600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7D8DA2"/>
                </a:solidFill>
                <a:latin typeface="Aptos"/>
              </a:rPr>
              <a:t>Output → halaman web interaktif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Alur Pembelajaran 100 Menit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1584960" cy="713232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36550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10’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56231"/>
            <a:ext cx="136550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73B67"/>
                </a:solidFill>
                <a:latin typeface="Aptos"/>
              </a:rPr>
              <a:t>Orientasi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365504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4D5562"/>
                </a:solidFill>
                <a:latin typeface="Aptos"/>
              </a:rPr>
              <a:t>HTML → DOM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5040" y="1508760"/>
            <a:ext cx="1584960" cy="713232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4768" y="1627632"/>
            <a:ext cx="136550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15’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4768" y="1856231"/>
            <a:ext cx="136550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73B67"/>
                </a:solidFill>
                <a:latin typeface="Aptos"/>
              </a:rPr>
              <a:t>Konsep 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4768" y="2121408"/>
            <a:ext cx="1365504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4D5562"/>
                </a:solidFill>
                <a:latin typeface="Aptos"/>
              </a:rPr>
              <a:t>Tree &amp; node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9728" y="1508760"/>
            <a:ext cx="1584960" cy="713232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9456" y="1627632"/>
            <a:ext cx="136550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20’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9456" y="1856231"/>
            <a:ext cx="136550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73B67"/>
                </a:solidFill>
                <a:latin typeface="Aptos"/>
              </a:rPr>
              <a:t>Seleksi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9456" y="2121408"/>
            <a:ext cx="1365504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4D5562"/>
                </a:solidFill>
                <a:latin typeface="Aptos"/>
              </a:rPr>
              <a:t>getElementById/querySelector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4416" y="1508760"/>
            <a:ext cx="1584960" cy="713232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24144" y="1627632"/>
            <a:ext cx="136550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20’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4144" y="1856231"/>
            <a:ext cx="136550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73B67"/>
                </a:solidFill>
                <a:latin typeface="Aptos"/>
              </a:rPr>
              <a:t>Manipulasi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2121408"/>
            <a:ext cx="1365504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4D5562"/>
                </a:solidFill>
                <a:latin typeface="Aptos"/>
              </a:rPr>
              <a:t>text, class, element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9104" y="1508760"/>
            <a:ext cx="1584960" cy="713232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8832" y="1627632"/>
            <a:ext cx="136550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25’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8832" y="1856231"/>
            <a:ext cx="136550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73B67"/>
                </a:solidFill>
                <a:latin typeface="Aptos"/>
              </a:rPr>
              <a:t>Demo + praktik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8832" y="2121408"/>
            <a:ext cx="1365504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4D5562"/>
                </a:solidFill>
                <a:latin typeface="Aptos"/>
              </a:rPr>
              <a:t>To-Do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3792" y="1508760"/>
            <a:ext cx="1584960" cy="713232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3520" y="1627632"/>
            <a:ext cx="1365504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10’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3520" y="1856231"/>
            <a:ext cx="136550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73B67"/>
                </a:solidFill>
                <a:latin typeface="Aptos"/>
              </a:rPr>
              <a:t>Refleksi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3520" y="2121408"/>
            <a:ext cx="1365504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4D5562"/>
                </a:solidFill>
                <a:latin typeface="Aptos"/>
              </a:rPr>
              <a:t>debugging &amp; rangkuman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2788920"/>
            <a:ext cx="9646920" cy="36576"/>
          </a:xfrm>
          <a:prstGeom prst="rect">
            <a:avLst/>
          </a:prstGeom>
          <a:solidFill>
            <a:srgbClr val="7D8DA2"/>
          </a:solidFill>
          <a:ln>
            <a:solidFill>
              <a:srgbClr val="7D8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3154680"/>
            <a:ext cx="2743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Capaian pertemuan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84448"/>
            <a:ext cx="9326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Memahami DOM sebagai representasi tree dari dokumen HTML.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151376"/>
            <a:ext cx="9326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Memilih elemen, mengubah isi/atribut/style, serta membuat elemen dinamis.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18304"/>
            <a:ext cx="93268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•  Menerapkan event handling untuk membangun UI interaktif.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Apa Itu DOM?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115568"/>
            <a:ext cx="10904903" cy="5976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>
                <a:solidFill>
                  <a:srgbClr val="4D5562"/>
                </a:solidFill>
                <a:latin typeface="Aptos"/>
              </a:rPr>
              <a:t>Document Object Model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adalah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representasi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dokumen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HTML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sebagai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struktur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objek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/node yang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dapat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diakses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4D5562"/>
                </a:solidFill>
                <a:latin typeface="Aptos"/>
              </a:rPr>
              <a:t>melalui</a:t>
            </a:r>
            <a:r>
              <a:rPr sz="1700" b="0" i="0" dirty="0">
                <a:solidFill>
                  <a:srgbClr val="4D5562"/>
                </a:solidFill>
                <a:latin typeface="Aptos"/>
              </a:rPr>
              <a:t> JavaScript.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74519"/>
            <a:ext cx="1828800" cy="502920"/>
          </a:xfrm>
          <a:prstGeom prst="roundRect">
            <a:avLst/>
          </a:prstGeom>
          <a:solidFill>
            <a:srgbClr val="E8F0FC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911095"/>
            <a:ext cx="1828800" cy="4297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73B67"/>
                </a:solidFill>
                <a:latin typeface="Aptos"/>
              </a:rPr>
              <a:t>document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743200"/>
            <a:ext cx="1645920" cy="457200"/>
          </a:xfrm>
          <a:prstGeom prst="roundRect">
            <a:avLst/>
          </a:prstGeom>
          <a:solidFill>
            <a:srgbClr val="E9F6EE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2779776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173B67"/>
                </a:solidFill>
                <a:latin typeface="Aptos"/>
              </a:rPr>
              <a:t>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743200"/>
            <a:ext cx="1645920" cy="457200"/>
          </a:xfrm>
          <a:prstGeom prst="roundRect">
            <a:avLst/>
          </a:prstGeom>
          <a:solidFill>
            <a:srgbClr val="E9F6EE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779776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173B67"/>
                </a:solidFill>
                <a:latin typeface="Aptos"/>
              </a:rPr>
              <a:t>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743200"/>
            <a:ext cx="1645920" cy="457200"/>
          </a:xfrm>
          <a:prstGeom prst="roundRect">
            <a:avLst/>
          </a:prstGeom>
          <a:solidFill>
            <a:srgbClr val="E9F6EE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779776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173B67"/>
                </a:solidFill>
                <a:latin typeface="Aptos"/>
              </a:rPr>
              <a:t>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703320"/>
            <a:ext cx="1463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3739896"/>
            <a:ext cx="146304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173B67"/>
                </a:solidFill>
                <a:latin typeface="Aptos"/>
              </a:rPr>
              <a:t>h1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703320"/>
            <a:ext cx="1645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3739896"/>
            <a:ext cx="164592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173B67"/>
                </a:solidFill>
                <a:latin typeface="Aptos"/>
              </a:rPr>
              <a:t>button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657600" y="2377440"/>
            <a:ext cx="1828800" cy="365760"/>
          </a:xfrm>
          <a:prstGeom prst="line">
            <a:avLst/>
          </a:prstGeom>
          <a:ln w="19050">
            <a:solidFill>
              <a:srgbClr val="7D8D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86400" y="2377440"/>
            <a:ext cx="137160" cy="365760"/>
          </a:xfrm>
          <a:prstGeom prst="line">
            <a:avLst/>
          </a:prstGeom>
          <a:ln w="19050">
            <a:solidFill>
              <a:srgbClr val="7D8D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0" y="2377440"/>
            <a:ext cx="2103120" cy="365760"/>
          </a:xfrm>
          <a:prstGeom prst="line">
            <a:avLst/>
          </a:prstGeom>
          <a:ln w="19050">
            <a:solidFill>
              <a:srgbClr val="7D8D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537960" y="3200400"/>
            <a:ext cx="1051560" cy="502920"/>
          </a:xfrm>
          <a:prstGeom prst="line">
            <a:avLst/>
          </a:prstGeom>
          <a:ln w="19050">
            <a:solidFill>
              <a:srgbClr val="7D8D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89520" y="3200400"/>
            <a:ext cx="960120" cy="502920"/>
          </a:xfrm>
          <a:prstGeom prst="line">
            <a:avLst/>
          </a:prstGeom>
          <a:ln w="19050">
            <a:solidFill>
              <a:srgbClr val="7D8D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617720"/>
            <a:ext cx="914400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 dirty="0">
                <a:solidFill>
                  <a:srgbClr val="173B67"/>
                </a:solidFill>
                <a:latin typeface="Aptos"/>
              </a:rPr>
              <a:t>JavaScript </a:t>
            </a:r>
            <a:r>
              <a:rPr sz="1500" b="1" i="0" dirty="0" err="1">
                <a:solidFill>
                  <a:srgbClr val="173B67"/>
                </a:solidFill>
                <a:latin typeface="Aptos"/>
              </a:rPr>
              <a:t>berinteraksi</a:t>
            </a:r>
            <a:r>
              <a:rPr sz="1500" b="1" i="0" dirty="0">
                <a:solidFill>
                  <a:srgbClr val="173B67"/>
                </a:solidFill>
                <a:latin typeface="Aptos"/>
              </a:rPr>
              <a:t> </a:t>
            </a:r>
            <a:r>
              <a:rPr sz="1500" b="1" i="0" dirty="0" err="1">
                <a:solidFill>
                  <a:srgbClr val="173B67"/>
                </a:solidFill>
                <a:latin typeface="Aptos"/>
              </a:rPr>
              <a:t>dengan</a:t>
            </a:r>
            <a:r>
              <a:rPr sz="1500" b="1" i="0" dirty="0">
                <a:solidFill>
                  <a:srgbClr val="173B67"/>
                </a:solidFill>
                <a:latin typeface="Aptos"/>
              </a:rPr>
              <a:t> node DOM </a:t>
            </a:r>
            <a:r>
              <a:rPr sz="1500" b="1" i="0" dirty="0" err="1">
                <a:solidFill>
                  <a:srgbClr val="173B67"/>
                </a:solidFill>
                <a:latin typeface="Aptos"/>
              </a:rPr>
              <a:t>melalui</a:t>
            </a:r>
            <a:r>
              <a:rPr sz="1500" b="1" i="0" dirty="0">
                <a:solidFill>
                  <a:srgbClr val="173B67"/>
                </a:solidFill>
                <a:latin typeface="Aptos"/>
              </a:rPr>
              <a:t> object </a:t>
            </a:r>
            <a:r>
              <a:rPr sz="1500" b="1" i="0" dirty="0" err="1">
                <a:solidFill>
                  <a:srgbClr val="173B67"/>
                </a:solidFill>
                <a:latin typeface="Aptos"/>
              </a:rPr>
              <a:t>seperti</a:t>
            </a:r>
            <a:r>
              <a:rPr sz="1500" b="1" i="0" dirty="0">
                <a:solidFill>
                  <a:srgbClr val="173B67"/>
                </a:solidFill>
                <a:latin typeface="Aptos"/>
              </a:rPr>
              <a:t> document dan Element.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DOM = Jembatan HTML dan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4206240" cy="182880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399032"/>
            <a:ext cx="391363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9A00"/>
                </a:solidFill>
                <a:latin typeface="Aptos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3877056" cy="1463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&lt;button id="tambahBtn"&gt;Tambah&lt;/button&gt;
&lt;p id="ringkasan"&gt;&lt;/p&gt;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325880"/>
            <a:ext cx="4572000" cy="237744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32704" y="1399032"/>
            <a:ext cx="427939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9A00"/>
                </a:solidFill>
                <a:latin typeface="Aptos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1636776"/>
            <a:ext cx="4242816" cy="20116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const btn = document.getElementById("tambahBtn");
const info = document.getElementById("ringkasan");
btn.textContent = "Tambah Tugas";
info.textContent = "Siap!";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11173022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 dirty="0">
                <a:solidFill>
                  <a:srgbClr val="4D5562"/>
                </a:solidFill>
                <a:latin typeface="Aptos"/>
              </a:rPr>
              <a:t>HTML </a:t>
            </a:r>
            <a:r>
              <a:rPr sz="1700" b="1" i="0" dirty="0" err="1">
                <a:solidFill>
                  <a:srgbClr val="4D5562"/>
                </a:solidFill>
                <a:latin typeface="Aptos"/>
              </a:rPr>
              <a:t>menyediakan</a:t>
            </a:r>
            <a:r>
              <a:rPr sz="1700" b="1" i="0" dirty="0">
                <a:solidFill>
                  <a:srgbClr val="4D5562"/>
                </a:solidFill>
                <a:latin typeface="Aptos"/>
              </a:rPr>
              <a:t> node. JavaScript </a:t>
            </a:r>
            <a:r>
              <a:rPr sz="1700" b="1" i="0" dirty="0" err="1">
                <a:solidFill>
                  <a:srgbClr val="4D5562"/>
                </a:solidFill>
                <a:latin typeface="Aptos"/>
              </a:rPr>
              <a:t>memperoleh</a:t>
            </a:r>
            <a:r>
              <a:rPr sz="1700" b="1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4D5562"/>
                </a:solidFill>
                <a:latin typeface="Aptos"/>
              </a:rPr>
              <a:t>referensinya</a:t>
            </a:r>
            <a:r>
              <a:rPr sz="1700" b="1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4D5562"/>
                </a:solidFill>
                <a:latin typeface="Aptos"/>
              </a:rPr>
              <a:t>lalu</a:t>
            </a:r>
            <a:r>
              <a:rPr sz="1700" b="1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4D5562"/>
                </a:solidFill>
                <a:latin typeface="Aptos"/>
              </a:rPr>
              <a:t>mengubah</a:t>
            </a:r>
            <a:r>
              <a:rPr sz="1700" b="1" i="0" dirty="0">
                <a:solidFill>
                  <a:srgbClr val="4D5562"/>
                </a:solidFill>
                <a:latin typeface="Aptos"/>
              </a:rPr>
              <a:t> state/</a:t>
            </a:r>
            <a:r>
              <a:rPr sz="1700" b="1" i="0" dirty="0" err="1">
                <a:solidFill>
                  <a:srgbClr val="4D5562"/>
                </a:solidFill>
                <a:latin typeface="Aptos"/>
              </a:rPr>
              <a:t>tampilan</a:t>
            </a:r>
            <a:r>
              <a:rPr sz="1700" b="1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4D5562"/>
                </a:solidFill>
                <a:latin typeface="Aptos"/>
              </a:rPr>
              <a:t>melalui</a:t>
            </a:r>
            <a:r>
              <a:rPr sz="1700" b="1" i="0" dirty="0">
                <a:solidFill>
                  <a:srgbClr val="4D5562"/>
                </a:solidFill>
                <a:latin typeface="Aptos"/>
              </a:rPr>
              <a:t> DOM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983480"/>
            <a:ext cx="64922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565C0"/>
                </a:solidFill>
                <a:latin typeface="Aptos"/>
              </a:rPr>
              <a:t>Pola mental: SELECT → READ/WRITE → RESPOND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Seleksi Elemen: getElementById()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4937760" cy="228600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89888"/>
            <a:ext cx="4608576" cy="21031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const inputTugas =
  document.getElementById("inputTugas");
const daftarTugas =
  document.getElementById("daftarTugas");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280160"/>
            <a:ext cx="4251960" cy="160020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62472" y="1426464"/>
            <a:ext cx="39227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Kapan digunakan?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1755648"/>
            <a:ext cx="3922776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4D5562"/>
                </a:solidFill>
                <a:latin typeface="Aptos"/>
              </a:rPr>
              <a:t>Saat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elemen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memiliki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id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unik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dan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kita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ingin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mengambil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satu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elemen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secara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langsung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3063240"/>
            <a:ext cx="4251960" cy="160020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3209544"/>
            <a:ext cx="39227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Hasil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3538728"/>
            <a:ext cx="3922776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Jika elemen ditemukan, kita memperoleh reference ke Element. Jika tidak ditemukan, hasilnya null.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47548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Consolas"/>
              </a:rPr>
              <a:t>Contoh HTML:  &lt;input id="inputTugas"&gt;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86868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73B67"/>
                </a:solidFill>
                <a:latin typeface="Aptos"/>
              </a:rPr>
              <a:t>Tip: pastikan id di HTML dan string di JavaScript sama persis.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Seleksi Fleksibel: querySelector()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029200" cy="201168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700016" cy="1828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const btn = document.querySelector("#tambahBtn");
const input = document.querySelector(".input-area input");
const firstP = document.querySelector("p");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234440"/>
            <a:ext cx="4160520" cy="141732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62472" y="1380744"/>
            <a:ext cx="383133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CSS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1709928"/>
            <a:ext cx="2976425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 dirty="0" err="1">
                <a:solidFill>
                  <a:srgbClr val="4D5562"/>
                </a:solidFill>
                <a:latin typeface="Aptos"/>
              </a:rPr>
              <a:t>Gunakan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#id, .class, tag,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atau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kombinasi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selector CSS.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834640"/>
            <a:ext cx="4160520" cy="155448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2980944"/>
            <a:ext cx="383133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querySelectorAll()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3310128"/>
            <a:ext cx="3113059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4D5562"/>
                </a:solidFill>
                <a:latin typeface="Aptos"/>
              </a:rPr>
              <a:t>Jika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perlu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semua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elemen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yang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cocok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gunakan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querySelectorAll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().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Hasilnya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NodeList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14400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Catatan penting: querySelector() mengembalikan elemen pertama yang cocok; jika tidak ada yang cocok, hasilnya null.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3657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D8DA2"/>
                </a:solidFill>
                <a:latin typeface="Aptos"/>
              </a:rPr>
              <a:t>Sumber API: MDN Web 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Membaca &amp; Mengubah Isi Elemen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4937760" cy="214884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608576" cy="19659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const judul = document.querySelector("h1");
console.log(judul.textContent);
judul.textContent = "Daftar Tugas Hari Ini";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234440"/>
            <a:ext cx="4160520" cy="132588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62472" y="1380744"/>
            <a:ext cx="383133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textContent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1709928"/>
            <a:ext cx="3176121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Membaca atau menetapkan teks sebagai text content elemen.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743200"/>
            <a:ext cx="4160520" cy="164592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2889504"/>
            <a:ext cx="383133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innerHTML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3218688"/>
            <a:ext cx="3176121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 dirty="0" err="1">
                <a:solidFill>
                  <a:srgbClr val="4D5562"/>
                </a:solidFill>
                <a:latin typeface="Aptos"/>
              </a:rPr>
              <a:t>Membaca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/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menulis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markup HTML di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dalam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elemen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.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Gunakan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dengan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hati-hati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ketika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data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berasal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dari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pengguna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91440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Untuk input, gunakan .value untuk membaca nilai yang diketik pengguna.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5212080"/>
            <a:ext cx="4846320" cy="59436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44952" y="5321808"/>
            <a:ext cx="4517136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const teks = inputTugas.value.trim();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Mengubah Atribut, Class, dan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212080" cy="301752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4882896" cy="2834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const link = document.querySelector("a");
link.href = "https://example.com";
const item = document.querySelector("li");
item.classList.add("selesai");
item.classList.remove("aktif");
item.classList.toggle("selesai");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3749039" cy="114300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335024"/>
            <a:ext cx="3419855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Atribut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664208"/>
            <a:ext cx="3419855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 dirty="0">
                <a:solidFill>
                  <a:srgbClr val="4D5562"/>
                </a:solidFill>
                <a:latin typeface="Aptos"/>
              </a:rPr>
              <a:t>Property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seperti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>
                <a:solidFill>
                  <a:srgbClr val="4D5562"/>
                </a:solidFill>
                <a:latin typeface="Aptos"/>
              </a:rPr>
              <a:t>href, value,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src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, disabled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dapat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dibaca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/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diubah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sesuai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4D5562"/>
                </a:solidFill>
                <a:latin typeface="Aptos"/>
              </a:rPr>
              <a:t>elemennya</a:t>
            </a:r>
            <a:r>
              <a:rPr sz="1400" b="0" i="0" dirty="0">
                <a:solidFill>
                  <a:srgbClr val="4D5562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514600"/>
            <a:ext cx="3749039" cy="114300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2660904"/>
            <a:ext cx="3419855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classList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90088"/>
            <a:ext cx="3419855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add(), remove(), toggle(), contains() membantu mengelola class CSS.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3749039" cy="123444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3986784"/>
            <a:ext cx="3419855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4315968"/>
            <a:ext cx="3419855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Bisa mengubah inline style, tetapi untuk UI yang lebih rapi biasanya class CSS lebih mudah dipelihara.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Membuat Elemen Dinamis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03520" cy="301752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974336" cy="2834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const li = document.createElement("li");
const span = document.createElement("span");
span.textContent = "Belajar DOM";
li.appendChild(span);
document.querySelector("#daftarTugas")
  .appendChild(li);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164592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7D8DA2"/>
                </a:solidFill>
                <a:latin typeface="Aptos"/>
              </a:rPr>
              <a:t>HTML awal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3474720" cy="502920"/>
          </a:xfrm>
          <a:prstGeom prst="roundRect">
            <a:avLst/>
          </a:prstGeom>
          <a:solidFill>
            <a:srgbClr val="E8F0FC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728216"/>
            <a:ext cx="3474720" cy="4297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73B67"/>
                </a:solidFill>
                <a:latin typeface="Aptos"/>
              </a:rPr>
              <a:t>&lt;ul id="daftarTugas"&gt;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514600"/>
            <a:ext cx="2194560" cy="457200"/>
          </a:xfrm>
          <a:prstGeom prst="roundRect">
            <a:avLst/>
          </a:prstGeom>
          <a:solidFill>
            <a:srgbClr val="E9F6EE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551176"/>
            <a:ext cx="219456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73B67"/>
                </a:solidFill>
                <a:latin typeface="Aptos"/>
              </a:rPr>
              <a:t>&lt;li&gt;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337560"/>
            <a:ext cx="29260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8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374136"/>
            <a:ext cx="292608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73B67"/>
                </a:solidFill>
                <a:latin typeface="Aptos"/>
              </a:rPr>
              <a:t>&lt;span&gt;Belajar DOM&lt;/span&gt;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1000" y="2194560"/>
            <a:ext cx="0" cy="320040"/>
          </a:xfrm>
          <a:prstGeom prst="line">
            <a:avLst/>
          </a:prstGeom>
          <a:ln w="19050">
            <a:solidFill>
              <a:srgbClr val="7D8D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1000" y="2971800"/>
            <a:ext cx="0" cy="365760"/>
          </a:xfrm>
          <a:prstGeom prst="line">
            <a:avLst/>
          </a:prstGeom>
          <a:ln w="19050">
            <a:solidFill>
              <a:srgbClr val="7D8D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89320" y="4160520"/>
            <a:ext cx="43891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565C0"/>
                </a:solidFill>
                <a:latin typeface="Aptos"/>
              </a:rPr>
              <a:t>createElement → isi node → appendChild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709160"/>
            <a:ext cx="43891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4D5562"/>
                </a:solidFill>
                <a:latin typeface="Aptos"/>
              </a:rPr>
              <a:t>Pola ini dipakai oleh To-Do List pada repository pertemuan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Menghapus &amp; Mengosongkan Elemen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120640" cy="265176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791456" cy="2468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// kosongkan seluruh isi container
daftarTugas.innerHTML = "";
// hapus node tertentu
li.remove();
// alternatif dari parent
parent.removeChild(li);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3840480" cy="123444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1380744"/>
            <a:ext cx="35112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innerHTML = ""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709928"/>
            <a:ext cx="351129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Praktis untuk mengosongkan container sebelum render ulang.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697480"/>
            <a:ext cx="3840480" cy="123444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2843784"/>
            <a:ext cx="35112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remove()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3172968"/>
            <a:ext cx="351129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Menghapus elemen yang sedang direferensikan.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160520"/>
            <a:ext cx="3840480" cy="123444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5352" y="4306824"/>
            <a:ext cx="35112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removeChild()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4636008"/>
            <a:ext cx="351129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Parent menghapus child yang diberikan.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914400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Gunakan metode yang sesuai dengan pola aplikasi; jangan menghapus node tanpa memahami dampaknya terhadap 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Event Handling: Membuat UI Merespons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4754880" cy="210312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425696" cy="19202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const tombol = document.querySelector("#tambahBtn");
tombol.addEventListener("click", () =&gt; {
  console.log("Tombol diklik");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325880"/>
            <a:ext cx="2011680" cy="114300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9592" y="1472184"/>
            <a:ext cx="1682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1801368"/>
            <a:ext cx="1682496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klik mouse/touch pada elemen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25880"/>
            <a:ext cx="2011680" cy="114300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1" y="1472184"/>
            <a:ext cx="1682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keydown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1801368"/>
            <a:ext cx="1682496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tombol keyboard ditekan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743200"/>
            <a:ext cx="2011680" cy="114300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2889504"/>
            <a:ext cx="1682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3218688"/>
            <a:ext cx="1682496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nilai input berubah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743200"/>
            <a:ext cx="2011680" cy="114300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1" y="2889504"/>
            <a:ext cx="1682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submit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3218688"/>
            <a:ext cx="1682496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form dikirim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896112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73B67"/>
                </a:solidFill>
                <a:latin typeface="Aptos"/>
              </a:rPr>
              <a:t>Prinsip: event terjadi → handler dijalankan → state/UI diperbarui.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89611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4D5562"/>
                </a:solidFill>
                <a:latin typeface="Aptos"/>
              </a:rPr>
              <a:t>addEventListener() adalah pola yang digunakan pada repository untuk click dan keydown.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Event Object: Mengetahui Detail Aksi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486400" cy="251460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5157216" cy="23317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inputTugas.addEventListener("keydown", (event) =&gt; {
  console.log(event.key);
  if (event.key === "Enter") {
    tambahBtn.click();
  }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3383280" cy="123444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380744"/>
            <a:ext cx="30540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event.key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709928"/>
            <a:ext cx="305409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Mengetahui tombol yang ditekan, misalnya Enter, Escape, atau huruf tertentu.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97480"/>
            <a:ext cx="3383280" cy="155448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843784"/>
            <a:ext cx="30540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event.preventDefault()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172968"/>
            <a:ext cx="3054096" cy="9601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Pada event tertentu, browser memiliki aksi default. Method ini dapat mencegah aksi tersebut ketika memang diperlukan.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905256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73B67"/>
                </a:solidFill>
                <a:latin typeface="Aptos"/>
              </a:rPr>
              <a:t>Di repository: menekan Enter pada input memanggil aksi tombol Tambah.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State vs DOM: Mengapa Perlu Array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96012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4D5562"/>
                </a:solidFill>
                <a:latin typeface="Aptos"/>
              </a:rPr>
              <a:t>Pada To-Do List, data tugas disimpan di memori sebagai array of object. DOM adalah tampilan yang digambar dari data tersebut.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480560" cy="196596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418795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9A00"/>
                </a:solidFill>
                <a:latin typeface="Aptos"/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39696"/>
            <a:ext cx="4151376" cy="1600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let semuaTugas = [
  { teks: "Belajar DOM", selesai: false },
  { teks: "Latihan event", selesai: true }
];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240280"/>
            <a:ext cx="15544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2E9D57"/>
                </a:solidFill>
                <a:latin typeface="Aptos"/>
              </a:rPr>
              <a:t>render()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74920" y="2441448"/>
            <a:ext cx="731520" cy="0"/>
          </a:xfrm>
          <a:prstGeom prst="line">
            <a:avLst/>
          </a:prstGeom>
          <a:ln w="31750">
            <a:solidFill>
              <a:srgbClr val="2E9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1828800"/>
            <a:ext cx="3840480" cy="196596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7104" y="1901952"/>
            <a:ext cx="354787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9A00"/>
                </a:solidFill>
                <a:latin typeface="Aptos"/>
              </a:rPr>
              <a:t>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39696"/>
            <a:ext cx="3511296" cy="1600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&lt;ul&gt;
  &lt;li&gt;Belajar DOM&lt;/li&gt;
  &lt;li class="selesai"&gt;Latihan event&lt;/li&gt;
&lt;/ul&gt;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89611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73B67"/>
                </a:solidFill>
                <a:latin typeface="Aptos"/>
              </a:rPr>
              <a:t>Jika state berubah → render() menggambar ulang UI agar konsisten dengan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Pola Render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486400" cy="342900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5157216" cy="32461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function render() {
  daftarTugas.innerHTML = "";
  semuaTugas.forEach((tugas, index) =&gt; {
    // buat li, span, tombol
    // pasang event
    // append ke DOM
  });
  ringkasan.textContent =
    `${jumlahSelesai} dari ${semuaTugas.length} tugas selesai.`;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3566160" cy="114300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335024"/>
            <a:ext cx="32369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1. Bersihkan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664208"/>
            <a:ext cx="3236976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Kosongkan container agar tidak terjadi duplikasi saat menggambar ulang.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3566160" cy="123444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660904"/>
            <a:ext cx="32369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2. Bangun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90088"/>
            <a:ext cx="323697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Loop data → createElement → isi → pasang event → append.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3566160" cy="123444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4078224"/>
            <a:ext cx="32369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3. Sinkronkan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407408"/>
            <a:ext cx="323697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Perbarui ringkasan/indikator berdasarkan state terbaru.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91440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0" i="0">
                <a:solidFill>
                  <a:srgbClr val="4D5562"/>
                </a:solidFill>
                <a:latin typeface="Aptos"/>
              </a:rPr>
              <a:t>Render function membuat alur data → tampilan lebih mudah dilacak dan di-debug.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Demo Repository: Struktur To-Do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12080" cy="356616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882896" cy="33832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index.html
  ├─ input#inputTugas
  ├─ button#tambahBtn
  ├─ ul#daftarTugas
  └─ p#ringkasan
script.js
  ├─ seleksi elemen
  ├─ semuaTugas[]
  ├─ render()
  ├─ event click
  └─ event keydown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3657600" cy="109728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380744"/>
            <a:ext cx="332841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09928"/>
            <a:ext cx="3328416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Input + tombol Tambah + list + ringkasan.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14600"/>
            <a:ext cx="3657600" cy="123444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2660904"/>
            <a:ext cx="332841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990088"/>
            <a:ext cx="332841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Array semuaTugas menyimpan teks dan status selesai.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3657600" cy="137160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4078224"/>
            <a:ext cx="332841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407408"/>
            <a:ext cx="3328416" cy="7772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Klik teks toggle selesai; klik Hapus menghapus data; Enter menambah tugas.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86868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7D8DA2"/>
                </a:solidFill>
                <a:latin typeface="Aptos"/>
              </a:rPr>
              <a:t>Repository folder: 11_javascript-dom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Demo: Seleksi + Tambah Tugas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623560" cy="434340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161288"/>
            <a:ext cx="5294376" cy="4160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7E5F7"/>
                </a:solidFill>
                <a:latin typeface="Consolas"/>
              </a:rPr>
              <a:t>const inputTugas =
  document.getElementById("inputTugas");
const tambahBtn =
  document.querySelector("#tambahBtn");
tambahBtn.addEventListener("click", () =&gt; {
  const teks = inputTugas.value.trim();
  if (teks === "") return;
  semuaTugas.push({
    teks: teks,
    selesai: false
  });
  inputTugas.value = "";
  render();
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188720"/>
            <a:ext cx="29260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Urutan eksekusi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91640"/>
            <a:ext cx="3246120" cy="393192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764792"/>
            <a:ext cx="29260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D5562"/>
                </a:solidFill>
                <a:latin typeface="Aptos"/>
              </a:rPr>
              <a:t>1  User klik Tambah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221992"/>
            <a:ext cx="3246120" cy="393192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295144"/>
            <a:ext cx="29260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2  Ambil value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752344"/>
            <a:ext cx="3246120" cy="393192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825496"/>
            <a:ext cx="29260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3  Validasi tidak kosong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282696"/>
            <a:ext cx="3246120" cy="393192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355848"/>
            <a:ext cx="29260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4  push object ke array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813048"/>
            <a:ext cx="3246120" cy="393192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886200"/>
            <a:ext cx="29260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5  Kosongkan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343400"/>
            <a:ext cx="3246120" cy="393192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416552"/>
            <a:ext cx="29260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4D5562"/>
                </a:solidFill>
                <a:latin typeface="Aptos"/>
              </a:rPr>
              <a:t>6  render()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83480"/>
            <a:ext cx="347472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73B67"/>
                </a:solidFill>
                <a:latin typeface="Aptos"/>
              </a:rPr>
              <a:t>Inilah event-driven programming sederhana: aksi pengguna memicu perubahan state dan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Demo: Toggle Selesai &amp; Hapus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029200" cy="260604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700016" cy="2423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span.addEventListener("click", () =&gt; {
  tugas.selesai = !tugas.selesai;
  render();
});
hapusBtn.addEventListener("click", () =&gt; {
  semuaTugas.splice(index, 1);
  render();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3886200" cy="132588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1380744"/>
            <a:ext cx="355701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709928"/>
            <a:ext cx="3557016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Status boolean dibalik: false → true → false. render() menampilkan class selesai.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743200"/>
            <a:ext cx="3886200" cy="123444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2889504"/>
            <a:ext cx="355701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Hapus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3218688"/>
            <a:ext cx="3557016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splice(index, 1) menghapus satu object dari array berdasarkan posisi.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89611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73B67"/>
                </a:solidFill>
                <a:latin typeface="Aptos"/>
              </a:rPr>
              <a:t>Kunci: jangan hanya mengubah DOM. Pastikan state/data juga berubah agar render berikutnya tidak mengembalikan tampilan lama.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Event Delegation: Pengantar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94183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4D5562"/>
                </a:solidFill>
                <a:latin typeface="Aptos"/>
              </a:rPr>
              <a:t>Pada contoh repository, event dipasang langsung pada span dan tombol yang dibuat. Untuk list yang sangat besar, event delegation dapat menjadi alternatif.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03520" cy="265176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84247"/>
            <a:ext cx="4974336" cy="2468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7E5F7"/>
                </a:solidFill>
                <a:latin typeface="Consolas"/>
              </a:rPr>
              <a:t>daftarTugas.addEventListener("click", (event) =&gt; {
  if (event.target.matches("span")) {
    // proses item
  }
  if (event.target.matches("button")) {
    // proses hapus
  }
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3566160" cy="137160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020823"/>
            <a:ext cx="32369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Konsep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350007"/>
            <a:ext cx="3236976" cy="7772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Satu listener pada parent menangani event dari child melalui event bubbling.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3566160" cy="146304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3621024"/>
            <a:ext cx="32369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Untuk materi 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950208"/>
            <a:ext cx="3236976" cy="8686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Cukup pahami sebagai pengayaan. Praktik utama tetap menggunakan addEventListener pada elemen yang dibuat.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86868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73B67"/>
                </a:solidFill>
                <a:latin typeface="Aptos"/>
              </a:rPr>
              <a:t>Tujuan: mahasiswa memahami bahwa ada lebih dari satu pola event handling.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Debugging DOM di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4937760" cy="2103120"/>
          </a:xfrm>
          <a:prstGeom prst="roundRect">
            <a:avLst/>
          </a:prstGeom>
          <a:solidFill>
            <a:srgbClr val="121E2E"/>
          </a:solidFill>
          <a:ln>
            <a:solidFill>
              <a:srgbClr val="12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344168"/>
            <a:ext cx="4608576" cy="19202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7E5F7"/>
                </a:solidFill>
                <a:latin typeface="Consolas"/>
              </a:rPr>
              <a:t>console.log(inputTugas);
console.log(inputTugas.value);
console.log(semuaTugas);
console.log(document.querySelector("#id-yang-salah"));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143000"/>
            <a:ext cx="4023360" cy="749808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62472" y="1289304"/>
            <a:ext cx="36941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1618488"/>
            <a:ext cx="3694176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4D5562"/>
                </a:solidFill>
                <a:latin typeface="Aptos"/>
              </a:rPr>
              <a:t>Selector salah atau script berjalan sebelum elemen tersedia.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039112"/>
            <a:ext cx="4023360" cy="749808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2185416"/>
            <a:ext cx="36941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Tidak berubah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2514600"/>
            <a:ext cx="3694176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4D5562"/>
                </a:solidFill>
                <a:latin typeface="Aptos"/>
              </a:rPr>
              <a:t>Event listener belum terpasang atau handler tidak terpanggil.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935224"/>
            <a:ext cx="4023360" cy="749808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62472" y="3081528"/>
            <a:ext cx="36941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Duplikat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3410712"/>
            <a:ext cx="3694176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4D5562"/>
                </a:solidFill>
                <a:latin typeface="Aptos"/>
              </a:rPr>
              <a:t>render() tidak membersihkan container terlebih dahulu.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831335"/>
            <a:ext cx="4023360" cy="749808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3977639"/>
            <a:ext cx="369417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UI kembali 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4306823"/>
            <a:ext cx="3694176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4D5562"/>
                </a:solidFill>
                <a:latin typeface="Aptos"/>
              </a:rPr>
              <a:t>State tidak diubah; hanya DOM yang diubah.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91440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73B67"/>
                </a:solidFill>
                <a:latin typeface="Aptos"/>
              </a:rPr>
              <a:t>Workflow debugging: Console → cek selector → cek event → cek state → cek render.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Praktik Terbimbing: Bangun To-Do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9326880" cy="438912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43584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25296"/>
            <a:ext cx="83210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Buka folder 11_javascript-dom dari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64792"/>
            <a:ext cx="9326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847088"/>
            <a:ext cx="83210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Jalankan index.html langsung di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86584"/>
            <a:ext cx="9326880" cy="438912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68880"/>
            <a:ext cx="83210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Tambahkan 3 tugas baru melalui input.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08376"/>
            <a:ext cx="9326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090672"/>
            <a:ext cx="83210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Klik teks tugas untuk mengubah status selesai.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30168"/>
            <a:ext cx="9326880" cy="438912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30752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712464"/>
            <a:ext cx="83210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Klik Hapus untuk menghapus tugas.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51960"/>
            <a:ext cx="9326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52544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Aptos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34256"/>
            <a:ext cx="83210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Tekan Enter pada input untuk menambah tugas.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932688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E9D57"/>
                </a:solidFill>
                <a:latin typeface="Aptos"/>
              </a:rPr>
              <a:t>Target praktik: mampu menjelaskan hubungan input → event → state → render → DOM.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Tantangan Praktikum &amp;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154680" cy="1828800"/>
          </a:xfrm>
          <a:prstGeom prst="roundRect">
            <a:avLst/>
          </a:prstGeom>
          <a:solidFill>
            <a:srgbClr val="E8F0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80744"/>
            <a:ext cx="2825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Tantangan 1 — 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2825496" cy="12344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Klik ganda pada teks tugas untuk mengubah isi tugas. Gunakan event dblclick.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234440"/>
            <a:ext cx="3154680" cy="1828800"/>
          </a:xfrm>
          <a:prstGeom prst="roundRect">
            <a:avLst/>
          </a:prstGeom>
          <a:solidFill>
            <a:srgbClr val="E9F6EE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50792" y="1380744"/>
            <a:ext cx="2825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Tantangan 2 —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2" y="1709928"/>
            <a:ext cx="2825496" cy="12344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Tambahkan tombol/checkbox untuk menampilkan hanya tugas yang belum selesai.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234440"/>
            <a:ext cx="3154680" cy="1828800"/>
          </a:xfrm>
          <a:prstGeom prst="roundRect">
            <a:avLst/>
          </a:prstGeom>
          <a:solidFill>
            <a:srgbClr val="FCF1E3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42632" y="1380744"/>
            <a:ext cx="2825496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Tantangan 3 — Statistik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2" y="1709928"/>
            <a:ext cx="2825496" cy="12344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D5562"/>
                </a:solidFill>
                <a:latin typeface="Aptos"/>
              </a:rPr>
              <a:t>Tampilkan jumlah total, selesai, dan belum selesai.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27432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73B67"/>
                </a:solidFill>
                <a:latin typeface="Aptos"/>
              </a:rPr>
              <a:t>Pertanyaan reflektif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8686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•  Mengapa state sebaiknya disimpan terpisah dari DOM?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59"/>
            <a:ext cx="8686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•  Apa akibatnya jika render() tidak mengosongkan list?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79"/>
            <a:ext cx="8686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•  Kapan querySelectorAll() lebih tepat daripada querySelector()?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19456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565C0"/>
                </a:solidFill>
                <a:latin typeface="Aptos"/>
              </a:rPr>
              <a:t>PERTEMUAN 11 • JavaScript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30352"/>
            <a:ext cx="10058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73B67"/>
                </a:solidFill>
                <a:latin typeface="Aptos"/>
              </a:rPr>
              <a:t>Rangkuman &amp; Refleksi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016752"/>
            <a:ext cx="38404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TI401 • Pengembangan Desain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5952744"/>
            <a:ext cx="292608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73B67"/>
                </a:solidFill>
                <a:latin typeface="Aptos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38912"/>
            <a:ext cx="10241280" cy="22860"/>
          </a:xfrm>
          <a:prstGeom prst="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228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9D57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24712"/>
            <a:ext cx="89611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DOM adalah representasi tree dari dokumen HTML yang dapat diakses JavaScript.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28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9D57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89611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Seleksi elemen: getElementById(), querySelector(), querySelectorAll().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228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9D57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58568"/>
            <a:ext cx="89611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Manipulasi: textContent, innerHTML, atribut, classList, createElement, appendChild.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5"/>
            <a:ext cx="228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9D57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25496"/>
            <a:ext cx="89611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Event handling: addEventListener() untuk click, keydown, input, dan event lainnya.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38144"/>
            <a:ext cx="228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9D57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92424"/>
            <a:ext cx="89611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To-Do List menunjukkan pola state → render → DOM serta interaksi berbasis event.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05072"/>
            <a:ext cx="2286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E9D57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59352"/>
            <a:ext cx="89611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D5562"/>
                </a:solidFill>
                <a:latin typeface="Aptos"/>
              </a:rPr>
              <a:t>Debugging dimulai dari selector, event, state, lalu render.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4617720"/>
            <a:ext cx="3886200" cy="868680"/>
          </a:xfrm>
          <a:prstGeom prst="roundRect">
            <a:avLst/>
          </a:prstGeom>
          <a:solidFill>
            <a:srgbClr val="E9F6EE"/>
          </a:solidFill>
          <a:ln>
            <a:solidFill>
              <a:srgbClr val="E9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4773168"/>
            <a:ext cx="12801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9D57"/>
                </a:solidFill>
                <a:latin typeface="Aptos"/>
              </a:rPr>
              <a:t>Exit ticket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029200"/>
            <a:ext cx="33375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73B67"/>
                </a:solidFill>
                <a:latin typeface="Aptos"/>
              </a:rPr>
              <a:t>Sebutkan 2 selector + 2 event + 2 operasi DOM yang kamu kuasai.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15000"/>
            <a:ext cx="96012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D8DA2"/>
                </a:solidFill>
                <a:latin typeface="Aptos"/>
              </a:rPr>
              <a:t>Sumber utama: GitHub repository TI401 — folder 11_javascript-dom • MDN Web Docs (DOM / querySelector)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2523</Words>
  <Application>Microsoft Macintosh PowerPoint</Application>
  <PresentationFormat>Widescreen</PresentationFormat>
  <Paragraphs>315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11 — JavaScript DOM</dc:title>
  <dc:subject>CPMK52 / Sub-CPMK52.3 — DOM Manipulation &amp; Event Handling</dc:subject>
  <dc:creator>TI401 • Pengembangan Desain Web</dc:creator>
  <cp:keywords>JavaScript, DOM, Event Handling, TI401, Sub-CPMK 52.3</cp:keywords>
  <cp:lastModifiedBy>asroni</cp:lastModifiedBy>
  <cp:revision>3</cp:revision>
  <dcterms:created xsi:type="dcterms:W3CDTF">2026-07-21T12:03:04Z</dcterms:created>
  <dcterms:modified xsi:type="dcterms:W3CDTF">2026-08-18T09:56:56Z</dcterms:modified>
</cp:coreProperties>
</file>