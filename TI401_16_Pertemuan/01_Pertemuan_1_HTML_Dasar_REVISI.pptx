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CPMK51 / SUB-CPMK51.1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2D57"/>
                </a:solidFill>
              </a:rPr>
              <a:t>HTML Dasar: Struktur Dokumen yang Benar &amp; Semantik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21208" y="1810512"/>
            <a:ext cx="5897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Revisi tahap 2: cakupan dipadatkan agar 100 menit fokus pada fondasi HTML, semantik, dan validasi struktur awal.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01</a:t>
            </a:r>
            <a:endParaRPr lang="en-US" sz="850" dirty="0"/>
          </a:p>
        </p:txBody>
      </p:sp>
      <p:pic>
        <p:nvPicPr>
          <p:cNvPr id="10" name="Image 0" descr="/mnt/data/wide_clean_vector_style_infographic_scene_on_a_whi.png">    </p:cNvPr>
          <p:cNvPicPr>
            <a:picLocks noChangeAspect="1"/>
          </p:cNvPicPr>
          <p:nvPr/>
        </p:nvPicPr>
        <p:blipFill>
          <a:blip r:embed="rId1"/>
          <a:srcRect l="0" r="NaN" t="NaN" b="NaN"/>
          <a:stretch/>
        </p:blipFill>
        <p:spPr>
          <a:xfrm>
            <a:off x="6720840" y="658368"/>
            <a:ext cx="5074920" cy="2926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97180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BFD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Target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886968" y="3502152"/>
            <a:ext cx="21122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Mahasiswa mampu menyusun struktur dokumen HTML yang benar dan semantik.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3456432" y="297180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FFC6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Output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3657600" y="3502152"/>
            <a:ext cx="21122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Kerangka halaman Portal Berita Kampus dengan landmark HTML yang valid.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685800" y="443484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45902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Batasan Sesi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886968" y="4965192"/>
            <a:ext cx="5038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Belum membahas CSS layout, validasi form, JavaScript, dan styling detail. Fokus utama adalah struktur dan makna dokumen.</a:t>
            </a:r>
            <a:endParaRPr lang="en-US" sz="10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Peta 100 Menit yang Sudah Dipadatkan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Total durasi disesuaikan tepat 100 menit agar tidak melebihi waktu teori.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217627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2219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042416" y="221284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Orientasi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58368" y="258775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5’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2788920" y="205740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35224" y="217627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5224" y="22219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374136" y="221284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HTML &amp; DOM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990088" y="258775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10’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5120640" y="205740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217627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2219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705856" y="221284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Anatomi &amp; struktur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5321808" y="258775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15’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7452360" y="205740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8664" y="217627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98664" y="22219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037576" y="221284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Head &amp; body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7653528" y="258775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12’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9784080" y="205740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30384" y="217627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30384" y="22219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5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0369296" y="221284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Nesting &amp; semantik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9985248" y="258775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14’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" y="359359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36393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6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1042416" y="363016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Landmark &amp; heading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658368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13’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2788920" y="347472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35224" y="359359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35224" y="36393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7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3374136" y="363016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Link, gambar, a11y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2990088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9’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5120640" y="347472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66944" y="359359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66944" y="36393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8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5705856" y="363016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Demo</a:t>
            </a:r>
            <a:endParaRPr lang="en-US" sz="1240" dirty="0"/>
          </a:p>
        </p:txBody>
      </p:sp>
      <p:sp>
        <p:nvSpPr>
          <p:cNvPr id="50" name="Text 48"/>
          <p:cNvSpPr/>
          <p:nvPr/>
        </p:nvSpPr>
        <p:spPr>
          <a:xfrm>
            <a:off x="5321808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10’</a:t>
            </a:r>
            <a:endParaRPr lang="en-US" sz="1090" dirty="0"/>
          </a:p>
        </p:txBody>
      </p:sp>
      <p:sp>
        <p:nvSpPr>
          <p:cNvPr id="51" name="Shape 49"/>
          <p:cNvSpPr/>
          <p:nvPr/>
        </p:nvSpPr>
        <p:spPr>
          <a:xfrm>
            <a:off x="7452360" y="347472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98664" y="359359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98664" y="36393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9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8037576" y="363016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Aktivitas</a:t>
            </a:r>
            <a:endParaRPr lang="en-US" sz="1240" dirty="0"/>
          </a:p>
        </p:txBody>
      </p:sp>
      <p:sp>
        <p:nvSpPr>
          <p:cNvPr id="55" name="Text 53"/>
          <p:cNvSpPr/>
          <p:nvPr/>
        </p:nvSpPr>
        <p:spPr>
          <a:xfrm>
            <a:off x="7653528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6’</a:t>
            </a:r>
            <a:endParaRPr lang="en-US" sz="1090" dirty="0"/>
          </a:p>
        </p:txBody>
      </p:sp>
      <p:sp>
        <p:nvSpPr>
          <p:cNvPr id="56" name="Shape 54"/>
          <p:cNvSpPr/>
          <p:nvPr/>
        </p:nvSpPr>
        <p:spPr>
          <a:xfrm>
            <a:off x="9784080" y="3474720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30384" y="359359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30384" y="36393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10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10369296" y="3630168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Quiz &amp; penutup</a:t>
            </a:r>
            <a:endParaRPr lang="en-US" sz="1240" dirty="0"/>
          </a:p>
        </p:txBody>
      </p:sp>
      <p:sp>
        <p:nvSpPr>
          <p:cNvPr id="60" name="Text 58"/>
          <p:cNvSpPr/>
          <p:nvPr/>
        </p:nvSpPr>
        <p:spPr>
          <a:xfrm>
            <a:off x="9985248" y="4005072"/>
            <a:ext cx="1563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Durasi 6’</a:t>
            </a:r>
            <a:endParaRPr lang="en-US" sz="1090" dirty="0"/>
          </a:p>
        </p:txBody>
      </p:sp>
      <p:sp>
        <p:nvSpPr>
          <p:cNvPr id="61" name="Text 59"/>
          <p:cNvSpPr/>
          <p:nvPr/>
        </p:nvSpPr>
        <p:spPr>
          <a:xfrm>
            <a:off x="731520" y="5349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2D57"/>
                </a:solidFill>
              </a:rPr>
              <a:t>Prinsip revisi: materi tabel dan validasi form dipindah ke pertemuan berikutnya agar pertemuan 1 tidak terlalu padat.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Capaian dan Indikator Keberhasilan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Mahasiswa tidak hanya tahu tag, tetapi mampu memilih struktur sesuai makna konten.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4800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194767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19933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316736" y="198424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Menjelaskan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32688" y="2359152"/>
            <a:ext cx="43982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fungsi HTML sebagai struktur konten web sebelum CSS dan JavaScript.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4800600" cy="841248"/>
          </a:xfrm>
          <a:prstGeom prst="roundRect">
            <a:avLst>
              <a:gd name="adj" fmla="val 13043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94767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9933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757416" y="198424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Membedakan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373368" y="2359152"/>
            <a:ext cx="43982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tag, elemen, atribut, konten, dan nesting.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731520" y="3035808"/>
            <a:ext cx="4800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3154680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2004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316736" y="319125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Menulis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932688" y="3566160"/>
            <a:ext cx="43982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struktur minimal dokumen HTML yang valid.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172200" y="3035808"/>
            <a:ext cx="4800600" cy="841248"/>
          </a:xfrm>
          <a:prstGeom prst="roundRect">
            <a:avLst>
              <a:gd name="adj" fmla="val 13043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18504" y="3154680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004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757416" y="319125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Memilih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6373368" y="3566160"/>
            <a:ext cx="43982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elemen semantik seperti header, nav, main, article, section, footer.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731520" y="4242816"/>
            <a:ext cx="4800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4361688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44074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5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316736" y="4398264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Mengecek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932688" y="4773168"/>
            <a:ext cx="43982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kesalahan dasar: tag penutup, heading, lang, dan alt.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Mengapa HTML Penting?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Browser boleh tetap menampilkan halaman yang salah, tetapi makna dokumen bisa rusak.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HTML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32688" y="2633472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Menentukan struktur dan makna: heading, paragraf, navigasi, artikel, form, dan gambar.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160520" y="210312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CSS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4361688" y="2633472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Mengatur warna, tipografi, spacing, layout, dan tampilan responsif.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589520" y="210312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A34A"/>
                </a:solidFill>
              </a:rPr>
              <a:t>JavaScript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790688" y="2633472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Menambah perilaku: event, DOM, validasi, fetch API, dan integrasi data.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1828800" y="4251960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0B2D5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4398264"/>
            <a:ext cx="7808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Fondasi yang keliru → styling sulit → interaksi sulit → evaluasi sulit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7’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Dari HTML ke DOM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HTML dibaca browser, kemudian dibentuk menjadi struktur pohon yang dapat dirender dan dimanipulasi.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05</a:t>
            </a:r>
            <a:endParaRPr lang="en-US" sz="850" dirty="0"/>
          </a:p>
        </p:txBody>
      </p:sp>
      <p:pic>
        <p:nvPicPr>
          <p:cNvPr id="11" name="Image 0" descr="/mnt/data/wide_clean_vector_style_infographic_scene_on_a_whi.png">    </p:cNvPr>
          <p:cNvPicPr>
            <a:picLocks noChangeAspect="1"/>
          </p:cNvPicPr>
          <p:nvPr/>
        </p:nvPicPr>
        <p:blipFill>
          <a:blip r:embed="rId1"/>
          <a:srcRect l="0" r="-1636571284" t="1828800000" b="-3657500000"/>
          <a:stretch/>
        </p:blipFill>
        <p:spPr>
          <a:xfrm>
            <a:off x="6583680" y="1901952"/>
            <a:ext cx="4434840" cy="2788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40280" y="3063240"/>
            <a:ext cx="91440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43400" y="3063240"/>
            <a:ext cx="914400" cy="0"/>
          </a:xfrm>
          <a:prstGeom prst="line">
            <a:avLst/>
          </a:prstGeom>
          <a:noFill/>
          <a:ln w="25400">
            <a:solidFill>
              <a:srgbClr val="F5822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5800" y="25146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26700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HTML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86968" y="3044952"/>
            <a:ext cx="12893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File teks berisi tag dan konten.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3246120" y="251460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47288" y="2670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DOM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3447288" y="3044952"/>
            <a:ext cx="832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Pohon objek dokumen.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5349240" y="251460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0408" y="2670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UI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5550408" y="3044952"/>
            <a:ext cx="832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Halaman terlihat.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868680" y="4251960"/>
            <a:ext cx="5029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</a:rPr>
              <a:t>Struktur HTML yang rapi membuat DOM mudah dipahami.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JavaScript pada pertemuan berikutnya bekerja melalui DOM.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8’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Anatomi Elemen HTML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Pahami perbedaan tag, elemen, atribut, dan konten sebelum menulis halaman utuh.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1056132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12264"/>
            <a:ext cx="102321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&lt;a href="https://ti.umy.ac.id" target="_blank"&gt;Website TI UMY&lt;/a&gt;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984" y="377647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8221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453896" y="38130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Tag pembuka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069848" y="4187952"/>
            <a:ext cx="21122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&lt;a&gt; menandai awal elemen.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3611880" y="36576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377647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38221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197096" y="38130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Atribut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813048" y="4187952"/>
            <a:ext cx="21122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href dan target memberi informasi tambahan.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6355080" y="36576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1384" y="377647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38221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940296" y="38130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Konten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6556248" y="4187952"/>
            <a:ext cx="21122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Teks yang dilihat dan diklik pengguna.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9098280" y="365760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ECFDF5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44584" y="377647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44584" y="38221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683496" y="3813048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A34A"/>
                </a:solidFill>
              </a:rPr>
              <a:t>Tag penutup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9299448" y="4187952"/>
            <a:ext cx="16550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&lt;/a&gt; menutup elemen.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8’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Struktur Minimal Dokumen HTML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Template dasar ini menjadi kerangka semua praktikum berikutnya.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192024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066544"/>
            <a:ext cx="4654296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&lt;!DOCTYPE html&gt;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&lt;html lang="id"&gt;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charset="UTF-8"&gt;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name="viewport" content="width=device-width, initial-scale=1.0"&gt;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&lt;title&gt;Portal Berita Kampus&lt;/title&gt;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&lt;/head&gt;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&lt;h1&gt;Portal Berita Kampus&lt;/h1&gt;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&lt;p&gt;Informasi terbaru seputar kegiatan kampus.&lt;/p&gt;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&lt;/html&gt;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263640" y="2029968"/>
            <a:ext cx="44805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185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Wajib Ada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464808" y="2560320"/>
            <a:ext cx="40782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DOCTYPE, html, head, title, dan body.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44805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Sangat Dianjurkan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464808" y="3776472"/>
            <a:ext cx="40782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lang, charset, dan viewport.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6263640" y="4462272"/>
            <a:ext cx="4480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Kesalahan Umum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464808" y="4992624"/>
            <a:ext cx="40782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Lupa tag penutup, head/body tertukar, title kosong, dan nesting tidak rapi.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6’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Head dan Body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Bedakan informasi halaman yang tidak tampil langsung dan konten yang dilihat pengguna.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057400"/>
            <a:ext cx="4206240" cy="2423160"/>
          </a:xfrm>
          <a:prstGeom prst="roundRect">
            <a:avLst>
              <a:gd name="adj" fmla="val 3019"/>
            </a:avLst>
          </a:prstGeom>
          <a:solidFill>
            <a:srgbClr val="11182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203704"/>
            <a:ext cx="387705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charset="UTF-8"&gt;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name="viewport" content="width=device-width, initial-scale=1.0"&gt;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&lt;title&gt;Portal Berita Kampus&lt;/title&gt;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&lt;/head&gt;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97880" y="2057400"/>
            <a:ext cx="420624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2203704"/>
            <a:ext cx="387705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&lt;header&gt;...&lt;/header&gt;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&lt;nav&gt;...&lt;/nav&gt;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&lt;main&gt;...&lt;/main&gt;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&lt;footer&gt;...&lt;/footer&gt;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864608"/>
            <a:ext cx="3886200" cy="713232"/>
          </a:xfrm>
          <a:prstGeom prst="roundRect">
            <a:avLst>
              <a:gd name="adj" fmla="val 1538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50200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Head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207008" y="5394960"/>
            <a:ext cx="348386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Untuk browser, tab, mesin pencari, dan perangkat.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6035040" y="4864608"/>
            <a:ext cx="3886200" cy="713232"/>
          </a:xfrm>
          <a:prstGeom prst="roundRect">
            <a:avLst>
              <a:gd name="adj" fmla="val 1538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50200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Body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236208" y="5394960"/>
            <a:ext cx="348386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Konten yang tampil dan dibaca pengguna.</a:t>
            </a: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6’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Nesting dan Indentasi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Tag yang dibuka terakhir harus ditutup terlebih dahulu.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09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052E16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295144"/>
            <a:ext cx="4471416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&lt;!-- Benar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&lt;li&gt;HTML Dasar&lt;/li&gt;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&lt;li&gt;CSS Dasar&lt;/li&gt;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450A0A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2295144"/>
            <a:ext cx="4471416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&lt;!-- Keliru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&lt;li&gt;HTML Dasar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&lt;li&gt;CSS Dasar&lt;/ul&gt;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&lt;/li&gt;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892040"/>
            <a:ext cx="97840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Indentasi membantu membaca hubungan parent–child.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Browser kadang memperbaiki kesalahan, tetapi developer tetap harus menulis struktur yang benar.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7’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HTML Semantik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Semantik berarti memilih elemen berdasarkan makna, bukan sekadar bentuk visual.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1F293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203704"/>
            <a:ext cx="437997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&lt;!-- Kurang semantik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class="judul"&gt;Berita Kampus&lt;/div&gt;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class="menu"&gt;Beranda | Berita | Kontak&lt;/div&gt;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205740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0B2D5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203704"/>
            <a:ext cx="437997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&lt;!-- Lebih semantik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&lt;header&gt;&lt;h1&gt;Berita Kampus&lt;/h1&gt;&lt;/header&gt;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&lt;nav&gt;...&lt;/nav&gt;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&lt;main&gt;...&lt;/main&gt;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2880360" cy="932688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6817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Untuk Manusia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115568" y="5056632"/>
            <a:ext cx="24780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Kode lebih mudah dibaca dan dirawat.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4434840" y="4526280"/>
            <a:ext cx="2880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46817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Untuk Browser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4636008" y="5056632"/>
            <a:ext cx="24780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Struktur halaman lebih jelas.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7955280" y="4526280"/>
            <a:ext cx="2880360" cy="932688"/>
          </a:xfrm>
          <a:prstGeom prst="roundRect">
            <a:avLst>
              <a:gd name="adj" fmla="val 1176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46817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Untuk Aksesibilitas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156448" y="5056632"/>
            <a:ext cx="24780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Pembaca layar lebih mudah menavigasi.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7’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Landmark Utama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Gunakan landmark untuk memberi peta struktur halaman kepada pengguna dan browser.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075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&lt;header&gt;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95528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Identitas halaman atau bagian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3429000" y="192024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075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&lt;nav&gt;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630168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Navigasi utama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2075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&lt;main&gt;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464808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Konten utama; idealnya satu per halaman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9098280" y="192024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2075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&lt;section&gt;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299448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Kelompok topik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594360" y="324612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&lt;article&gt;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795528" y="377647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Konten mandiri seperti berita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3429000" y="324612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&lt;aside&gt;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3630168" y="377647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Konten samping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6263640" y="3246120"/>
            <a:ext cx="2359152" cy="896112"/>
          </a:xfrm>
          <a:prstGeom prst="roundRect">
            <a:avLst>
              <a:gd name="adj" fmla="val 1224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&lt;footer&gt;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6464808" y="3776472"/>
            <a:ext cx="1956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Informasi penutup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86868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57"/>
                </a:solidFill>
              </a:rPr>
              <a:t>Pilih elemen dari makna konten, bukan dari bentuk visualnya.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6’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Heading dan Teks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Heading membentuk outline halaman, bukan sekadar ukuran huruf besar.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057400"/>
            <a:ext cx="4572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203704"/>
            <a:ext cx="4242816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&lt;h1&gt;Portal Berita Kampus&lt;/h1&gt;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&lt;h2&gt;Berita Terbaru&lt;/h2&gt;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&lt;h3&gt;Mahasiswa TI Raih Prestasi&lt;/h3&gt;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&lt;p&gt;Isi berita ditulis dalam paragraf...&lt;/p&gt;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205740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2212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Urutan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099048" y="2587752"/>
            <a:ext cx="412394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Mulai dari h1, lalu h2, lalu h3. Hindari melompat tanpa alasan.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5897880" y="329184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34472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Paragraf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099048" y="3822192"/>
            <a:ext cx="412394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Gunakan &lt;p&gt; untuk teks biasa, bukan heading untuk sekadar memperbesar teks.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5897880" y="452628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46817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Daftar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099048" y="5056632"/>
            <a:ext cx="412394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Gunakan ul, ol, dan li untuk kumpulan item atau langkah berurutan.</a:t>
            </a:r>
            <a:endParaRPr lang="en-US" sz="10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Tautan dan Gambar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Elemen link dan image harus jelas, bermakna, dan membantu aksesibilitas.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01168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157984"/>
            <a:ext cx="44256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&lt;a href="https://ti.umy.ac.id"&gt;Kunjungi TI UMY&lt;/a&gt;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&lt;img src="kampus.jpg"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alt="Gedung kampus UMY tampak depan"&gt;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4434840" cy="868680"/>
          </a:xfrm>
          <a:prstGeom prst="roundRect">
            <a:avLst>
              <a:gd name="adj" fmla="val 12632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1671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Teks Link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281928" y="2542032"/>
            <a:ext cx="4032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Gunakan teks spesifik, bukan hanya “klik di sini”.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080760" y="3127248"/>
            <a:ext cx="4434840" cy="868680"/>
          </a:xfrm>
          <a:prstGeom prst="roundRect">
            <a:avLst>
              <a:gd name="adj" fmla="val 12632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Alt Text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281928" y="3657600"/>
            <a:ext cx="4032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Jelaskan makna gambar secara ringkas. Jika dekoratif, alt boleh kosong.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6080760" y="4242816"/>
            <a:ext cx="4434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43982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Nama File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281928" y="4773168"/>
            <a:ext cx="4032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Gunakan nama kecil tanpa spasi: lab-web.jpg, bukan Foto Baru 1.JPG.</a:t>
            </a:r>
            <a:endParaRPr lang="en-US" sz="10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4’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Studi Kasus: Portal Berita Kampus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Satu konteks dipakai agar mahasiswa melihat hubungan struktur dokumen secara utuh.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212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Header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32688" y="2587752"/>
            <a:ext cx="2523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Judul halaman dan deskripsi singkat.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3977640" y="20574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2212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Navigasi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4178808" y="2587752"/>
            <a:ext cx="2523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Tautan ke bagian beranda, berita, dan tentang.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223760" y="20574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2212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Main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424928" y="2587752"/>
            <a:ext cx="2523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Artikel berita utama dan daftar berita.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2331720" y="39319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A34A"/>
                </a:solidFill>
              </a:rPr>
              <a:t>Article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2532888" y="4462272"/>
            <a:ext cx="2523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Berita yang bisa berdiri sendiri.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5577840" y="39319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Footer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5779008" y="4462272"/>
            <a:ext cx="2523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Hak cipta dan informasi kontak.</a:t>
            </a:r>
            <a:endParaRPr lang="en-US" sz="10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Demo 1: Buat Template Minimal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Dosen mengetik langsung atau membuka file contoh untuk menunjukkan alur dari nol.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1965960"/>
            <a:ext cx="4663440" cy="3246120"/>
          </a:xfrm>
          <a:prstGeom prst="roundRect">
            <a:avLst>
              <a:gd name="adj" fmla="val 2254"/>
            </a:avLst>
          </a:prstGeom>
          <a:solidFill>
            <a:srgbClr val="0B2D5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112264"/>
            <a:ext cx="4334256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Buat folder 01_html-dasar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Buat file index.html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Tulis DOCTYPE dan html lang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 Tambah head, charset, viewport, title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5. Tambah body dengan h1 dan paragraf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6. Buka file di browser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6080760" y="2331720"/>
            <a:ext cx="45262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60" dirty="0">
                <a:solidFill>
                  <a:srgbClr val="1F2937"/>
                </a:solidFill>
              </a:rPr>
              <a:t>Baca kode dari atas ke bawah.</a:t>
            </a:r>
            <a:endParaRPr lang="en-US" sz="1260" dirty="0"/>
          </a:p>
          <a:p>
            <a:r>
              <a:rPr lang="en-US" sz="1260" dirty="0">
                <a:solidFill>
                  <a:srgbClr val="1F2937"/>
                </a:solidFill>
              </a:rPr>
              <a:t>Jelaskan fungsi setiap baris.</a:t>
            </a:r>
            <a:endParaRPr lang="en-US" sz="1260" dirty="0"/>
          </a:p>
          <a:p>
            <a:r>
              <a:rPr lang="en-US" sz="1260" dirty="0">
                <a:solidFill>
                  <a:srgbClr val="1F2937"/>
                </a:solidFill>
              </a:rPr>
              <a:t>Jangan masuk ke CSS karena fokusnya struktur.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080760" y="4251960"/>
            <a:ext cx="4434840" cy="822960"/>
          </a:xfrm>
          <a:prstGeom prst="roundRect">
            <a:avLst>
              <a:gd name="adj" fmla="val 13333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44074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Output Demo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6281928" y="4782312"/>
            <a:ext cx="4032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Halaman sederhana muncul di browser dengan title dan h1 yang berbeda fungsi.</a:t>
            </a:r>
            <a:endParaRPr lang="en-US" sz="10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5’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Demo 2: Tambahkan Struktur Semantik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Struktur yang sama diubah menjadi halaman yang lebih bermakna.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920240"/>
            <a:ext cx="1060704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066544"/>
            <a:ext cx="10277856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&lt;header&gt;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&lt;h1&gt;Portal Berita Kampus&lt;/h1&gt;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&lt;p&gt;Informasi terbaru seputar kegiatan kampus.&lt;/p&gt;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&lt;/header&gt;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&lt;nav&gt;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&lt;a href="#beranda"&gt;Beranda&lt;/a&gt;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&lt;a href="#berita"&gt;Berita&lt;/a&gt;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&lt;/nav&gt;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&lt;article&gt;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&lt;h2&gt;Mahasiswa TI Mengikuti Praktikum Web&lt;/h2&gt;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&lt;p&gt;Praktikum dimulai dengan HTML dasar...&lt;/p&gt;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&lt;/article&gt;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&lt;/main&gt;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&lt;footer&gt;© 2026 TI UMY&lt;/footer&gt;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6’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Aktivitas Kelas 6 Menit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Mahasiswa mengecek struktur contoh dan memberi alasan pemilihan elemen.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1965960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208483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1305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499616" y="212140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Instruksi 1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1115568" y="2496312"/>
            <a:ext cx="4078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Tandai bagian header, nav, main, article, dan footer.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208483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1305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711696" y="212140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Instruksi 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327648" y="2496312"/>
            <a:ext cx="4078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Cari satu bagian yang masih bisa dibuat lebih semantik.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914400" y="3383280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3502152"/>
            <a:ext cx="310896" cy="310896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35478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499616" y="353872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Instruksi 3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115568" y="3913632"/>
            <a:ext cx="4078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Periksa apakah heading berurutan dan link memiliki teks yang jelas.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126480" y="3383280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3502152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5478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711696" y="353872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Instruksi 4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6327648" y="3913632"/>
            <a:ext cx="4078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Tulis satu perbaikan kecil pada struktur HTML.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96012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2D57"/>
                </a:solidFill>
              </a:rPr>
              <a:t>Bentuk kerja: berpasangan. Hasil cukup disampaikan lisan atau ditulis singkat di catatan.</a:t>
            </a:r>
            <a:endParaRPr lang="en-US" sz="13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4’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Checklist Validasi Cepat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Cek kualitas dokumen sebelum masuk ke praktikum 50 menit.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901952"/>
            <a:ext cx="201168" cy="201168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874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DOCTYPE, html lang, head, title, dan body lengkap.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22960" y="2377440"/>
            <a:ext cx="201168" cy="20116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35000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Nesting rapi dan tag yang dibuka sudah ditutup.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852928"/>
            <a:ext cx="201168" cy="201168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8254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Satu halaman memiliki satu main utama.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22960" y="3328416"/>
            <a:ext cx="201168" cy="20116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30098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Heading dimulai dari h1 dan berurutan logis.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22960" y="3803904"/>
            <a:ext cx="201168" cy="201168"/>
          </a:xfrm>
          <a:prstGeom prst="ellipse">
            <a:avLst/>
          </a:prstGeom>
          <a:solidFill>
            <a:srgbClr val="155DD1"/>
          </a:solidFill>
          <a:ln w="12700">
            <a:solidFill>
              <a:srgbClr val="155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7764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Gambar bermakna memiliki alt.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4279392"/>
            <a:ext cx="201168" cy="20116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42519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Teks link menjelaskan tujuan tautan.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005840" y="5074920"/>
            <a:ext cx="9784080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523036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A34A"/>
                </a:solidFill>
              </a:rPr>
              <a:t>Prinsip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207008" y="5605272"/>
            <a:ext cx="9381744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Valid, rapi, bermakna, dan mudah dibaca.</a:t>
            </a:r>
            <a:endParaRPr lang="en-US" sz="10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3’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DD1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Kuis Formatif Singkat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Gunakan untuk mengecek pemahaman sebelum praktik.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55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19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4709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9842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1. Benar/Salah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78408" y="2359152"/>
            <a:ext cx="4306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Semua elemen visual boleh memakai div karena hasilnya tetap tampil.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4709160" cy="749808"/>
          </a:xfrm>
          <a:prstGeom prst="roundRect">
            <a:avLst>
              <a:gd name="adj" fmla="val 14634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842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2. Benar/Salah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6373368" y="2359152"/>
            <a:ext cx="4306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title dan h1 memiliki fungsi yang sama.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77240" y="2907792"/>
            <a:ext cx="4709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0632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3. Benar/Salah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978408" y="3438144"/>
            <a:ext cx="4306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main sebaiknya hanya satu pada halaman utama.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72200" y="2907792"/>
            <a:ext cx="4709160" cy="749808"/>
          </a:xfrm>
          <a:prstGeom prst="roundRect">
            <a:avLst>
              <a:gd name="adj" fmla="val 14634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0632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4. Benar/Salah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6373368" y="3438144"/>
            <a:ext cx="4306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article cocok untuk konten berita yang berdiri sendiri.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777240" y="3986784"/>
            <a:ext cx="4709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1422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55DD1"/>
                </a:solidFill>
              </a:rPr>
              <a:t>5. Benar/Salah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978408" y="4517136"/>
            <a:ext cx="4306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alt pada gambar membantu aksesibilitas.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960120" y="5376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D57"/>
                </a:solidFill>
              </a:rPr>
              <a:t>Kunci: S, S, B, B, B. Tampilkan setelah mahasiswa menjawab.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1089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4E7"/>
          </a:solidFill>
          <a:ln w="10160">
            <a:solidFill>
              <a:srgbClr val="FFC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98480" y="38404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8220"/>
                </a:solidFill>
              </a:rPr>
              <a:t>3’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PERTEMUAN 1 • 100 MENIT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D57"/>
                </a:solidFill>
              </a:rPr>
              <a:t>Penutup dan Transisi Praktikum 50 Menit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Mahasiswa siap membuat halaman sederhana dengan struktur HTML yang benar dan semantik.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7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D57"/>
                </a:solidFill>
              </a:rPr>
              <a:t>20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EEF6FF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2D57"/>
                </a:solidFill>
              </a:rPr>
              <a:t>Ringkasan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1024128" y="2587752"/>
            <a:ext cx="27066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HTML adalah struktur dan makna konten halaman web.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343400" y="20574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FFF4E7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8220"/>
                </a:solidFill>
              </a:rPr>
              <a:t>Tugas Praktik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4544568" y="2587752"/>
            <a:ext cx="27066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Buat halaman Portal Berita Kampus menggunakan landmark semantik.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863840" y="20574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ECFDF5"/>
          </a:solidFill>
          <a:ln w="13335">
            <a:solidFill>
              <a:srgbClr val="D8E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A34A"/>
                </a:solidFill>
              </a:rPr>
              <a:t>Refleksi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8065008" y="2587752"/>
            <a:ext cx="27066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Elemen semantik apa yang paling membantu pembaca memahami halaman?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2011680" y="397764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0B2D57"/>
          </a:solidFill>
          <a:ln w="12700">
            <a:solidFill>
              <a:srgbClr val="2634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4123944"/>
            <a:ext cx="78089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Praktikum berikutnya: folder 01_html-dasar → index.html → browser → cek struktur → kumpulkan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HTML Dasar Revisi</dc:title>
  <dc:subject>TI401 Pertemuan 1 Revisi</dc:subject>
  <dc:creator>TI UMY</dc:creator>
  <cp:lastModifiedBy>TI UMY</cp:lastModifiedBy>
  <cp:revision>1</cp:revision>
  <dcterms:created xsi:type="dcterms:W3CDTF">2026-07-21T15:29:46Z</dcterms:created>
  <dcterms:modified xsi:type="dcterms:W3CDTF">2026-07-21T15:29:46Z</dcterms:modified>
</cp:coreProperties>
</file>