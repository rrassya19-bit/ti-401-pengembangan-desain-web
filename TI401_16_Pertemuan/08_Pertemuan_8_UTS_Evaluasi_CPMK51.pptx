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PERTEMUAN 8 • UTS • Evaluasi CPMK51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13232"/>
            <a:ext cx="5897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3A63"/>
                </a:solidFill>
              </a:rPr>
              <a:t>Ujian Tengah Semester: Evaluasi CPMK51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47472" y="1938528"/>
            <a:ext cx="5760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Mahasiswa menunjukkan kemampuan merancang solusi web berbasis kebutuhan melalui HTML, Form, CSS, Layout, dan Bootstrap.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347472" y="2523744"/>
            <a:ext cx="2148840" cy="384048"/>
          </a:xfrm>
          <a:prstGeom prst="roundRect">
            <a:avLst>
              <a:gd name="adj" fmla="val 16667"/>
            </a:avLst>
          </a:prstGeom>
          <a:solidFill>
            <a:srgbClr val="FFF1E5"/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197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Durasi 100 menit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51760" y="2523744"/>
            <a:ext cx="310896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1269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61975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69D3"/>
                </a:solidFill>
              </a:rPr>
              <a:t>Output: halaman web statis responsif</a:t>
            </a:r>
            <a:endParaRPr lang="en-US" sz="850" dirty="0"/>
          </a:p>
        </p:txBody>
      </p:sp>
      <p:pic>
        <p:nvPicPr>
          <p:cNvPr id="15" name="Image 0" descr="/mnt/data/a_clean_flat_vector_illustration_infographic_sty_batch_1.png">    </p:cNvPr>
          <p:cNvPicPr>
            <a:picLocks noChangeAspect="1"/>
          </p:cNvPicPr>
          <p:nvPr/>
        </p:nvPicPr>
        <p:blipFill>
          <a:blip r:embed="rId1"/>
          <a:srcRect l="38000" r="-7020" t="0" b="0"/>
          <a:stretch/>
        </p:blipFill>
        <p:spPr>
          <a:xfrm>
            <a:off x="6693408" y="713232"/>
            <a:ext cx="5102352" cy="4160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29400" y="4983480"/>
            <a:ext cx="4709160" cy="749808"/>
          </a:xfrm>
          <a:prstGeom prst="roundRect">
            <a:avLst>
              <a:gd name="adj" fmla="val 6098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93992" y="5148072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&lt;nav&gt; 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&lt;article&gt; &lt;form&gt;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POSISI UTS DALAM ALUR PEMBELAJARAN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70408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Apa yang Diukur pada UTS?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UTS bukan sekadar mengingat tag, tetapi membuktikan kemampuan menyusun halaman web yang bermakna, rapi, dan mudah digunakan.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0160">
            <a:solidFill>
              <a:srgbClr val="B6D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Cakupan materi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862072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HTML dasar dan struktur dokumen.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HTML form dan atribut input.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CSS dasar: warna, font, selector, box model.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CSS layout: Flexbox dan Grid.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Bootstrap dasar dan layout responsif.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14884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1E5"/>
          </a:solidFill>
          <a:ln w="10160">
            <a:solidFill>
              <a:srgbClr val="F7C0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Kompetensi yang dibuktikan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862072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Mampu mengubah kebutuhan sederhana menjadi struktur halaman.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Mampu memilih elemen HTML semantik dengan tepat.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Mampu membuat tampilan konsisten dan responsif.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Mampu menyusun file kerja yang rapi dan mudah diperiksa.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CPMK51 / Sub-CPMK51.1–51.5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Peta Sub-CPMK yang Dievaluasi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89888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Setiap bagian tugas UTS diarahkan untuk menguji satu atau lebih capaian pembelajaran pada tahap desain web.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66928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46888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328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" y="2468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51.1 — Struktur 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29169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Dokumen semantik dan valid.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07408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246888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5328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74336" y="2468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51.2 — HTML Form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0" y="2926080"/>
            <a:ext cx="29169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Input sesuai kebutuhan dan mudah digunakan.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47888" y="233172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5048" y="246888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25328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14816" y="2468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51.3 — CSS Dasar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12480" y="2926080"/>
            <a:ext cx="29169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Tampilan konsisten, terbaca, dan rapi.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66928" y="36576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79476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8587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3856" y="3794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51.4 — Layout CSS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4251960"/>
            <a:ext cx="29169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Flexbox/Grid untuk susunan konten.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407408" y="36576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44568" y="379476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8587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74336" y="379476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51.5 — Bootstrap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0" y="4251960"/>
            <a:ext cx="29169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Grid/layout responsif dan komponen dasar.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ALUR WAKTU UTS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Alokasi 100 Menit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53312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Gunakan waktu secara disiplin: pahami brief, bangun struktur, tata tampilan, uji, lalu kumpulkan.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66928" y="2148840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10’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3856" y="2286000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Baca brief &amp; siapkan folder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Pahami kebutuhan, output, dan nama file.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389120" y="2148840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22860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15’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56048" y="2286000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Rancang struktur konten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53712" y="2743200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Tentukan header, nav, main, section, form, footer.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11312" y="2148840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8472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8472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30’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78240" y="2286000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Implementasi HTML &amp; form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75904" y="2743200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Tulis struktur dokumen dan elemen form.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66928" y="3593592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3730752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37947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25’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3856" y="3730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Styling CSS/layout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4187952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Atur warna, typography, box model, flex/grid.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389120" y="3593592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3730752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7947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10’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3730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Responsif &amp; Bootstrap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53712" y="4187952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Pastikan tampilan mobile/desktop terbaca.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211312" y="3593592"/>
            <a:ext cx="32735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48472" y="3730752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48472" y="3794760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10’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778240" y="3730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Validasi &amp; pengumpulan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375904" y="4187952"/>
            <a:ext cx="2944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Cek file, screenshot, repository/link.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ATURAN PELAKSANAAN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Aturan UTS Praktik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Tujuan ujian adalah menilai kemampuan individu dalam menyusun halaman web berdasarkan kebutuhan yang diberikan.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0160">
            <a:solidFill>
              <a:srgbClr val="B6D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Boleh dilakukan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Membuka dokumentasi HTML/CSS/Bootstrap.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Menggunakan editor kode dan browser DevTools.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Mengecek validasi HTML/CSS.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Menggunakan referensi sintaks yang pernah dipelajari.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1E5"/>
          </a:solidFill>
          <a:ln w="10160">
            <a:solidFill>
              <a:srgbClr val="F7C0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Tidak boleh dilakukan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Menyalin pekerjaan teman.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Mengunggah hasil yang bukan karya sendiri.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Menghapus identitas file atau mengubah instruksi inti.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Menggunakan template jadi tanpa modifikasi yang sesuai brief.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OUTPUT AKHIR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Apa yang Harus Dikumpulkan?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Setiap mahasiswa mengumpulkan satu halaman web statis lengkap, disertai struktur file yang mudah diperiksa.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61288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index.html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274320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Struktur dokumen utama: head, body, header, nav, main, section, form, footer.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370832" y="21488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7992" y="22860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style.css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74320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Aturan visual: typography, warna, spacing, box model, dan layout.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228600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05088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assets/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02752" y="274320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Opsional: gambar pendukung dengan penamaan yang rapi dan ukuran wajar.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94360" y="3886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23360"/>
            <a:ext cx="310896" cy="310896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873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61288" y="40233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README.md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8056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Ringkasan proyek, cara membuka, dan identitas mahasiswa.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370832" y="3886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07992" y="402336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40873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40233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Link GitHub/Moodle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35424" y="448056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Tautan repository atau file sesuai instruksi pengumpulan.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138160" y="3886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402336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40873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705088" y="402336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Screenshot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302752" y="4480560"/>
            <a:ext cx="3145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Bukti tampilan desktop atau mobile setelah diuji.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STUDI KASUS UTS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3A63"/>
                </a:solidFill>
              </a:rPr>
              <a:t>Brief Proyek: Halaman Informasi Kampus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" y="132588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Bangun halaman web statis yang menyajikan informasi suatu kegiatan, layanan, atau profil unit secara jelas dan responsif.</a:t>
            </a:r>
            <a:endParaRPr lang="en-US" sz="1420" dirty="0"/>
          </a:p>
        </p:txBody>
      </p:sp>
      <p:pic>
        <p:nvPicPr>
          <p:cNvPr id="11" name="Image 0" descr="/mnt/data/wide_clean_infographic_illustration_on_a_white_bac_batch_2.png">    </p:cNvPr>
          <p:cNvPicPr>
            <a:picLocks noChangeAspect="1"/>
          </p:cNvPicPr>
          <p:nvPr/>
        </p:nvPicPr>
        <p:blipFill>
          <a:blip r:embed="rId1"/>
          <a:srcRect l="0" r="1294" t="0" b="0"/>
          <a:stretch/>
        </p:blipFill>
        <p:spPr>
          <a:xfrm>
            <a:off x="6446520" y="1828800"/>
            <a:ext cx="5212080" cy="2971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148840"/>
            <a:ext cx="53949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4B5563"/>
                </a:solidFill>
              </a:rPr>
              <a:t>Tema dapat berupa: seminar, laboratorium, UKM, layanan akademik, atau berita kampus.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Halaman wajib memiliki navigasi, hero section, informasi utama, form pendaftaran/kontak, dan footer.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Konten harus tertata, mudah dibaca, dan memakai elemen semantik yang sesuai.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4956048"/>
            <a:ext cx="3474720" cy="384048"/>
          </a:xfrm>
          <a:prstGeom prst="roundRect">
            <a:avLst>
              <a:gd name="adj" fmla="val 16667"/>
            </a:avLst>
          </a:prstGeom>
          <a:solidFill>
            <a:srgbClr val="FFF1E5"/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505206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Fokus: struktur + desain + responsivitas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KOMPONEN HALAMAN WAJIB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Bagian Halaman yang Dinilai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Gunakan elemen sesuai fungsi. Tampilan indah tidak cukup jika struktur dokumen tidak bermakna.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9456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585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61288" y="2194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&lt;header&gt;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265176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Identitas halaman dan judul utama.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429000" y="205740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19456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2585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95928" y="2194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&lt;nav&gt;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93592" y="265176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Menu menuju bagian penting.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263640" y="205740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19456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2585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30568" y="2194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&lt;main&gt;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28232" y="265176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Konten utama halaman.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098280" y="205740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219456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2585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665208" y="2194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&lt;section&gt;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62872" y="265176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Pengelompokan topik.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594360" y="338328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352044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5844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61288" y="35204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&lt;article&gt;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8952" y="397764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Konten mandiri seperti berita/kartu.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429000" y="338328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352044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5844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95928" y="35204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&lt;form&gt;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593592" y="397764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Input pengguna.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6263640" y="3383280"/>
            <a:ext cx="23317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352044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5844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30568" y="35204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&lt;footer&gt;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28232" y="3977640"/>
            <a:ext cx="20025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Informasi penutup dan kontak.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8915400" y="4434840"/>
            <a:ext cx="2514600" cy="1389888"/>
          </a:xfrm>
          <a:prstGeom prst="roundRect">
            <a:avLst>
              <a:gd name="adj" fmla="val 3289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79992" y="459943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&lt;header&gt;...&lt;/header&gt;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&lt;nav&gt;...&lt;/nav&gt;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&lt;main&gt;... &lt;/main&gt;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&lt;footer&gt;...&lt;/footer&gt;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STRUKTUR FILE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Susunan Folder yang Disarankan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Struktur file yang rapi membantu proses pemeriksaan dan menunjukkan kebiasaan kerja profesional.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8368" y="2148840"/>
            <a:ext cx="4434840" cy="251460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13432"/>
            <a:ext cx="41056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uts-ti401-nama-nim/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style.css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assets/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hero.jpg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icon.png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148840"/>
            <a:ext cx="598932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4B5563"/>
                </a:solidFill>
              </a:rPr>
              <a:t>Gunakan nama folder dan file tanpa spasi berlebihan.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Pisahkan HTML, CSS, dan aset agar mudah dipelihara.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Pastikan link CSS benar: &lt;link rel="stylesheet" href="style.css"&gt;.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Cek kembali huruf besar/kecil pada nama file.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4983480"/>
            <a:ext cx="365760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126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50794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69D3"/>
                </a:solidFill>
              </a:rPr>
              <a:t>Prinsip: rapi, konsisten, mudah dibuka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CHECKLIST HTML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Checklist Struktur HTML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Sebelum lanjut ke CSS, pastikan struktur HTML sudah benar, lengkap, dan bermakna.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0160">
            <a:solidFill>
              <a:srgbClr val="B6D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Wajib 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&lt;!DOCTYPE html&gt; dan atribut lang="id".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meta charset dan viewport.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title yang sesuai tema.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elemen semantik: header, nav, main, section, footer.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heading berurutan dan teks mudah dipahami.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1E5"/>
          </a:solidFill>
          <a:ln w="10160">
            <a:solidFill>
              <a:srgbClr val="F7C0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Cek kualitas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Tidak semua konten dibungkus div tanpa alasan.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Alt text pada gambar penting.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Menu navigasi mengarah ke id section.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Tidak ada tag yang lupa ditutup.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Indentasi konsisten.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CHECKLIST HTML FORM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Checklist Form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Form dinilai dari struktur, kemudahan penggunaan, dan keterhubungan label dengan input.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8368" y="2057400"/>
            <a:ext cx="4983480" cy="3154680"/>
          </a:xfrm>
          <a:prstGeom prst="roundRect">
            <a:avLst>
              <a:gd name="adj" fmla="val 1449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21992"/>
            <a:ext cx="4654296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for="nama"&gt;Nama&lt;/label&gt;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id="nama" name="nama" type="text" required&gt;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for="email"&gt;Email&lt;/label&gt;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id="email" name="email" type="email" required&gt;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type="submit"&gt;Kirim&lt;/button&gt;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40"/>
            <a:ext cx="53949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4B5563"/>
                </a:solidFill>
              </a:rPr>
              <a:t>Setiap input memiliki label yang jelas.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Gunakan type sesuai data: text, email, tel, date, radio, checkbox.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Gunakan required, placeholder, minlength, atau pattern bila relevan.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Tombol submit jelas dan mudah ditemukan.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Form terlihat rapi di layar kecil.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CHECKLIST CSS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Checklist CSS Dasar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CSS digunakan untuk memperjelas informasi, bukan sekadar memperbanyak warna.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07008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Typography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27432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Ukuran font, line-height, dan kontras teks terbaca.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370832" y="21488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7992" y="22860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Warna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35424" y="27432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Palet konsisten dan tidak mengganggu fokus informasi.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101584" y="21488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38744" y="228600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38744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668512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Spacing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66176" y="27432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Margin dan padding membuat konten bernapas.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886200"/>
            <a:ext cx="310896" cy="310896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9502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07008" y="3886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Box Model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" y="43434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Lebar, border, padding, dan margin dipakai dengan tepat.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370832" y="37490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07992" y="38862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39502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3886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Selector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35424" y="43434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Class digunakan untuk styling berulang; ID untuk target unik.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101584" y="374904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38744" y="38862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8744" y="39502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668512" y="3886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Konsistensi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266176" y="4343400"/>
            <a:ext cx="31455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Komponen serupa memiliki gaya yang seragam.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CHECKLIST LAYOUT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3A63"/>
                </a:solidFill>
              </a:rPr>
              <a:t>Flexbox, Grid, dan Responsivitas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Layout yang baik membantu pengguna memahami hubungan antarbagian konten.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0160">
            <a:solidFill>
              <a:srgbClr val="B6D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Gunakan Flexbox untuk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Menyusun item dalam satu arah: baris atau kolom.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Menu navigasi, tombol, kartu sederhana.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Alignment: justify-content dan align-items.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Distribusi ruang antar elemen.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1E5"/>
          </a:solidFill>
          <a:ln w="10160">
            <a:solidFill>
              <a:srgbClr val="F7C0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Gunakan Grid untuk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Layout dua dimensi: baris dan kolom.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Galeri kartu, daftar layanan, atau struktur halaman.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Mengatur gap secara konsisten.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Membuat layout desktop yang lebih terkontrol.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CHECKLIST BOOTSTRAP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Bootstrap: Gunakan Secukupnya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Bootstrap membantu mempercepat layout, tetapi struktur dan kerapian tetap menjadi tanggung jawab pembuat halaman.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240280"/>
            <a:ext cx="310896" cy="310896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042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61288" y="22402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Container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269748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Gunakan .container atau .container-fluid untuk batas layout.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611880" y="2103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24028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3042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78808" y="22402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Grid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76472" y="269748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Gunakan .row dan .col-* secara benar.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224028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3042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96328" y="22402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Utility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93992" y="2697480"/>
            <a:ext cx="24140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Spacing, text, display, dan color utility secukupnya.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46920" y="21031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224028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230428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13848" y="224028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Responsive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811512" y="2697480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Uji di mobile dan desktop.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3017520" y="3977640"/>
            <a:ext cx="6217920" cy="141732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4142232"/>
            <a:ext cx="588873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class="row g-3"&gt;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class="col-md-6"&gt;...&lt;/div&gt;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class="col-md-6"&gt;...&lt;/div&gt;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STRATEGI PENGERJAAN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Urutan Kerja yang Aman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Jangan langsung mempercantik tampilan. Mulai dari struktur, lalu desain, lalu uji.</a:t>
            </a:r>
            <a:endParaRPr lang="en-US" sz="1420" dirty="0"/>
          </a:p>
        </p:txBody>
      </p:sp>
      <p:pic>
        <p:nvPicPr>
          <p:cNvPr id="11" name="Image 0" descr="/mnt/data/wide_clean_infographic_illustration_on_a_white_bac_batch_2.png">    </p:cNvPr>
          <p:cNvPicPr>
            <a:picLocks noChangeAspect="1"/>
          </p:cNvPicPr>
          <p:nvPr/>
        </p:nvPicPr>
        <p:blipFill>
          <a:blip r:embed="rId1"/>
          <a:srcRect l="0" r="-103598" t="12000" b="12000"/>
          <a:stretch/>
        </p:blipFill>
        <p:spPr>
          <a:xfrm>
            <a:off x="640080" y="2103120"/>
            <a:ext cx="10881360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709160"/>
            <a:ext cx="10332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4B5563"/>
                </a:solidFill>
              </a:rPr>
              <a:t>Baca instruksi dan tandai komponen wajib.</a:t>
            </a:r>
            <a:endParaRPr lang="en-US" sz="1250" dirty="0"/>
          </a:p>
          <a:p>
            <a:r>
              <a:rPr lang="en-US" sz="1250" dirty="0">
                <a:solidFill>
                  <a:srgbClr val="4B5563"/>
                </a:solidFill>
              </a:rPr>
              <a:t>Tulis HTML lengkap terlebih dahulu.</a:t>
            </a:r>
            <a:endParaRPr lang="en-US" sz="1250" dirty="0"/>
          </a:p>
          <a:p>
            <a:r>
              <a:rPr lang="en-US" sz="1250" dirty="0">
                <a:solidFill>
                  <a:srgbClr val="4B5563"/>
                </a:solidFill>
              </a:rPr>
              <a:t>Tambahkan CSS dasar untuk warna, font, dan spacing.</a:t>
            </a:r>
            <a:endParaRPr lang="en-US" sz="1250" dirty="0"/>
          </a:p>
          <a:p>
            <a:r>
              <a:rPr lang="en-US" sz="1250" dirty="0">
                <a:solidFill>
                  <a:srgbClr val="4B5563"/>
                </a:solidFill>
              </a:rPr>
              <a:t>Susun layout dengan Flexbox/Grid/Bootstrap.</a:t>
            </a:r>
            <a:endParaRPr lang="en-US" sz="1250" dirty="0"/>
          </a:p>
          <a:p>
            <a:r>
              <a:rPr lang="en-US" sz="1250" dirty="0">
                <a:solidFill>
                  <a:srgbClr val="4B5563"/>
                </a:solidFill>
              </a:rPr>
              <a:t>Uji validasi, responsivitas, dan link file sebelum submit.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RUBRIK PENILAIAN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Rubrik UTS CPMK51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Penilaian berorientasi pada kualitas struktur, desain, responsivitas, dan kerapian kerja.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25%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61288" y="2286000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Struktur HTML semantik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2743200"/>
            <a:ext cx="2980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Dokumen valid, heading tepat, elemen semantik benar.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16552" y="214884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228600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HTML Form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81144" y="2743200"/>
            <a:ext cx="2980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Label, input, atribut, dan usability form sesuai kebutuhan.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38744" y="214884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75904" y="228600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235000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05672" y="2286000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CSS dasar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03336" y="2743200"/>
            <a:ext cx="2980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Warna, typography, spacing, box model, dan konsistensi.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94360" y="356616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703320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76732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61288" y="3703320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Layout responsif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160520"/>
            <a:ext cx="2980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Flex/Grid/Bootstrap bekerja di layar berbeda.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416552" y="3566160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3712" y="3703320"/>
            <a:ext cx="310896" cy="310896"/>
          </a:xfrm>
          <a:prstGeom prst="ellipse">
            <a:avLst/>
          </a:prstGeom>
          <a:solidFill>
            <a:srgbClr val="1269D3"/>
          </a:solidFill>
          <a:ln w="12700">
            <a:solidFill>
              <a:srgbClr val="1269D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376732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83480" y="3703320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Kerapian &amp; pengumpulan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81144" y="4160520"/>
            <a:ext cx="29809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Struktur folder, komentar, README, link/screenshot lengkap.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KESALAHAN UMUM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3A63"/>
                </a:solidFill>
              </a:rPr>
              <a:t>Kesalahan yang Sering Mengurangi Nilai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Gunakan daftar ini sebagai kontrol kualitas sebelum menekan tombol kumpulkan.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0160">
            <a:solidFill>
              <a:srgbClr val="B6D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Masalah struktur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Tidak memakai tag semantik.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Heading meloncat dari h1 ke h4 tanpa alasan.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Label form tidak terhubung ke input.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File CSS tidak terpanggil karena path salah.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Nama file memakai spasi atau huruf besar/kecil tidak konsisten.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2084832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1E5"/>
          </a:solidFill>
          <a:ln w="10160">
            <a:solidFill>
              <a:srgbClr val="F7C0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A63"/>
                </a:solidFill>
              </a:rPr>
              <a:t>Masalah tampilan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98064"/>
            <a:ext cx="46634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4B5563"/>
                </a:solidFill>
              </a:rPr>
              <a:t>Kontras warna rendah.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Konten terlalu rapat atau terlalu melebar.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Layout pecah di layar kecil.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Terlalu banyak font/warna berbeda.</a:t>
            </a:r>
            <a:endParaRPr lang="en-US" sz="1200" dirty="0"/>
          </a:p>
          <a:p>
            <a:r>
              <a:rPr lang="en-US" sz="1200" dirty="0">
                <a:solidFill>
                  <a:srgbClr val="4B5563"/>
                </a:solidFill>
              </a:rPr>
              <a:t>Tombol atau form sulit ditemukan.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VALIDASI &amp; TESTING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Cek Sebelum Submit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Testing singkat menghindari kesalahan kecil yang sebenarnya mudah diperbaiki.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4884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128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52728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Buka index.html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" y="2606040"/>
            <a:ext cx="3236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Pastikan halaman muncul tanpa error dan CSS terbaca.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26280" y="201168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14884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2128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93208" y="21488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Cek responsif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90872" y="2606040"/>
            <a:ext cx="3236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Gunakan DevTools untuk mobile, tablet, dan desktop.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366760" y="2011680"/>
            <a:ext cx="3108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14884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21284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933688" y="214884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Validasi HTML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31352" y="2606040"/>
            <a:ext cx="27797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Cek struktur dan tag yang belum ditutup.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85800" y="365760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7947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587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52728" y="379476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Uji form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0392" y="4251960"/>
            <a:ext cx="3236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Tab antar input, label, required, dan tombol submit.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4526280" y="3657600"/>
            <a:ext cx="3566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7947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8587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93208" y="379476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Cek link internal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90872" y="4251960"/>
            <a:ext cx="3236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Menu nav harus menuju section yang sesuai.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8366760" y="3657600"/>
            <a:ext cx="3108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9D7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3794760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3858768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933688" y="37947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3A63"/>
                </a:solidFill>
              </a:rPr>
              <a:t>Cek submit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31352" y="4251960"/>
            <a:ext cx="27797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B5563"/>
                </a:solidFill>
              </a:rPr>
              <a:t>Pastikan file/link yang dikumpulkan lengkap.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PENGUMPULAN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Format Pengumpulan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10698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Gunakan format yang konsisten agar dosen dapat memeriksa halaman, kode, dan bukti tampilan dengan cepat.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8368" y="2057400"/>
            <a:ext cx="5120640" cy="3063240"/>
          </a:xfrm>
          <a:prstGeom prst="roundRect">
            <a:avLst>
              <a:gd name="adj" fmla="val 1493"/>
            </a:avLst>
          </a:prstGeom>
          <a:solidFill>
            <a:srgbClr val="0B122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21992"/>
            <a:ext cx="479145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folder: UTS_TI401_Nama_NIM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 minimal: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style.css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README.md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assets/ (jika ada)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Pengumpulan: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Link GitHub repository atau ZIP sesuai instruksi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Screenshot tampilan halaman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52578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4B5563"/>
                </a:solidFill>
              </a:rPr>
              <a:t>Pastikan repository bersifat public jika menggunakan GitHub.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Jangan mengumpulkan file kosong atau hanya screenshot.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Jangan mengunggah folder node_modules atau file tidak relevan.</a:t>
            </a:r>
            <a:endParaRPr lang="en-US" sz="1400" dirty="0"/>
          </a:p>
          <a:p>
            <a:r>
              <a:rPr lang="en-US" sz="1400" dirty="0">
                <a:solidFill>
                  <a:srgbClr val="4B5563"/>
                </a:solidFill>
              </a:rPr>
              <a:t>Tuliskan identitas pada README, bukan di semua baris kode.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5074920"/>
            <a:ext cx="2743200" cy="384048"/>
          </a:xfrm>
          <a:prstGeom prst="roundRect">
            <a:avLst>
              <a:gd name="adj" fmla="val 16667"/>
            </a:avLst>
          </a:prstGeom>
          <a:solidFill>
            <a:srgbClr val="FFF1E5"/>
          </a:solidFill>
          <a:ln w="1016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51709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Satu mahasiswa = satu karya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25603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69D3"/>
                </a:solidFill>
              </a:rPr>
              <a:t>MULAI UTS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13816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246888"/>
            <a:ext cx="201168" cy="20116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0" y="246888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685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3A63"/>
                </a:solidFill>
              </a:rPr>
              <a:t>Checklist Akhir Sebelum Mulai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5760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4B5563"/>
                </a:solidFill>
              </a:rPr>
              <a:t>Siapkan editor, browser, folder kerja, dan baca brief dengan teliti sebelum menulis kode.</a:t>
            </a:r>
            <a:endParaRPr lang="en-US" sz="1420" dirty="0"/>
          </a:p>
        </p:txBody>
      </p:sp>
      <p:pic>
        <p:nvPicPr>
          <p:cNvPr id="11" name="Image 0" descr="/mnt/data/wide_clean_vector_illustration_style_scene_of_a_m_batch_3.png">    </p:cNvPr>
          <p:cNvPicPr>
            <a:picLocks noChangeAspect="1"/>
          </p:cNvPicPr>
          <p:nvPr/>
        </p:nvPicPr>
        <p:blipFill>
          <a:blip r:embed="rId1"/>
          <a:srcRect l="10000" r="17061" t="5000" b="5000"/>
          <a:stretch/>
        </p:blipFill>
        <p:spPr>
          <a:xfrm>
            <a:off x="6537960" y="1143000"/>
            <a:ext cx="4937760" cy="3429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331720"/>
            <a:ext cx="54406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4B5563"/>
                </a:solidFill>
              </a:rPr>
              <a:t>Buat folder kerja dan file awal.</a:t>
            </a:r>
            <a:endParaRPr lang="en-US" sz="1500" dirty="0"/>
          </a:p>
          <a:p>
            <a:r>
              <a:rPr lang="en-US" sz="1500" dirty="0">
                <a:solidFill>
                  <a:srgbClr val="4B5563"/>
                </a:solidFill>
              </a:rPr>
              <a:t>Tulis struktur HTML lengkap.</a:t>
            </a:r>
            <a:endParaRPr lang="en-US" sz="1500" dirty="0"/>
          </a:p>
          <a:p>
            <a:r>
              <a:rPr lang="en-US" sz="1500" dirty="0">
                <a:solidFill>
                  <a:srgbClr val="4B5563"/>
                </a:solidFill>
              </a:rPr>
              <a:t>Tambahkan form sesuai kebutuhan.</a:t>
            </a:r>
            <a:endParaRPr lang="en-US" sz="1500" dirty="0"/>
          </a:p>
          <a:p>
            <a:r>
              <a:rPr lang="en-US" sz="1500" dirty="0">
                <a:solidFill>
                  <a:srgbClr val="4B5563"/>
                </a:solidFill>
              </a:rPr>
              <a:t>Rapikan tampilan dengan CSS dan layout.</a:t>
            </a:r>
            <a:endParaRPr lang="en-US" sz="1500" dirty="0"/>
          </a:p>
          <a:p>
            <a:r>
              <a:rPr lang="en-US" sz="1500" dirty="0">
                <a:solidFill>
                  <a:srgbClr val="4B5563"/>
                </a:solidFill>
              </a:rPr>
              <a:t>Uji responsive, validasi, lalu kumpulkan.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516636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0160">
            <a:solidFill>
              <a:srgbClr val="1269D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26237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69D3"/>
                </a:solidFill>
              </a:rPr>
              <a:t>Selamat mengerjakan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6473952"/>
            <a:ext cx="11567160" cy="0"/>
          </a:xfrm>
          <a:prstGeom prst="line">
            <a:avLst/>
          </a:prstGeom>
          <a:noFill/>
          <a:ln w="7620">
            <a:solidFill>
              <a:srgbClr val="D7E2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TI401 • Pengembangan Desain Web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475720" y="65288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0315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03A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8 — UTS Evaluasi CPMK51</dc:title>
  <dc:subject>TI401 Pertemuan 8 UTS</dc:subject>
  <dc:creator>TI UMY</dc:creator>
  <cp:lastModifiedBy>TI UMY</cp:lastModifiedBy>
  <cp:revision>1</cp:revision>
  <dcterms:created xsi:type="dcterms:W3CDTF">2026-07-19T21:34:07Z</dcterms:created>
  <dcterms:modified xsi:type="dcterms:W3CDTF">2026-07-19T21:34:07Z</dcterms:modified>
</cp:coreProperties>
</file>