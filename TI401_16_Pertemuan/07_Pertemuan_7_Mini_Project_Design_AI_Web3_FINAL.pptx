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pic>
        <p:nvPicPr>
          <p:cNvPr id="3" name="Image 0" descr="/mnt/data/wide_modern_flat_vector_illustration_with_a_cle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0" y="320040"/>
            <a:ext cx="5532120" cy="58978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852160" y="0"/>
            <a:ext cx="18288" cy="68580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8368" y="6858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TI401 • PERTEMUAN 7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640080" y="1143000"/>
            <a:ext cx="5074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73B67"/>
                </a:solidFill>
              </a:rPr>
              <a:t>Mini Project Design</a:t>
            </a:r>
            <a:endParaRPr lang="en-US" sz="2900" dirty="0"/>
          </a:p>
          <a:p>
            <a:pPr indent="0" marL="0">
              <a:buNone/>
            </a:pPr>
            <a:r>
              <a:rPr lang="en-US" sz="2900" b="1" dirty="0">
                <a:solidFill>
                  <a:srgbClr val="173B67"/>
                </a:solidFill>
              </a:rPr>
              <a:t>&amp; Pengenalan AI/Web 3.0</a:t>
            </a:r>
            <a:endParaRPr lang="en-US" sz="2900" dirty="0"/>
          </a:p>
        </p:txBody>
      </p:sp>
      <p:sp>
        <p:nvSpPr>
          <p:cNvPr id="7" name="Text 4"/>
          <p:cNvSpPr/>
          <p:nvPr/>
        </p:nvSpPr>
        <p:spPr>
          <a:xfrm>
            <a:off x="676656" y="260604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</a:rPr>
              <a:t>CPMK51 Integratif • Sub-CPMK51.1–51.5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85800" y="3840480"/>
            <a:ext cx="929030" cy="1143000"/>
          </a:xfrm>
          <a:prstGeom prst="roundRect">
            <a:avLst>
              <a:gd name="adj" fmla="val 7874"/>
            </a:avLst>
          </a:prstGeom>
          <a:solidFill>
            <a:srgbClr val="EAF3FF"/>
          </a:solidFill>
          <a:ln w="12700">
            <a:solidFill>
              <a:srgbClr val="EAF3FF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58952" y="3950208"/>
            <a:ext cx="78272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4ED8"/>
                </a:solidFill>
              </a:rPr>
              <a:t>10’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58952" y="4297680"/>
            <a:ext cx="78272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Review &amp; tujuan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1687982" y="3840480"/>
            <a:ext cx="929030" cy="1143000"/>
          </a:xfrm>
          <a:prstGeom prst="roundRect">
            <a:avLst>
              <a:gd name="adj" fmla="val 7874"/>
            </a:avLst>
          </a:prstGeom>
          <a:solidFill>
            <a:srgbClr val="FFF1D6"/>
          </a:solidFill>
          <a:ln w="12700">
            <a:solidFill>
              <a:srgbClr val="FFF1D6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761134" y="3950208"/>
            <a:ext cx="78272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25’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761134" y="4297680"/>
            <a:ext cx="78272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Problem → struktur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2690165" y="3840480"/>
            <a:ext cx="929030" cy="1143000"/>
          </a:xfrm>
          <a:prstGeom prst="roundRect">
            <a:avLst>
              <a:gd name="adj" fmla="val 7874"/>
            </a:avLst>
          </a:prstGeom>
          <a:solidFill>
            <a:srgbClr val="EAF3FF"/>
          </a:solidFill>
          <a:ln w="12700">
            <a:solidFill>
              <a:srgbClr val="EAF3FF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763317" y="3950208"/>
            <a:ext cx="78272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4ED8"/>
                </a:solidFill>
              </a:rPr>
              <a:t>25’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2763317" y="4297680"/>
            <a:ext cx="78272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Wireframe &amp; layout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3692347" y="3840480"/>
            <a:ext cx="929030" cy="1143000"/>
          </a:xfrm>
          <a:prstGeom prst="roundRect">
            <a:avLst>
              <a:gd name="adj" fmla="val 7874"/>
            </a:avLst>
          </a:prstGeom>
          <a:solidFill>
            <a:srgbClr val="FFF1D6"/>
          </a:solidFill>
          <a:ln w="12700">
            <a:solidFill>
              <a:srgbClr val="FFF1D6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765499" y="3950208"/>
            <a:ext cx="78272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20’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3765499" y="4297680"/>
            <a:ext cx="78272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AI/Web3 literasi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4694530" y="3840480"/>
            <a:ext cx="929030" cy="1143000"/>
          </a:xfrm>
          <a:prstGeom prst="roundRect">
            <a:avLst>
              <a:gd name="adj" fmla="val 7874"/>
            </a:avLst>
          </a:prstGeom>
          <a:solidFill>
            <a:srgbClr val="EAF3FF"/>
          </a:solidFill>
          <a:ln w="12700">
            <a:solidFill>
              <a:srgbClr val="EAF3FF">
                <a:alpha val="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767682" y="3950208"/>
            <a:ext cx="78272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4ED8"/>
                </a:solidFill>
              </a:rPr>
              <a:t>20’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4767682" y="4297680"/>
            <a:ext cx="78272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Brief &amp; refleksi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731520" y="525780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</a:rPr>
              <a:t>Output: rancangan mini project berupa problem statement, struktur konten, wireframe, rencana responsif, dan catatan risiko AI/Web3.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502920" y="6519672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TI401 • Pengembangan Desain Web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11155680" y="646480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73B67"/>
                </a:solidFill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</a:rPr>
              <a:t>PERTEMUAN 7 • CPMK51 Integratif / Sub-CPMK51.1–51.5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B67"/>
                </a:solidFill>
              </a:rPr>
              <a:t>Capaian &amp; Produk Pertemuan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060704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Mahasiswa menggabungkan fondasi HTML, CSS, dan Bootstrap menjadi rancangan website yang utuh.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6519672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TI401 • Pengembangan Desain Web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155680" y="646480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73B67"/>
                </a:solidFill>
              </a:rPr>
              <a:t>02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655064" y="1783080"/>
            <a:ext cx="438912" cy="438912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783080" y="1901952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130552" y="2002536"/>
            <a:ext cx="1591056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914400" y="242316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3B67"/>
                </a:solidFill>
              </a:rPr>
              <a:t>Memahami kebutuhan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32688" y="2724912"/>
            <a:ext cx="1883664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374151"/>
                </a:solidFill>
              </a:rPr>
              <a:t>Menulis masalah pengguna dan tujuan halaman.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3758184" y="1783080"/>
            <a:ext cx="438912" cy="43891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86200" y="1901952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233672" y="2002536"/>
            <a:ext cx="1591056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3017520" y="242316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3B67"/>
                </a:solidFill>
              </a:rPr>
              <a:t>Menyusun konten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035808" y="2724912"/>
            <a:ext cx="1883664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374151"/>
                </a:solidFill>
              </a:rPr>
              <a:t>Menentukan section, urutan informasi, dan CTA.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5861304" y="1783080"/>
            <a:ext cx="438912" cy="43891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89320" y="1901952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336792" y="2002536"/>
            <a:ext cx="1591056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5120640" y="242316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3B67"/>
                </a:solidFill>
              </a:rPr>
              <a:t>Merancang layout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138928" y="2724912"/>
            <a:ext cx="1883664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374151"/>
                </a:solidFill>
              </a:rPr>
              <a:t>Membuat wireframe dan strategi responsif.</a:t>
            </a:r>
            <a:endParaRPr lang="en-US" sz="880" dirty="0"/>
          </a:p>
        </p:txBody>
      </p:sp>
      <p:sp>
        <p:nvSpPr>
          <p:cNvPr id="23" name="Shape 21"/>
          <p:cNvSpPr/>
          <p:nvPr/>
        </p:nvSpPr>
        <p:spPr>
          <a:xfrm>
            <a:off x="7964424" y="1783080"/>
            <a:ext cx="438912" cy="43891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92440" y="1901952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439912" y="2002536"/>
            <a:ext cx="1591056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26" name="Text 24"/>
          <p:cNvSpPr/>
          <p:nvPr/>
        </p:nvSpPr>
        <p:spPr>
          <a:xfrm>
            <a:off x="7223760" y="242316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3B67"/>
                </a:solidFill>
              </a:rPr>
              <a:t>Menilai teknologi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242048" y="2724912"/>
            <a:ext cx="1883664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374151"/>
                </a:solidFill>
              </a:rPr>
              <a:t>Menimbang ide AI/Web3 dan risikonya.</a:t>
            </a:r>
            <a:endParaRPr lang="en-US" sz="880" dirty="0"/>
          </a:p>
        </p:txBody>
      </p:sp>
      <p:sp>
        <p:nvSpPr>
          <p:cNvPr id="28" name="Shape 26"/>
          <p:cNvSpPr/>
          <p:nvPr/>
        </p:nvSpPr>
        <p:spPr>
          <a:xfrm>
            <a:off x="10067544" y="1783080"/>
            <a:ext cx="438912" cy="438912"/>
          </a:xfrm>
          <a:prstGeom prst="ellipse">
            <a:avLst/>
          </a:prstGeom>
          <a:solidFill>
            <a:srgbClr val="173B67"/>
          </a:solidFill>
          <a:ln w="12700">
            <a:solidFill>
              <a:srgbClr val="173B67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195560" y="1901952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9326880" y="242316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3B67"/>
                </a:solidFill>
              </a:rPr>
              <a:t>Menyiapkan bukti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9345168" y="2724912"/>
            <a:ext cx="1883664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374151"/>
                </a:solidFill>
              </a:rPr>
              <a:t>README, struktur folder, dan checklist desain.</a:t>
            </a:r>
            <a:endParaRPr lang="en-US" sz="880" dirty="0"/>
          </a:p>
        </p:txBody>
      </p:sp>
      <p:sp>
        <p:nvSpPr>
          <p:cNvPr id="32" name="Shape 30"/>
          <p:cNvSpPr/>
          <p:nvPr/>
        </p:nvSpPr>
        <p:spPr>
          <a:xfrm>
            <a:off x="1920240" y="5166360"/>
            <a:ext cx="8321040" cy="731520"/>
          </a:xfrm>
          <a:prstGeom prst="roundRect">
            <a:avLst>
              <a:gd name="adj" fmla="val 10000"/>
            </a:avLst>
          </a:prstGeom>
          <a:solidFill>
            <a:srgbClr val="FFF1D6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121408" y="5330952"/>
            <a:ext cx="7918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B67"/>
                </a:solidFill>
              </a:rPr>
              <a:t>Bukti belajar yang dikumpulkan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2121408" y="5715000"/>
            <a:ext cx="7918704" cy="45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</a:rPr>
              <a:t>README singkat, gambar/wireframe, struktur konten, folder proyek, dan catatan “mengapa fitur ini dipilih”.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</a:rPr>
              <a:t>PERTEMUAN 7 • CPMK51 Integratif / Sub-CPMK51.1–51.5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B67"/>
                </a:solidFill>
              </a:rPr>
              <a:t>Posisi Pertemuan 7 dalam Alur TI401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060704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Pertemuan ini menjadi jembatan dari desain halaman ke implementasi JavaScript dan teknologi modern.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6519672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TI401 • Pengembangan Desain Web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155680" y="646480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73B67"/>
                </a:solidFill>
              </a:rPr>
              <a:t>03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335024" y="1828800"/>
            <a:ext cx="438912" cy="438912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63040" y="1947672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10512" y="2048256"/>
            <a:ext cx="1316736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731520" y="246888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3B67"/>
                </a:solidFill>
              </a:rPr>
              <a:t>P1–P3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49808" y="2770632"/>
            <a:ext cx="160934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374151"/>
                </a:solidFill>
              </a:rPr>
              <a:t>HTML struktur, form, validasi dasar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3163824" y="1828800"/>
            <a:ext cx="438912" cy="43891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1947672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39312" y="2048256"/>
            <a:ext cx="1316736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2560320" y="246888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3B67"/>
                </a:solidFill>
              </a:rPr>
              <a:t>P4–P6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578608" y="2770632"/>
            <a:ext cx="160934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374151"/>
                </a:solidFill>
              </a:rPr>
              <a:t>CSS, layout, Bootstrap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4992624" y="1828800"/>
            <a:ext cx="438912" cy="43891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20640" y="1947672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68112" y="2048256"/>
            <a:ext cx="1316736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4389120" y="246888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3B67"/>
                </a:solidFill>
              </a:rPr>
              <a:t>P7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407408" y="2770632"/>
            <a:ext cx="160934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374151"/>
                </a:solidFill>
              </a:rPr>
              <a:t>Mini project design + literasi AI/Web3</a:t>
            </a:r>
            <a:endParaRPr lang="en-US" sz="880" dirty="0"/>
          </a:p>
        </p:txBody>
      </p:sp>
      <p:sp>
        <p:nvSpPr>
          <p:cNvPr id="23" name="Shape 21"/>
          <p:cNvSpPr/>
          <p:nvPr/>
        </p:nvSpPr>
        <p:spPr>
          <a:xfrm>
            <a:off x="6821424" y="1828800"/>
            <a:ext cx="438912" cy="43891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49440" y="1947672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296912" y="2048256"/>
            <a:ext cx="1316736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26" name="Text 24"/>
          <p:cNvSpPr/>
          <p:nvPr/>
        </p:nvSpPr>
        <p:spPr>
          <a:xfrm>
            <a:off x="6217920" y="246888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3B67"/>
                </a:solidFill>
              </a:rPr>
              <a:t>P8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236208" y="2770632"/>
            <a:ext cx="160934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374151"/>
                </a:solidFill>
              </a:rPr>
              <a:t>UTS evaluasi CPMK51</a:t>
            </a:r>
            <a:endParaRPr lang="en-US" sz="880" dirty="0"/>
          </a:p>
        </p:txBody>
      </p:sp>
      <p:sp>
        <p:nvSpPr>
          <p:cNvPr id="28" name="Shape 26"/>
          <p:cNvSpPr/>
          <p:nvPr/>
        </p:nvSpPr>
        <p:spPr>
          <a:xfrm>
            <a:off x="8650224" y="1828800"/>
            <a:ext cx="438912" cy="438912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778240" y="1947672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9125712" y="2048256"/>
            <a:ext cx="1316736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31" name="Text 29"/>
          <p:cNvSpPr/>
          <p:nvPr/>
        </p:nvSpPr>
        <p:spPr>
          <a:xfrm>
            <a:off x="8046720" y="246888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3B67"/>
                </a:solidFill>
              </a:rPr>
              <a:t>P9–P13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065008" y="2770632"/>
            <a:ext cx="160934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374151"/>
                </a:solidFill>
              </a:rPr>
              <a:t>JavaScript, DOM, Fetch, Modules</a:t>
            </a:r>
            <a:endParaRPr lang="en-US" sz="880" dirty="0"/>
          </a:p>
        </p:txBody>
      </p:sp>
      <p:sp>
        <p:nvSpPr>
          <p:cNvPr id="33" name="Shape 31"/>
          <p:cNvSpPr/>
          <p:nvPr/>
        </p:nvSpPr>
        <p:spPr>
          <a:xfrm>
            <a:off x="10479024" y="1828800"/>
            <a:ext cx="438912" cy="438912"/>
          </a:xfrm>
          <a:prstGeom prst="ellipse">
            <a:avLst/>
          </a:prstGeom>
          <a:solidFill>
            <a:srgbClr val="173B67"/>
          </a:solidFill>
          <a:ln w="12700">
            <a:solidFill>
              <a:srgbClr val="173B67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607040" y="1947672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6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9875520" y="246888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3B67"/>
                </a:solidFill>
              </a:rPr>
              <a:t>P14–P16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9893808" y="2770632"/>
            <a:ext cx="160934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374151"/>
                </a:solidFill>
              </a:rPr>
              <a:t>Web3 front-end, evaluasi, final project</a:t>
            </a:r>
            <a:endParaRPr lang="en-US" sz="880" dirty="0"/>
          </a:p>
        </p:txBody>
      </p:sp>
      <p:sp>
        <p:nvSpPr>
          <p:cNvPr id="37" name="Text 35"/>
          <p:cNvSpPr/>
          <p:nvPr/>
        </p:nvSpPr>
        <p:spPr>
          <a:xfrm>
            <a:off x="1097280" y="5166360"/>
            <a:ext cx="9875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C2626"/>
                </a:solidFill>
              </a:rPr>
              <a:t>Catatan revisi: praktik AI API baru dilakukan pada Pertemuan 12; Web3 front-end pada Pertemuan 14. Hari ini hanya literasi, ide, dan risiko.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</a:rPr>
              <a:t>PERTEMUAN 7 • CPMK51 Integratif / Sub-CPMK51.1–51.5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B67"/>
                </a:solidFill>
              </a:rPr>
              <a:t>Review Fondasi Sebelum Mini Project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060704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Mini project harus menunjukkan bahwa mahasiswa memahami materi Pertemuan 1–6.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6519672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TI401 • Pengembangan Desain Web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155680" y="646480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73B67"/>
                </a:solidFill>
              </a:rPr>
              <a:t>04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77240" y="1691640"/>
            <a:ext cx="3154680" cy="1143000"/>
          </a:xfrm>
          <a:prstGeom prst="roundRect">
            <a:avLst>
              <a:gd name="adj" fmla="val 6400"/>
            </a:avLst>
          </a:prstGeom>
          <a:solidFill>
            <a:srgbClr val="EAF3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78408" y="1856232"/>
            <a:ext cx="2752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B67"/>
                </a:solidFill>
              </a:rPr>
              <a:t>HTML Semantik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78408" y="2240280"/>
            <a:ext cx="2752344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</a:rPr>
              <a:t>header, nav, main, section, article, footer sesuai makna.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480560" y="1691640"/>
            <a:ext cx="31546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81728" y="1856232"/>
            <a:ext cx="2752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B67"/>
                </a:solidFill>
              </a:rPr>
              <a:t>Form &amp; Validasi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681728" y="2240280"/>
            <a:ext cx="2752344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</a:rPr>
              <a:t>label, id, name, type, required, dan instruksi input yang jelas.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183880" y="1691640"/>
            <a:ext cx="3154680" cy="1143000"/>
          </a:xfrm>
          <a:prstGeom prst="roundRect">
            <a:avLst>
              <a:gd name="adj" fmla="val 6400"/>
            </a:avLst>
          </a:prstGeom>
          <a:solidFill>
            <a:srgbClr val="EAF3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85048" y="1856232"/>
            <a:ext cx="2752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B67"/>
                </a:solidFill>
              </a:rPr>
              <a:t>CSS Dasar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385048" y="2240280"/>
            <a:ext cx="2752344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</a:rPr>
              <a:t>warna, tipografi, spacing, border, dan box model konsisten.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77240" y="3383280"/>
            <a:ext cx="31546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78408" y="3547872"/>
            <a:ext cx="2752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B67"/>
                </a:solidFill>
              </a:rPr>
              <a:t>Layout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78408" y="3931920"/>
            <a:ext cx="2752344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</a:rPr>
              <a:t>Flexbox untuk alur satu arah, Grid untuk komposisi dua dimensi.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480560" y="3383280"/>
            <a:ext cx="3154680" cy="1143000"/>
          </a:xfrm>
          <a:prstGeom prst="roundRect">
            <a:avLst>
              <a:gd name="adj" fmla="val 6400"/>
            </a:avLst>
          </a:prstGeom>
          <a:solidFill>
            <a:srgbClr val="EAF3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81728" y="3547872"/>
            <a:ext cx="2752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B67"/>
                </a:solidFill>
              </a:rPr>
              <a:t>Bootstrap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681728" y="3931920"/>
            <a:ext cx="2752344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</a:rPr>
              <a:t>container, row, col, breakpoint, dan komponen sederhana.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183880" y="3383280"/>
            <a:ext cx="31546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385048" y="3547872"/>
            <a:ext cx="2752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B67"/>
                </a:solidFill>
              </a:rPr>
              <a:t>Aksesibilitas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385048" y="3931920"/>
            <a:ext cx="2752344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</a:rPr>
              <a:t>heading logis, alt, link jelas, kontras, dan navigasi keyboard.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1005840" y="5559552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3B67"/>
                </a:solidFill>
              </a:rPr>
              <a:t>Pertanyaan pemantik: fondasi mana yang paling sering terlewat saat membuat halaman web?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</a:rPr>
              <a:t>PERTEMUAN 7 • CPMK51 Integratif / Sub-CPMK51.1–51.5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B67"/>
                </a:solidFill>
              </a:rPr>
              <a:t>Apa Itu Mini Project Design?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060704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Fokus hari ini adalah merancang solusi, bukan langsung mengejar kode sebanyak mungkin.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6519672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TI401 • Pengembangan Desain Web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155680" y="646480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73B67"/>
                </a:solidFill>
              </a:rPr>
              <a:t>05</a:t>
            </a:r>
            <a:endParaRPr lang="en-US" sz="1000" dirty="0"/>
          </a:p>
        </p:txBody>
      </p:sp>
      <p:pic>
        <p:nvPicPr>
          <p:cNvPr id="8" name="Image 0" descr="/mnt/data/a_clean_vector_infographic_flowchart_style_illu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0" y="1417320"/>
            <a:ext cx="5989320" cy="44805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77240" y="1691640"/>
            <a:ext cx="4480560" cy="3886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Mini project adalah rancangan kecil untuk menyelesaikan kebutuhan pengguna tertentu.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Output utama: keputusan desain yang bisa dijelaskan, bukan hanya tampilan yang “bagus”.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Rancangan harus siap dilanjutkan ke implementasi JavaScript, AI API, dan Web3 front-end.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Setiap fitur harus punya alasan: siapa pengguna, apa masalahnya, dan bagaimana halaman membantu.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</a:rPr>
              <a:t>PERTEMUAN 7 • CPMK51 Integratif / Sub-CPMK51.1–51.5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B67"/>
                </a:solidFill>
              </a:rPr>
              <a:t>Mulai dari Masalah Pengguna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060704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Sebelum membuat hero, card, atau button, pastikan masalahnya jelas.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6519672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TI401 • Pengembangan Desain Web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155680" y="646480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73B67"/>
                </a:solidFill>
              </a:rPr>
              <a:t>06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22960" y="1645920"/>
            <a:ext cx="5166360" cy="1143000"/>
          </a:xfrm>
          <a:prstGeom prst="roundRect">
            <a:avLst>
              <a:gd name="adj" fmla="val 6400"/>
            </a:avLst>
          </a:prstGeom>
          <a:solidFill>
            <a:srgbClr val="FFF1D6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24128" y="1810512"/>
            <a:ext cx="4764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B67"/>
                </a:solidFill>
              </a:rPr>
              <a:t>Format problem statement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2194560"/>
            <a:ext cx="4764024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</a:rPr>
              <a:t>Untuk [target pengguna], yang membutuhkan [kebutuhan utama], website ini membantu [solusi], sehingga [dampak/manfaat].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263640" y="1645920"/>
            <a:ext cx="5166360" cy="1143000"/>
          </a:xfrm>
          <a:prstGeom prst="roundRect">
            <a:avLst>
              <a:gd name="adj" fmla="val 6400"/>
            </a:avLst>
          </a:prstGeom>
          <a:solidFill>
            <a:srgbClr val="EAF3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64808" y="1810512"/>
            <a:ext cx="4764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B67"/>
                </a:solidFill>
              </a:rPr>
              <a:t>Contoh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64808" y="2194560"/>
            <a:ext cx="4764024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</a:rPr>
              <a:t>Untuk mahasiswa baru TI, yang membutuhkan info kegiatan prodi, website ini membantu menemukan jadwal, syarat, dan pendaftaran, sehingga mahasiswa tidak melewatkan agenda penting.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005840" y="3337560"/>
            <a:ext cx="9875520" cy="1920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Target pengguna spesifik: jangan “semua orang”.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Kebutuhan ditulis sebagai masalah nyata, bukan fitur.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Solusi cukup kecil agar selesai dalam mini project.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Dampak bisa diamati: lebih cepat menemukan info, lebih mudah daftar, lebih aman memahami aksi.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</a:rPr>
              <a:t>PERTEMUAN 7 • CPMK51 Integratif / Sub-CPMK51.1–51.5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B67"/>
                </a:solidFill>
              </a:rPr>
              <a:t>Struktur Konten &amp; Alur Baca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060704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Halaman yang baik membawa pengguna dari konteks menuju aksi.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6519672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TI401 • Pengembangan Desain Web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155680" y="646480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73B67"/>
                </a:solidFill>
              </a:rPr>
              <a:t>07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655064" y="1828800"/>
            <a:ext cx="438912" cy="438912"/>
          </a:xfrm>
          <a:prstGeom prst="ellipse">
            <a:avLst/>
          </a:prstGeom>
          <a:solidFill>
            <a:srgbClr val="173B67"/>
          </a:solidFill>
          <a:ln w="12700">
            <a:solidFill>
              <a:srgbClr val="173B67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783080" y="1947672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130552" y="2048256"/>
            <a:ext cx="1591056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914400" y="246888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3B67"/>
                </a:solidFill>
              </a:rPr>
              <a:t>Identitas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32688" y="2770632"/>
            <a:ext cx="188366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374151"/>
                </a:solidFill>
              </a:rPr>
              <a:t>Nama kegiatan, prodi, logo/label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3758184" y="1828800"/>
            <a:ext cx="438912" cy="438912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86200" y="1947672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233672" y="2048256"/>
            <a:ext cx="1591056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3017520" y="246888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3B67"/>
                </a:solidFill>
              </a:rPr>
              <a:t>Manfaat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035808" y="2770632"/>
            <a:ext cx="188366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374151"/>
                </a:solidFill>
              </a:rPr>
              <a:t>Mengapa pengguna perlu membaca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5861304" y="1828800"/>
            <a:ext cx="438912" cy="43891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89320" y="1947672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336792" y="2048256"/>
            <a:ext cx="1591056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5120640" y="246888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3B67"/>
                </a:solidFill>
              </a:rPr>
              <a:t>Informasi inti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138928" y="2770632"/>
            <a:ext cx="188366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374151"/>
                </a:solidFill>
              </a:rPr>
              <a:t>Jadwal, tempat, narasumber, syarat</a:t>
            </a:r>
            <a:endParaRPr lang="en-US" sz="880" dirty="0"/>
          </a:p>
        </p:txBody>
      </p:sp>
      <p:sp>
        <p:nvSpPr>
          <p:cNvPr id="23" name="Shape 21"/>
          <p:cNvSpPr/>
          <p:nvPr/>
        </p:nvSpPr>
        <p:spPr>
          <a:xfrm>
            <a:off x="7964424" y="1828800"/>
            <a:ext cx="438912" cy="43891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92440" y="1947672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439912" y="2048256"/>
            <a:ext cx="1591056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26" name="Text 24"/>
          <p:cNvSpPr/>
          <p:nvPr/>
        </p:nvSpPr>
        <p:spPr>
          <a:xfrm>
            <a:off x="7223760" y="246888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3B67"/>
                </a:solidFill>
              </a:rPr>
              <a:t>Bukti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242048" y="2770632"/>
            <a:ext cx="188366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374151"/>
                </a:solidFill>
              </a:rPr>
              <a:t>FAQ, testimoni, dokumentasi</a:t>
            </a:r>
            <a:endParaRPr lang="en-US" sz="880" dirty="0"/>
          </a:p>
        </p:txBody>
      </p:sp>
      <p:sp>
        <p:nvSpPr>
          <p:cNvPr id="28" name="Shape 26"/>
          <p:cNvSpPr/>
          <p:nvPr/>
        </p:nvSpPr>
        <p:spPr>
          <a:xfrm>
            <a:off x="10067544" y="1828800"/>
            <a:ext cx="438912" cy="43891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195560" y="1947672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9326880" y="246888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3B67"/>
                </a:solidFill>
              </a:rPr>
              <a:t>Aksi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9345168" y="2770632"/>
            <a:ext cx="188366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374151"/>
                </a:solidFill>
              </a:rPr>
              <a:t>Daftar, hubungi admin, buka panduan</a:t>
            </a:r>
            <a:endParaRPr lang="en-US" sz="880" dirty="0"/>
          </a:p>
        </p:txBody>
      </p:sp>
      <p:sp>
        <p:nvSpPr>
          <p:cNvPr id="32" name="Text 30"/>
          <p:cNvSpPr/>
          <p:nvPr/>
        </p:nvSpPr>
        <p:spPr>
          <a:xfrm>
            <a:off x="1097280" y="525780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3B67"/>
                </a:solidFill>
              </a:rPr>
              <a:t>Prinsip: setiap section harus menjawab pertanyaan pengguna, bukan sekadar mengisi ruang halaman.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</a:rPr>
              <a:t>PERTEMUAN 7 • CPMK51 Integratif / Sub-CPMK51.1–51.5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B67"/>
                </a:solidFill>
              </a:rPr>
              <a:t>Mapping Konten ke HTML Semantik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060704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Pilih elemen berdasarkan makna konten, bukan berdasarkan bentuk visual.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6519672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TI401 • Pengembangan Desain Web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155680" y="646480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73B67"/>
                </a:solidFill>
              </a:rPr>
              <a:t>08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77240" y="1554480"/>
            <a:ext cx="4663440" cy="4114800"/>
          </a:xfrm>
          <a:prstGeom prst="roundRect">
            <a:avLst>
              <a:gd name="adj" fmla="val 1333"/>
            </a:avLst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41832" y="1700784"/>
            <a:ext cx="4334256" cy="3858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&lt;body&gt;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&lt;header&gt;Judul &amp; pengantar&lt;/header&gt;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&lt;nav&gt;Menu utama&lt;/nav&gt;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&lt;main&gt;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&lt;section id="hero"&gt;...&lt;/section&gt;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&lt;section id="info"&gt;...&lt;/section&gt;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&lt;section id="daftar"&gt;...&lt;/section&gt;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&lt;/main&gt;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&lt;footer&gt;Kontak &amp; kredit&lt;/footer&gt;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&lt;/body&gt;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897880" y="1874520"/>
            <a:ext cx="5212080" cy="3200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&lt;header&gt; untuk identitas awal halaman.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&lt;nav&gt; untuk tautan bagian penting.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&lt;main&gt; untuk konten utama unik pada halaman.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&lt;section&gt; untuk kelompok informasi dengan heading.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&lt;footer&gt; untuk kontak, hak cipta, dan tautan tambahan.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</a:rPr>
              <a:t>PERTEMUAN 7 • CPMK51 Integratif / Sub-CPMK51.1–51.5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B67"/>
                </a:solidFill>
              </a:rPr>
              <a:t>Wireframe Cepat: Dari Ide ke Layout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060704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Wireframe membantu menguji alur sebelum menulis CSS detail.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6519672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TI401 • Pengembangan Desain Web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155680" y="646480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73B67"/>
                </a:solidFill>
              </a:rPr>
              <a:t>09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960120" y="1645920"/>
            <a:ext cx="4572000" cy="4023360"/>
          </a:xfrm>
          <a:prstGeom prst="roundRect">
            <a:avLst>
              <a:gd name="adj" fmla="val 136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88720" y="1874520"/>
            <a:ext cx="4114800" cy="32004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88720" y="2423160"/>
            <a:ext cx="4114800" cy="960120"/>
          </a:xfrm>
          <a:prstGeom prst="rect">
            <a:avLst/>
          </a:prstGeom>
          <a:solidFill>
            <a:srgbClr val="FFF1D6"/>
          </a:solidFill>
          <a:ln w="12700">
            <a:solidFill>
              <a:srgbClr val="FFF1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88720" y="3703320"/>
            <a:ext cx="1143000" cy="777240"/>
          </a:xfrm>
          <a:prstGeom prst="rect">
            <a:avLst/>
          </a:prstGeom>
          <a:solidFill>
            <a:srgbClr val="EAF3FF"/>
          </a:solidFill>
          <a:ln w="12700">
            <a:solidFill>
              <a:srgbClr val="EAF3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14600" y="3703320"/>
            <a:ext cx="1143000" cy="777240"/>
          </a:xfrm>
          <a:prstGeom prst="rect">
            <a:avLst/>
          </a:prstGeom>
          <a:solidFill>
            <a:srgbClr val="EAF3FF"/>
          </a:solidFill>
          <a:ln w="12700">
            <a:solidFill>
              <a:srgbClr val="EAF3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840480" y="3703320"/>
            <a:ext cx="1143000" cy="777240"/>
          </a:xfrm>
          <a:prstGeom prst="rect">
            <a:avLst/>
          </a:prstGeom>
          <a:solidFill>
            <a:srgbClr val="EAF3FF"/>
          </a:solidFill>
          <a:ln w="12700">
            <a:solidFill>
              <a:srgbClr val="EAF3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88720" y="4800600"/>
            <a:ext cx="4114800" cy="411480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88720" y="534924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73B67"/>
                </a:solidFill>
              </a:rPr>
              <a:t>Wireframe halaman: navbar → hero → cards → footer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6172200" y="1828800"/>
            <a:ext cx="4937760" cy="33832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Gambar kotak besar dulu: navbar, hero, konten, CTA, footer.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Tuliskan fungsi setiap area, bukan warna atau dekorasi.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Pastikan tombol aksi utama terlihat tanpa pengguna kebingungan.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Uji alur baca: apa yang dilihat pertama, kedua, lalu tindakan apa?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</a:rPr>
              <a:t>PERTEMUAN 7 • CPMK51 Integratif / Sub-CPMK51.1–51.5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B67"/>
                </a:solidFill>
              </a:rPr>
              <a:t>Rencana Responsif: Mobile First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060704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Rancangan harus tetap terbaca pada HP, tablet, dan laptop.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6519672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TI401 • Pengembangan Desain Web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155680" y="646480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73B67"/>
                </a:solidFill>
              </a:rPr>
              <a:t>10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22960" y="1828800"/>
            <a:ext cx="3246120" cy="2057400"/>
          </a:xfrm>
          <a:prstGeom prst="roundRect">
            <a:avLst>
              <a:gd name="adj" fmla="val 3556"/>
            </a:avLst>
          </a:prstGeom>
          <a:solidFill>
            <a:srgbClr val="EAF3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24128" y="1993392"/>
            <a:ext cx="2843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B67"/>
                </a:solidFill>
              </a:rPr>
              <a:t>Mobile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2377440"/>
            <a:ext cx="2843784" cy="1371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</a:rPr>
              <a:t>Konten satu kolom, tombol besar, navigasi sederhana, jarak antar-input cukup.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480560" y="1828800"/>
            <a:ext cx="3246120" cy="2057400"/>
          </a:xfrm>
          <a:prstGeom prst="roundRect">
            <a:avLst>
              <a:gd name="adj" fmla="val 3556"/>
            </a:avLst>
          </a:prstGeom>
          <a:solidFill>
            <a:srgbClr val="FFF1D6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81728" y="1993392"/>
            <a:ext cx="2843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B67"/>
                </a:solidFill>
              </a:rPr>
              <a:t>Tablet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681728" y="2377440"/>
            <a:ext cx="2843784" cy="1371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</a:rPr>
              <a:t>Card mulai dua kolom, hero lebih lebar, section diberi ruang napas.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138160" y="1828800"/>
            <a:ext cx="3246120" cy="2057400"/>
          </a:xfrm>
          <a:prstGeom prst="roundRect">
            <a:avLst>
              <a:gd name="adj" fmla="val 3556"/>
            </a:avLst>
          </a:prstGeom>
          <a:solidFill>
            <a:srgbClr val="DCFCE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39328" y="1993392"/>
            <a:ext cx="2843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B67"/>
                </a:solidFill>
              </a:rPr>
              <a:t>Desktop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339328" y="2377440"/>
            <a:ext cx="2843784" cy="1371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</a:rPr>
              <a:t>Grid 3 kolom, navigasi horizontal, hero dapat memakai dua kolom.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005840" y="470916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3B67"/>
                </a:solidFill>
              </a:rPr>
              <a:t>Checklist responsif: tidak ada teks terlalu kecil, tombol mudah diklik, gambar tidak pecah, form tidak melebar keluar layar.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</a:rPr>
              <a:t>PERTEMUAN 7 • CPMK51 Integratif / Sub-CPMK51.1–51.5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B67"/>
                </a:solidFill>
              </a:rPr>
              <a:t>Rencana Komponen Bootstrap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060704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Bootstrap dipakai untuk mempercepat, bukan menggantikan pemahaman struktur.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6519672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TI401 • Pengembangan Desain Web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155680" y="646480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73B67"/>
                </a:solidFill>
              </a:rPr>
              <a:t>11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22960" y="1737360"/>
            <a:ext cx="4937760" cy="2011680"/>
          </a:xfrm>
          <a:prstGeom prst="roundRect">
            <a:avLst>
              <a:gd name="adj" fmla="val 2727"/>
            </a:avLst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7552" y="1883664"/>
            <a:ext cx="4608576" cy="1755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&lt;section class="container py-5"&gt;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&lt;div class="row g-4"&gt;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&lt;div class="col-md-4"&gt;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&lt;div class="card h-100"&gt;...&lt;/div&gt;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&lt;/div&gt;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&lt;/div&gt;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&lt;/section&gt;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172200" y="1737360"/>
            <a:ext cx="4937760" cy="2743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450" dirty="0">
                <a:solidFill>
                  <a:srgbClr val="374151"/>
                </a:solidFill>
              </a:rPr>
              <a:t>container: membatasi lebar konten.</a:t>
            </a:r>
            <a:endParaRPr lang="en-US" sz="1450" dirty="0"/>
          </a:p>
          <a:p>
            <a:pPr marL="152400" indent="-152400">
              <a:buSzPct val="100000"/>
              <a:buChar char="•"/>
            </a:pPr>
            <a:r>
              <a:rPr lang="en-US" sz="1450" dirty="0">
                <a:solidFill>
                  <a:srgbClr val="374151"/>
                </a:solidFill>
              </a:rPr>
              <a:t>row dan col: membangun grid responsif.</a:t>
            </a:r>
            <a:endParaRPr lang="en-US" sz="1450" dirty="0"/>
          </a:p>
          <a:p>
            <a:pPr marL="152400" indent="-152400">
              <a:buSzPct val="100000"/>
              <a:buChar char="•"/>
            </a:pPr>
            <a:r>
              <a:rPr lang="en-US" sz="1450" dirty="0">
                <a:solidFill>
                  <a:srgbClr val="374151"/>
                </a:solidFill>
              </a:rPr>
              <a:t>g-4, py-5, mb-3: mengatur jarak tanpa CSS berulang.</a:t>
            </a:r>
            <a:endParaRPr lang="en-US" sz="1450" dirty="0"/>
          </a:p>
          <a:p>
            <a:pPr marL="152400" indent="-152400">
              <a:buSzPct val="100000"/>
              <a:buChar char="•"/>
            </a:pPr>
            <a:r>
              <a:rPr lang="en-US" sz="1450" dirty="0">
                <a:solidFill>
                  <a:srgbClr val="374151"/>
                </a:solidFill>
              </a:rPr>
              <a:t>card, navbar, button: komponen dasar yang cukup untuk mini project.</a:t>
            </a:r>
            <a:endParaRPr lang="en-US" sz="1450" dirty="0"/>
          </a:p>
          <a:p>
            <a:pPr marL="152400" indent="-152400">
              <a:buSzPct val="100000"/>
              <a:buChar char="•"/>
            </a:pPr>
            <a:r>
              <a:rPr lang="en-US" sz="1450" dirty="0">
                <a:solidFill>
                  <a:srgbClr val="374151"/>
                </a:solidFill>
              </a:rPr>
              <a:t>Tetap perhatikan semantik HTML di balik class Bootstrap.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1828800" y="4892040"/>
            <a:ext cx="8503920" cy="640080"/>
          </a:xfrm>
          <a:prstGeom prst="roundRect">
            <a:avLst>
              <a:gd name="adj" fmla="val 11429"/>
            </a:avLst>
          </a:prstGeom>
          <a:solidFill>
            <a:srgbClr val="FFF1D6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29968" y="5056632"/>
            <a:ext cx="8101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B67"/>
                </a:solidFill>
              </a:rPr>
              <a:t>Batasan tugas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029968" y="5440680"/>
            <a:ext cx="8101584" cy="-45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</a:rPr>
              <a:t>Gunakan maksimal 2–3 komponen Bootstrap utama agar mahasiswa tetap memahami kode, bukan hanya menempel template.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</a:rPr>
              <a:t>PERTEMUAN 7 • CPMK51 Integratif / Sub-CPMK51.1–51.5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B67"/>
                </a:solidFill>
              </a:rPr>
              <a:t>Konsistensi Visual &amp; Aksesibilitas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060704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Desain yang baik bukan hanya menarik, tetapi juga mudah dipakai.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6519672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TI401 • Pengembangan Desain Web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155680" y="646480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73B67"/>
                </a:solidFill>
              </a:rPr>
              <a:t>12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914400" y="1554480"/>
            <a:ext cx="4754880" cy="868680"/>
          </a:xfrm>
          <a:prstGeom prst="roundRect">
            <a:avLst>
              <a:gd name="adj" fmla="val 8421"/>
            </a:avLst>
          </a:prstGeom>
          <a:solidFill>
            <a:srgbClr val="EAF3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5568" y="1719072"/>
            <a:ext cx="4352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B67"/>
                </a:solidFill>
              </a:rPr>
              <a:t>Warna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15568" y="2103120"/>
            <a:ext cx="4352544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</a:rPr>
              <a:t>Gunakan 2–3 warna utama dan pastikan kontras teks cukup.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26480" y="1554480"/>
            <a:ext cx="47548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27648" y="1719072"/>
            <a:ext cx="4352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B67"/>
                </a:solidFill>
              </a:rPr>
              <a:t>Tipografi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327648" y="2103120"/>
            <a:ext cx="4352544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</a:rPr>
              <a:t>Judul, subjudul, isi, dan tombol memiliki hierarki ukuran jelas.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914400" y="2743200"/>
            <a:ext cx="4754880" cy="868680"/>
          </a:xfrm>
          <a:prstGeom prst="roundRect">
            <a:avLst>
              <a:gd name="adj" fmla="val 8421"/>
            </a:avLst>
          </a:prstGeom>
          <a:solidFill>
            <a:srgbClr val="EAF3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15568" y="2907792"/>
            <a:ext cx="4352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B67"/>
                </a:solidFill>
              </a:rPr>
              <a:t>Spacing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15568" y="3291840"/>
            <a:ext cx="4352544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</a:rPr>
              <a:t>Jarak antar-section konsisten dan tidak terlalu rapat.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126480" y="2743200"/>
            <a:ext cx="47548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27648" y="2907792"/>
            <a:ext cx="4352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B67"/>
                </a:solidFill>
              </a:rPr>
              <a:t>Aksesibilitas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27648" y="3291840"/>
            <a:ext cx="4352544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</a:rPr>
              <a:t>Heading berurutan, alt bermakna, link spesifik, tombol jelas.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914400" y="3931920"/>
            <a:ext cx="4754880" cy="868680"/>
          </a:xfrm>
          <a:prstGeom prst="roundRect">
            <a:avLst>
              <a:gd name="adj" fmla="val 8421"/>
            </a:avLst>
          </a:prstGeom>
          <a:solidFill>
            <a:srgbClr val="EAF3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15568" y="4096512"/>
            <a:ext cx="4352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B67"/>
                </a:solidFill>
              </a:rPr>
              <a:t>UI etis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15568" y="4480560"/>
            <a:ext cx="4352544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</a:rPr>
              <a:t>Tidak memakai dark pattern atau tombol yang menyesatkan.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</a:rPr>
              <a:t>PERTEMUAN 7 • CPMK51 Integratif / Sub-CPMK51.1–51.5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B67"/>
                </a:solidFill>
              </a:rPr>
              <a:t>Konteks Teknologi Web Modern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060704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AI dan Web 3.0 dikenalkan sebagai literasi desain, bukan target implementasi hari ini.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6519672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TI401 • Pengembangan Desain Web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155680" y="646480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73B67"/>
                </a:solidFill>
              </a:rPr>
              <a:t>13</a:t>
            </a:r>
            <a:endParaRPr lang="en-US" sz="1000" dirty="0"/>
          </a:p>
        </p:txBody>
      </p:sp>
      <p:pic>
        <p:nvPicPr>
          <p:cNvPr id="8" name="Image 0" descr="/mnt/data/wide_modern_flat_vector_illustration_with_a_cle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1508760"/>
            <a:ext cx="4983480" cy="41148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2960" y="1783080"/>
            <a:ext cx="5120640" cy="33832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Web 1.0: pengguna membaca informasi statis.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Web 2.0: pengguna berinteraksi, membuat konten, dan memakai platform.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Web 3.0: sebagian interaksi dapat melibatkan wallet, identitas, token, dan data on-chain.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AI generatif: aplikasi dapat membantu merangkum, merekomendasikan, dan membuat konten.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</a:rPr>
              <a:t>PERTEMUAN 7 • CPMK51 Integratif / Sub-CPMK51.1–51.5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B67"/>
                </a:solidFill>
              </a:rPr>
              <a:t>Ide Fitur AI yang Relevan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060704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Fitur AI harus menjawab kebutuhan pengguna, bukan sekadar ditempel.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6519672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TI401 • Pengembangan Desain Web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155680" y="646480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73B67"/>
                </a:solidFill>
              </a:rPr>
              <a:t>14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22960" y="1554480"/>
            <a:ext cx="3474720" cy="1234440"/>
          </a:xfrm>
          <a:prstGeom prst="roundRect">
            <a:avLst>
              <a:gd name="adj" fmla="val 5926"/>
            </a:avLst>
          </a:prstGeom>
          <a:solidFill>
            <a:srgbClr val="EAF3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24128" y="1719072"/>
            <a:ext cx="3072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B67"/>
                </a:solidFill>
              </a:rPr>
              <a:t>Rekomendasi konten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2103120"/>
            <a:ext cx="3072384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</a:rPr>
              <a:t>Menyarankan artikel, agenda, atau materi berdasarkan minat pengguna.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434840" y="1554480"/>
            <a:ext cx="3474720" cy="1234440"/>
          </a:xfrm>
          <a:prstGeom prst="roundRect">
            <a:avLst>
              <a:gd name="adj" fmla="val 5926"/>
            </a:avLst>
          </a:prstGeom>
          <a:solidFill>
            <a:srgbClr val="FFF1D6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36008" y="1719072"/>
            <a:ext cx="3072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B67"/>
                </a:solidFill>
              </a:rPr>
              <a:t>Ringkasan otomatis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636008" y="2103120"/>
            <a:ext cx="3072384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</a:rPr>
              <a:t>Meringkas deskripsi kegiatan, berita, atau materi panjang agar mudah dipahami.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046720" y="1554480"/>
            <a:ext cx="3474720" cy="1234440"/>
          </a:xfrm>
          <a:prstGeom prst="roundRect">
            <a:avLst>
              <a:gd name="adj" fmla="val 5926"/>
            </a:avLst>
          </a:prstGeom>
          <a:solidFill>
            <a:srgbClr val="DCFCE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47888" y="1719072"/>
            <a:ext cx="3072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B67"/>
                </a:solidFill>
              </a:rPr>
              <a:t>Asisten belajar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47888" y="2103120"/>
            <a:ext cx="3072384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</a:rPr>
              <a:t>Memberikan petunjuk langkah demi langkah saat mahasiswa mengerjakan praktikum.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194560" y="3749040"/>
            <a:ext cx="7818120" cy="914400"/>
          </a:xfrm>
          <a:prstGeom prst="roundRect">
            <a:avLst>
              <a:gd name="adj" fmla="val 8000"/>
            </a:avLst>
          </a:prstGeom>
          <a:solidFill>
            <a:srgbClr val="FEE2E2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395728" y="3913632"/>
            <a:ext cx="7415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B67"/>
                </a:solidFill>
              </a:rPr>
              <a:t>Catatan penting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395728" y="4297680"/>
            <a:ext cx="741578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</a:rPr>
              <a:t>Praktik AI API dilakukan pada Pertemuan 12 setelah mahasiswa memahami JavaScript async dan Fetch API.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</a:rPr>
              <a:t>PERTEMUAN 7 • CPMK51 Integratif / Sub-CPMK51.1–51.5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B67"/>
                </a:solidFill>
              </a:rPr>
              <a:t>Ide Fitur Web 3.0 Front-End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060704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Cakupan mini project cukup berupa rancangan alur, bukan transaksi nyata.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6519672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TI401 • Pengembangan Desain Web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155680" y="646480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73B67"/>
                </a:solidFill>
              </a:rPr>
              <a:t>15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1691640"/>
            <a:ext cx="5029200" cy="3840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Wallet connect: pengguna memahami bahwa aplikasi meminta koneksi wallet.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Tampilan address: UI menampilkan alamat wallet yang terhubung secara ringkas.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Data on-chain: menampilkan saldo testnet atau informasi kontrak publik.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Notifikasi risiko: menjelaskan jaringan, aksi, dan konsekuensi klik.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Tidak ada seed phrase, private key, atau transaksi aset nyata pada materi dasar.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0" y="1828800"/>
            <a:ext cx="4846320" cy="2286000"/>
          </a:xfrm>
          <a:prstGeom prst="roundRect">
            <a:avLst>
              <a:gd name="adj" fmla="val 2400"/>
            </a:avLst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65392" y="1975104"/>
            <a:ext cx="4517136" cy="2029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// Pertemuan 14 (nanti)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const provider = new ethers.BrowserProvider(window.ethereum);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const signer = await provider.getSigner();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const address = await signer.getAddress();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// Hari ini cukup rancang UI dan risikonya.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</a:rPr>
              <a:t>PERTEMUAN 7 • CPMK51 Integratif / Sub-CPMK51.1–51.5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B67"/>
                </a:solidFill>
              </a:rPr>
              <a:t>Berpikir Kritis: Risiko AI dan Web 3.0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060704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Setiap rancangan modern harus menyertakan catatan risiko dan mitigasi sederhana.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6519672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TI401 • Pengembangan Desain Web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155680" y="646480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73B67"/>
                </a:solidFill>
              </a:rPr>
              <a:t>16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68680" y="1645920"/>
            <a:ext cx="4937760" cy="1508760"/>
          </a:xfrm>
          <a:prstGeom prst="roundRect">
            <a:avLst>
              <a:gd name="adj" fmla="val 4848"/>
            </a:avLst>
          </a:prstGeom>
          <a:solidFill>
            <a:srgbClr val="FEE2E2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69848" y="1810512"/>
            <a:ext cx="4535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B67"/>
                </a:solidFill>
              </a:rPr>
              <a:t>Risiko AI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69848" y="2194560"/>
            <a:ext cx="4535424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</a:rPr>
              <a:t>Jawaban bisa salah, bias, tidak konsisten, terlalu percaya diri, atau menyimpan data sensitif ke layanan pihak ketiga.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309360" y="1645920"/>
            <a:ext cx="4937760" cy="1508760"/>
          </a:xfrm>
          <a:prstGeom prst="roundRect">
            <a:avLst>
              <a:gd name="adj" fmla="val 4848"/>
            </a:avLst>
          </a:prstGeom>
          <a:solidFill>
            <a:srgbClr val="FFF1D6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10528" y="1810512"/>
            <a:ext cx="4535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B67"/>
                </a:solidFill>
              </a:rPr>
              <a:t>Risiko Web3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510528" y="2194560"/>
            <a:ext cx="4535424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</a:rPr>
              <a:t>Phishing wallet, salah jaringan, salah alamat, transaksi tidak dapat dibatalkan, dan pengguna tidak memahami konsekuensi klik.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1874520" y="4023360"/>
            <a:ext cx="8458200" cy="1143000"/>
          </a:xfrm>
          <a:prstGeom prst="roundRect">
            <a:avLst>
              <a:gd name="adj" fmla="val 6400"/>
            </a:avLst>
          </a:prstGeom>
          <a:solidFill>
            <a:srgbClr val="EAF3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075688" y="4187952"/>
            <a:ext cx="8055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B67"/>
                </a:solidFill>
              </a:rPr>
              <a:t>Prinsip aman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075688" y="4572000"/>
            <a:ext cx="8055864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</a:rPr>
              <a:t>Jelaskan aksi, jangan minta data sensitif, jangan hardcode API key di front-end, gunakan testnet, dan hindari UI yang menipu.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</a:rPr>
              <a:t>PERTEMUAN 7 • CPMK51 Integratif / Sub-CPMK51.1–51.5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B67"/>
                </a:solidFill>
              </a:rPr>
              <a:t>Brief Mini Project Pertemuan 7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060704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Tema dapat dipilih, tetapi output desain harus jelas dan siap dikembangkan.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6519672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TI401 • Pengembangan Desain Web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155680" y="646480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73B67"/>
                </a:solidFill>
              </a:rPr>
              <a:t>17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22960" y="1554480"/>
            <a:ext cx="10515600" cy="822960"/>
          </a:xfrm>
          <a:prstGeom prst="roundRect">
            <a:avLst>
              <a:gd name="adj" fmla="val 8889"/>
            </a:avLst>
          </a:prstGeom>
          <a:solidFill>
            <a:srgbClr val="EAF3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24128" y="1719072"/>
            <a:ext cx="10113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B67"/>
                </a:solidFill>
              </a:rPr>
              <a:t>Tema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2103120"/>
            <a:ext cx="10113264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</a:rPr>
              <a:t>Landing page “Kegiatan Kampus / Event Prodi / Komunitas Mahasiswa” yang informatif, responsif, dan memiliki CTA jelas.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22960" y="2697480"/>
            <a:ext cx="10515600" cy="822960"/>
          </a:xfrm>
          <a:prstGeom prst="roundRect">
            <a:avLst>
              <a:gd name="adj" fmla="val 8889"/>
            </a:avLst>
          </a:prstGeom>
          <a:solidFill>
            <a:srgbClr val="FFF1D6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24128" y="2862072"/>
            <a:ext cx="10113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B67"/>
                </a:solidFill>
              </a:rPr>
              <a:t>Syarat halaman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24128" y="3246120"/>
            <a:ext cx="10113264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</a:rPr>
              <a:t>Navbar, hero, informasi utama, 3 card, form singkat atau CTA, footer, serta minimal satu ide integrasi AI atau Web3.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22960" y="3840480"/>
            <a:ext cx="10515600" cy="822960"/>
          </a:xfrm>
          <a:prstGeom prst="roundRect">
            <a:avLst>
              <a:gd name="adj" fmla="val 8889"/>
            </a:avLst>
          </a:prstGeom>
          <a:solidFill>
            <a:srgbClr val="DCFCE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24128" y="4005072"/>
            <a:ext cx="10113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B67"/>
                </a:solidFill>
              </a:rPr>
              <a:t>Batas hari ini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24128" y="4389120"/>
            <a:ext cx="10113264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</a:rPr>
              <a:t>Fokus pada rancangan, struktur, dan argumentasi desain. Implementasi penuh dapat dilanjutkan pada tugas/praktikum lanjutan.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</a:rPr>
              <a:t>PERTEMUAN 7 • CPMK51 Integratif / Sub-CPMK51.1–51.5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B67"/>
                </a:solidFill>
              </a:rPr>
              <a:t>Template Dokumen Mini Project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060704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README membantu mahasiswa menjelaskan keputusan desain, bukan hanya mengumpulkan file.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6519672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TI401 • Pengembangan Desain Web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155680" y="646480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73B67"/>
                </a:solidFill>
              </a:rPr>
              <a:t>18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22960" y="1463040"/>
            <a:ext cx="5257800" cy="4572000"/>
          </a:xfrm>
          <a:prstGeom prst="roundRect">
            <a:avLst>
              <a:gd name="adj" fmla="val 1200"/>
            </a:avLst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7552" y="1609344"/>
            <a:ext cx="4928616" cy="4315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# Mini Project Design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## 1. Nama proyek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## 2. Masalah pengguna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## 3. Target pengguna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## 4. Struktur konten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## 5. Wireframe singkat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## 6. Komponen UI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## 7. Strategi responsif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## 8. Ide AI atau Web3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## 9. Risiko &amp; mitigasi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## 10. Link GitHub / folder kerja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46520" y="1920240"/>
            <a:ext cx="4754880" cy="32918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Setiap bagian cukup 2–4 kalimat atau poin ringkas.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Wireframe dapat berupa gambar tangan, Figma, Canva, atau layout kotak sederhana.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Bagian risiko wajib ditulis agar ide teknologi modern tidak menjadi tempelan.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README akan menjadi bukti proses dan bahan tanya jawab.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</a:rPr>
              <a:t>PERTEMUAN 7 • CPMK51 Integratif / Sub-CPMK51.1–51.5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B67"/>
                </a:solidFill>
              </a:rPr>
              <a:t>Struktur Folder yang Disarankan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060704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Nama folder konsisten membuat materi mudah dibuka melalui GitHub Pages.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6519672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TI401 • Pengembangan Desain Web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155680" y="646480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73B67"/>
                </a:solidFill>
              </a:rPr>
              <a:t>19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914400" y="1600200"/>
            <a:ext cx="5212080" cy="3931920"/>
          </a:xfrm>
          <a:prstGeom prst="roundRect">
            <a:avLst>
              <a:gd name="adj" fmla="val 1395"/>
            </a:avLst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78992" y="1746504"/>
            <a:ext cx="4882896" cy="3675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07_mini-project-design-ai-web3/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├── README.md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├── index.html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├── assets/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│   ├── images/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│   └── icons/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├── css/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│   └── style.css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└── js/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└── script.js   (opsional)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537960" y="1874520"/>
            <a:ext cx="4754880" cy="33832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File utama tetap bernama index.html.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CSS eksternal disimpan di css/style.css.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Gambar dan ikon dipisah di folder assets.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JavaScript masih opsional untuk pertemuan ini.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README berisi penjelasan rancangan dan risiko AI/Web3.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</a:rPr>
              <a:t>PERTEMUAN 7 • CPMK51 Integratif / Sub-CPMK51.1–51.5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B67"/>
                </a:solidFill>
              </a:rPr>
              <a:t>Demo Kelas 20–25 Menit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060704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Dosen memperlihatkan proses berpikir dari brief ke rancangan.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6519672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TI401 • Pengembangan Desain Web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155680" y="646480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73B67"/>
                </a:solidFill>
              </a:rPr>
              <a:t>20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31520" y="1828800"/>
            <a:ext cx="2099462" cy="1371600"/>
          </a:xfrm>
          <a:prstGeom prst="roundRect">
            <a:avLst>
              <a:gd name="adj" fmla="val 5333"/>
            </a:avLst>
          </a:prstGeom>
          <a:solidFill>
            <a:srgbClr val="EAF3FF"/>
          </a:solidFill>
          <a:ln w="12700">
            <a:solidFill>
              <a:srgbClr val="EAF3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1938528"/>
            <a:ext cx="195315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4ED8"/>
                </a:solidFill>
              </a:rPr>
              <a:t>5’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04672" y="2286000"/>
            <a:ext cx="195315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Pilih kasus &amp; tulis problem statement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904134" y="1828800"/>
            <a:ext cx="2099462" cy="1371600"/>
          </a:xfrm>
          <a:prstGeom prst="roundRect">
            <a:avLst>
              <a:gd name="adj" fmla="val 5333"/>
            </a:avLst>
          </a:prstGeom>
          <a:solidFill>
            <a:srgbClr val="FFF1D6"/>
          </a:solidFill>
          <a:ln w="12700">
            <a:solidFill>
              <a:srgbClr val="FFF1D6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77286" y="1938528"/>
            <a:ext cx="195315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5’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977286" y="2286000"/>
            <a:ext cx="195315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Susun struktur konten dan section HTML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076749" y="1828800"/>
            <a:ext cx="2099462" cy="1371600"/>
          </a:xfrm>
          <a:prstGeom prst="roundRect">
            <a:avLst>
              <a:gd name="adj" fmla="val 5333"/>
            </a:avLst>
          </a:prstGeom>
          <a:solidFill>
            <a:srgbClr val="EAF3FF"/>
          </a:solidFill>
          <a:ln w="12700">
            <a:solidFill>
              <a:srgbClr val="EAF3F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49901" y="1938528"/>
            <a:ext cx="195315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4ED8"/>
                </a:solidFill>
              </a:rPr>
              <a:t>5’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149901" y="2286000"/>
            <a:ext cx="195315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Buat wireframe cepat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249363" y="1828800"/>
            <a:ext cx="2099462" cy="1371600"/>
          </a:xfrm>
          <a:prstGeom prst="roundRect">
            <a:avLst>
              <a:gd name="adj" fmla="val 5333"/>
            </a:avLst>
          </a:prstGeom>
          <a:solidFill>
            <a:srgbClr val="FFF1D6"/>
          </a:solidFill>
          <a:ln w="12700">
            <a:solidFill>
              <a:srgbClr val="FFF1D6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22515" y="1938528"/>
            <a:ext cx="195315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5’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322515" y="2286000"/>
            <a:ext cx="195315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Tentukan grid responsif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9421978" y="1828800"/>
            <a:ext cx="2099462" cy="1371600"/>
          </a:xfrm>
          <a:prstGeom prst="roundRect">
            <a:avLst>
              <a:gd name="adj" fmla="val 5333"/>
            </a:avLst>
          </a:prstGeom>
          <a:solidFill>
            <a:srgbClr val="EAF3FF"/>
          </a:solidFill>
          <a:ln w="12700">
            <a:solidFill>
              <a:srgbClr val="EAF3FF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495130" y="1938528"/>
            <a:ext cx="195315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4ED8"/>
                </a:solidFill>
              </a:rPr>
              <a:t>5’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495130" y="2286000"/>
            <a:ext cx="195315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Tambah ide AI/Web3 dan risiko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1005840" y="41605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B67"/>
                </a:solidFill>
              </a:rPr>
              <a:t>Selama demo, tanyakan: “Kenapa section ini diperlukan?” dan “Apa manfaatnya untuk pengguna?”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</a:rPr>
              <a:t>PERTEMUAN 7 • CPMK51 Integratif / Sub-CPMK51.1–51.5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B67"/>
                </a:solidFill>
              </a:rPr>
              <a:t>Panduan Praktikum 50 Menit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060704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Gunakan sesi praktik untuk menghasilkan bukti rancangan yang siap dikembangkan.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6519672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TI401 • Pengembangan Desain Web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155680" y="646480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73B67"/>
                </a:solidFill>
              </a:rPr>
              <a:t>21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94360" y="1737360"/>
            <a:ext cx="1767840" cy="1280160"/>
          </a:xfrm>
          <a:prstGeom prst="roundRect">
            <a:avLst>
              <a:gd name="adj" fmla="val 5714"/>
            </a:avLst>
          </a:prstGeom>
          <a:solidFill>
            <a:srgbClr val="EAF3FF"/>
          </a:solidFill>
          <a:ln w="12700">
            <a:solidFill>
              <a:srgbClr val="EAF3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7512" y="1847088"/>
            <a:ext cx="1621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4ED8"/>
                </a:solidFill>
              </a:rPr>
              <a:t>5’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67512" y="2194560"/>
            <a:ext cx="16215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Setup folder &amp; README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435352" y="1737360"/>
            <a:ext cx="1767840" cy="1280160"/>
          </a:xfrm>
          <a:prstGeom prst="roundRect">
            <a:avLst>
              <a:gd name="adj" fmla="val 5714"/>
            </a:avLst>
          </a:prstGeom>
          <a:solidFill>
            <a:srgbClr val="FFF1D6"/>
          </a:solidFill>
          <a:ln w="12700">
            <a:solidFill>
              <a:srgbClr val="FFF1D6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08504" y="1847088"/>
            <a:ext cx="1621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10’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508504" y="2194560"/>
            <a:ext cx="16215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Problem statement &amp; target pengguna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276344" y="1737360"/>
            <a:ext cx="1767840" cy="1280160"/>
          </a:xfrm>
          <a:prstGeom prst="roundRect">
            <a:avLst>
              <a:gd name="adj" fmla="val 5714"/>
            </a:avLst>
          </a:prstGeom>
          <a:solidFill>
            <a:srgbClr val="EAF3FF"/>
          </a:solidFill>
          <a:ln w="12700">
            <a:solidFill>
              <a:srgbClr val="EAF3F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49496" y="1847088"/>
            <a:ext cx="1621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4ED8"/>
                </a:solidFill>
              </a:rPr>
              <a:t>10’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349496" y="2194560"/>
            <a:ext cx="16215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Struktur konten &amp; section HTML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117336" y="1737360"/>
            <a:ext cx="1767840" cy="1280160"/>
          </a:xfrm>
          <a:prstGeom prst="roundRect">
            <a:avLst>
              <a:gd name="adj" fmla="val 5714"/>
            </a:avLst>
          </a:prstGeom>
          <a:solidFill>
            <a:srgbClr val="FFF1D6"/>
          </a:solidFill>
          <a:ln w="12700">
            <a:solidFill>
              <a:srgbClr val="FFF1D6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90488" y="1847088"/>
            <a:ext cx="1621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10’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190488" y="2194560"/>
            <a:ext cx="16215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Wireframe &amp; responsif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958328" y="1737360"/>
            <a:ext cx="1767840" cy="1280160"/>
          </a:xfrm>
          <a:prstGeom prst="roundRect">
            <a:avLst>
              <a:gd name="adj" fmla="val 5714"/>
            </a:avLst>
          </a:prstGeom>
          <a:solidFill>
            <a:srgbClr val="EAF3FF"/>
          </a:solidFill>
          <a:ln w="12700">
            <a:solidFill>
              <a:srgbClr val="EAF3FF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31480" y="1847088"/>
            <a:ext cx="1621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4ED8"/>
                </a:solidFill>
              </a:rPr>
              <a:t>10’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031480" y="2194560"/>
            <a:ext cx="16215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Ide AI/Web3 + risiko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9799320" y="1737360"/>
            <a:ext cx="1767840" cy="1280160"/>
          </a:xfrm>
          <a:prstGeom prst="roundRect">
            <a:avLst>
              <a:gd name="adj" fmla="val 5714"/>
            </a:avLst>
          </a:prstGeom>
          <a:solidFill>
            <a:srgbClr val="FFF1D6"/>
          </a:solidFill>
          <a:ln w="12700">
            <a:solidFill>
              <a:srgbClr val="FFF1D6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872472" y="1847088"/>
            <a:ext cx="1621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5’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872472" y="2194560"/>
            <a:ext cx="16215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Checklist &amp; unggah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1097280" y="3977640"/>
            <a:ext cx="9966960" cy="914400"/>
          </a:xfrm>
          <a:prstGeom prst="roundRect">
            <a:avLst>
              <a:gd name="adj" fmla="val 8000"/>
            </a:avLst>
          </a:prstGeom>
          <a:solidFill>
            <a:srgbClr val="FFF1D6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298448" y="4142232"/>
            <a:ext cx="9564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B67"/>
                </a:solidFill>
              </a:rPr>
              <a:t>Output praktikum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298448" y="4526280"/>
            <a:ext cx="956462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</a:rPr>
              <a:t>Folder 07_mini-project-design-ai-web3 berisi README.md, index.html awal, wireframe, serta catatan ide dan risiko AI/Web3.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</a:rPr>
              <a:t>PERTEMUAN 7 • CPMK51 Integratif / Sub-CPMK51.1–51.5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B67"/>
                </a:solidFill>
              </a:rPr>
              <a:t>Rubrik Umpan Balik Cepat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060704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Rubrik digunakan untuk memberi arahan formatif sebelum UTS.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6519672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TI401 • Pengembangan Desain Web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155680" y="646480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73B67"/>
                </a:solidFill>
              </a:rPr>
              <a:t>22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914400" y="1508760"/>
            <a:ext cx="914400" cy="502920"/>
          </a:xfrm>
          <a:prstGeom prst="roundRect">
            <a:avLst>
              <a:gd name="adj" fmla="val 9091"/>
            </a:avLst>
          </a:prstGeom>
          <a:solidFill>
            <a:srgbClr val="EAF3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664208"/>
            <a:ext cx="731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3B67"/>
                </a:solidFill>
              </a:rPr>
              <a:t>20%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057400" y="1618488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B67"/>
                </a:solidFill>
              </a:rPr>
              <a:t>Kebutuhan pengguna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349240" y="1627632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</a:rPr>
              <a:t>Masalah dan target pengguna jelas.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14400" y="2350008"/>
            <a:ext cx="914400" cy="502920"/>
          </a:xfrm>
          <a:prstGeom prst="roundRect">
            <a:avLst>
              <a:gd name="adj" fmla="val 9091"/>
            </a:avLst>
          </a:prstGeom>
          <a:solidFill>
            <a:srgbClr val="FFF1D6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2505456"/>
            <a:ext cx="731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3B67"/>
                </a:solidFill>
              </a:rPr>
              <a:t>20%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057400" y="2459736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B67"/>
                </a:solidFill>
              </a:rPr>
              <a:t>Struktur konten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349240" y="2468880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</a:rPr>
              <a:t>Section dan urutan informasi logis.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14400" y="3191256"/>
            <a:ext cx="914400" cy="502920"/>
          </a:xfrm>
          <a:prstGeom prst="roundRect">
            <a:avLst>
              <a:gd name="adj" fmla="val 9091"/>
            </a:avLst>
          </a:prstGeom>
          <a:solidFill>
            <a:srgbClr val="EAF3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3346704"/>
            <a:ext cx="731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3B67"/>
                </a:solidFill>
              </a:rPr>
              <a:t>20%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057400" y="3300984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B67"/>
                </a:solidFill>
              </a:rPr>
              <a:t>HTML semantik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349240" y="3310128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</a:rPr>
              <a:t>Elemen header, main, section, footer tepat.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14400" y="4032504"/>
            <a:ext cx="914400" cy="502920"/>
          </a:xfrm>
          <a:prstGeom prst="roundRect">
            <a:avLst>
              <a:gd name="adj" fmla="val 9091"/>
            </a:avLst>
          </a:prstGeom>
          <a:solidFill>
            <a:srgbClr val="FFF1D6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5840" y="4187952"/>
            <a:ext cx="731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3B67"/>
                </a:solidFill>
              </a:rPr>
              <a:t>20%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057400" y="4142232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B67"/>
                </a:solidFill>
              </a:rPr>
              <a:t>Responsif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349240" y="4151376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</a:rPr>
              <a:t>Rancangan mobile/tablet/desktop dipikirkan.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914400" y="4873752"/>
            <a:ext cx="914400" cy="502920"/>
          </a:xfrm>
          <a:prstGeom prst="roundRect">
            <a:avLst>
              <a:gd name="adj" fmla="val 9091"/>
            </a:avLst>
          </a:prstGeom>
          <a:solidFill>
            <a:srgbClr val="EAF3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05840" y="5029200"/>
            <a:ext cx="731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3B67"/>
                </a:solidFill>
              </a:rPr>
              <a:t>20%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057400" y="4983480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B67"/>
                </a:solidFill>
              </a:rPr>
              <a:t>Konteks modern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349240" y="4992624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</a:rPr>
              <a:t>Ide AI/Web3 relevan dan disertai risiko.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</a:rPr>
              <a:t>PERTEMUAN 7 • CPMK51 Integratif / Sub-CPMK51.1–51.5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B67"/>
                </a:solidFill>
              </a:rPr>
              <a:t>Checklist Sebelum Dikumpulkan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060704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Gunakan checklist ini agar hasil mini project tidak sekadar “ada file”.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6519672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TI401 • Pengembangan Desain Web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155680" y="646480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73B67"/>
                </a:solidFill>
              </a:rPr>
              <a:t>23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43000" y="1645920"/>
            <a:ext cx="9875520" cy="3520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</a:rPr>
              <a:t>README berisi nama proyek, masalah pengguna, target pengguna, dan tujuan halaman.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</a:rPr>
              <a:t>Wireframe menunjukkan navbar, hero, informasi utama, card, CTA/form, dan footer.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</a:rPr>
              <a:t>Struktur HTML awal memakai elemen semantik yang tepat.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</a:rPr>
              <a:t>Strategi responsif tertulis untuk mobile, tablet, dan desktop.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</a:rPr>
              <a:t>Ide AI atau Web3 memiliki manfaat dan risiko yang dijelaskan.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</a:rPr>
              <a:t>Folder rapi dan siap dibuka di GitHub Pages.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80160" y="553212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</a:rPr>
              <a:t>Bukti minimal: README + wireframe + index.html awal + link/folder kerja.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pic>
        <p:nvPicPr>
          <p:cNvPr id="3" name="Image 0" descr="/mnt/data/a_bright_modern_vector_illustration_scene_of_a_co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777240"/>
            <a:ext cx="4937760" cy="5074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5800" y="82296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B67"/>
                </a:solidFill>
              </a:rPr>
              <a:t>Refleksi &amp; Penutup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822960" y="1600200"/>
            <a:ext cx="5166360" cy="3200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</a:rPr>
              <a:t>Bagian mana yang paling sulit saat mengubah kebutuhan menjadi layout?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</a:rPr>
              <a:t>Apakah struktur halaman sudah mudah dipahami pengguna?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</a:rPr>
              <a:t>Ide AI/Web3 apa yang benar-benar memberi nilai, bukan hanya tempelan?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</a:rPr>
              <a:t>Pertemuan berikutnya: UTS evaluasi CPMK51. Setelah UTS, pembelajaran dilanjutkan ke JavaScript Dasar.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822960" y="5230368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</a:rPr>
              <a:t>Belajar • Rancang • Praktik • Evaluasi • Kembangkan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02920" y="6519672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TI401 • Pengembangan Desain Web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11155680" y="646480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73B67"/>
                </a:solidFill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Program Studi Teknologi Informasi UMY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Pertemuan 7 — Mini Project Design &amp; Pengenalan AI/Web3</dc:title>
  <dc:subject>TI401 Pertemuan 7</dc:subject>
  <dc:creator>TI UMY Official</dc:creator>
  <cp:lastModifiedBy>TI UMY Official</cp:lastModifiedBy>
  <cp:revision>1</cp:revision>
  <dcterms:created xsi:type="dcterms:W3CDTF">2026-07-23T05:30:07Z</dcterms:created>
  <dcterms:modified xsi:type="dcterms:W3CDTF">2026-07-23T05:30:07Z</dcterms:modified>
</cp:coreProperties>
</file>