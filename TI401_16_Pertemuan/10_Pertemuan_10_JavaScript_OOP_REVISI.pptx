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PERTEMUAN 10 • CPMK52 / Sub-CPMK52.2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5806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JavaScript OOP: Class, Object, dan Method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02336" y="1481328"/>
            <a:ext cx="5669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t>Target 100 menit: mahasiswa mampu membangun struktur program modular menggunakan class, object, property, dan method.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01</a:t>
            </a:r>
            <a:endParaRPr lang="en-US" sz="900" dirty="0"/>
          </a:p>
        </p:txBody>
      </p:sp>
      <p:pic>
        <p:nvPicPr>
          <p:cNvPr id="8" name="Image 0" descr="/mnt/data/a_bright_clean_vector_illustration_style_classro.png">    </p:cNvPr>
          <p:cNvPicPr>
            <a:picLocks noChangeAspect="1"/>
          </p:cNvPicPr>
          <p:nvPr/>
        </p:nvPicPr>
        <p:blipFill>
          <a:blip r:embed="rId1"/>
          <a:srcRect l="9655" r="9655" t="0" b="0"/>
          <a:stretch/>
        </p:blipFill>
        <p:spPr>
          <a:xfrm>
            <a:off x="6446520" y="658368"/>
            <a:ext cx="5440680" cy="3794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2336" y="1938528"/>
            <a:ext cx="5486400" cy="384048"/>
          </a:xfrm>
          <a:prstGeom prst="roundRect">
            <a:avLst>
              <a:gd name="adj" fmla="val 11905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02336" y="1975104"/>
            <a:ext cx="548640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Capaian: membangun struktur program modular dengan class dan object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2651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B67"/>
                </a:solidFill>
              </a:rPr>
              <a:t>Alur Pembelajaran 100 Menit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411480" y="31546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11480" y="3191256"/>
            <a:ext cx="7132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10’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80160" y="31729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D5562"/>
                </a:solidFill>
              </a:rPr>
              <a:t>Orientasi: dari fungsi biasa ke OOP</a:t>
            </a:r>
            <a:endParaRPr lang="en-US" sz="1140" dirty="0"/>
          </a:p>
        </p:txBody>
      </p:sp>
      <p:sp>
        <p:nvSpPr>
          <p:cNvPr id="15" name="Shape 12"/>
          <p:cNvSpPr/>
          <p:nvPr/>
        </p:nvSpPr>
        <p:spPr>
          <a:xfrm>
            <a:off x="411480" y="358444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11480" y="3621024"/>
            <a:ext cx="7132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15’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280160" y="360273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D5562"/>
                </a:solidFill>
              </a:rPr>
              <a:t>Konsep class, object, property, method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411480" y="40142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11480" y="4050792"/>
            <a:ext cx="7132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20’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80160" y="403250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D5562"/>
                </a:solidFill>
              </a:rPr>
              <a:t>Constructor, this, dan instantiation</a:t>
            </a:r>
            <a:endParaRPr lang="en-US" sz="1140" dirty="0"/>
          </a:p>
        </p:txBody>
      </p:sp>
      <p:sp>
        <p:nvSpPr>
          <p:cNvPr id="21" name="Shape 18"/>
          <p:cNvSpPr/>
          <p:nvPr/>
        </p:nvSpPr>
        <p:spPr>
          <a:xfrm>
            <a:off x="411480" y="444398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11480" y="4480560"/>
            <a:ext cx="7132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20’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280160" y="44622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D5562"/>
                </a:solidFill>
              </a:rPr>
              <a:t>Inheritance, super, dan reusable behavior</a:t>
            </a:r>
            <a:endParaRPr lang="en-US" sz="1140" dirty="0"/>
          </a:p>
        </p:txBody>
      </p:sp>
      <p:sp>
        <p:nvSpPr>
          <p:cNvPr id="24" name="Shape 21"/>
          <p:cNvSpPr/>
          <p:nvPr/>
        </p:nvSpPr>
        <p:spPr>
          <a:xfrm>
            <a:off x="411480" y="4873752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11480" y="4910328"/>
            <a:ext cx="7132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25’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280160" y="48920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D5562"/>
                </a:solidFill>
              </a:rPr>
              <a:t>Demo + praktik mini project object list</a:t>
            </a:r>
            <a:endParaRPr lang="en-US" sz="1140" dirty="0"/>
          </a:p>
        </p:txBody>
      </p:sp>
      <p:sp>
        <p:nvSpPr>
          <p:cNvPr id="27" name="Shape 24"/>
          <p:cNvSpPr/>
          <p:nvPr/>
        </p:nvSpPr>
        <p:spPr>
          <a:xfrm>
            <a:off x="411480" y="530352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11480" y="5340096"/>
            <a:ext cx="7132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10’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280160" y="53218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4D5562"/>
                </a:solidFill>
              </a:rPr>
              <a:t>Refleksi, debugging, dan rangkuman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6858000" y="470916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7022592" y="484632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Inti OOP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022592" y="5148072"/>
            <a:ext cx="40599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t>Class adalah cetak biru; object adalah instance. Property menyimpan data/state, method menyimpan perilaku.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Mengapa Kita Membutuhkan OOP?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02</a:t>
            </a:r>
            <a:endParaRPr lang="en-US" sz="900" dirty="0"/>
          </a:p>
        </p:txBody>
      </p:sp>
      <p:pic>
        <p:nvPicPr>
          <p:cNvPr id="7" name="Image 0" descr="/mnt/data/a_bright_clean_vector_illustration_style_classro_batch_2.png">    </p:cNvPr>
          <p:cNvPicPr>
            <a:picLocks noChangeAspect="1"/>
          </p:cNvPicPr>
          <p:nvPr/>
        </p:nvPicPr>
        <p:blipFill>
          <a:blip r:embed="rId1"/>
          <a:srcRect l="5445" r="5445" t="0" b="0"/>
          <a:stretch/>
        </p:blipFill>
        <p:spPr>
          <a:xfrm>
            <a:off x="6583680" y="960120"/>
            <a:ext cx="521208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7"/>
                </a:solidFill>
              </a:rPr>
              <a:t>Masalah umum saat aplikasi mulai membesar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184708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1783080"/>
            <a:ext cx="5074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D5562"/>
                </a:solidFill>
              </a:rPr>
              <a:t>Kode fungsi terpisah sulit dilacak ketika fitur bertambah.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48640" y="225856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77240" y="2194560"/>
            <a:ext cx="5074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D5562"/>
                </a:solidFill>
              </a:rPr>
              <a:t>Data mahasiswa, produk, atau user sering tersebar di banyak variabel.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548640" y="267004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77240" y="2606040"/>
            <a:ext cx="5074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D5562"/>
                </a:solidFill>
              </a:rPr>
              <a:t>Perubahan kecil bisa memengaruhi banyak bagian kode.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548640" y="308152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77240" y="3017520"/>
            <a:ext cx="5074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D5562"/>
                </a:solidFill>
              </a:rPr>
              <a:t>Sulit membuat banyak entitas dengan struktur yang sama.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566928" y="4069080"/>
            <a:ext cx="5074920" cy="1463040"/>
          </a:xfrm>
          <a:prstGeom prst="roundRect">
            <a:avLst>
              <a:gd name="adj" fmla="val 4375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31520" y="4178808"/>
            <a:ext cx="474573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nama1 = 'Ayu';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nim1 = '2026001';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nama2 = 'Bima';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nim2 = '2026002';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tampil(nama, nim)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nama + ' - ' + nim;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6720840" y="4498848"/>
            <a:ext cx="4434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885432" y="4636008"/>
            <a:ext cx="4105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D57"/>
                </a:solidFill>
              </a:rPr>
              <a:t>Solusi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85432" y="4937760"/>
            <a:ext cx="41056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Bungkus data dan perilaku dalam satu struktur: class → object → method.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Prasyarat &amp; Posisi Pertemuan 10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651199" cy="617220"/>
          </a:xfrm>
          <a:prstGeom prst="rect">
            <a:avLst/>
          </a:prstGeom>
          <a:solidFill>
            <a:srgbClr val="173B67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1243584"/>
            <a:ext cx="3504895" cy="5074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Sebelumnya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199839" y="1188720"/>
            <a:ext cx="3761842" cy="617220"/>
          </a:xfrm>
          <a:prstGeom prst="rect">
            <a:avLst/>
          </a:prstGeom>
          <a:solidFill>
            <a:srgbClr val="173B67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272991" y="1243584"/>
            <a:ext cx="3615538" cy="5074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Hari Ini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961681" y="1188720"/>
            <a:ext cx="3651199" cy="617220"/>
          </a:xfrm>
          <a:prstGeom prst="rect">
            <a:avLst/>
          </a:prstGeom>
          <a:solidFill>
            <a:srgbClr val="173B67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34833" y="1243584"/>
            <a:ext cx="3504895" cy="5074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Setelah Ini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48640" y="1805940"/>
            <a:ext cx="3651199" cy="61722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1792" y="1860804"/>
            <a:ext cx="3504895" cy="5074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JavaScript dasar: variabel, tipe data, operator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199839" y="1805940"/>
            <a:ext cx="3761842" cy="61722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72991" y="1860804"/>
            <a:ext cx="3615538" cy="5074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OOP: class, object, constructor, method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961681" y="1805940"/>
            <a:ext cx="3651199" cy="61722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034833" y="1860804"/>
            <a:ext cx="3504895" cy="5074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DOM: objek HTML dan event handling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548640" y="2423160"/>
            <a:ext cx="3651199" cy="61722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" y="2478024"/>
            <a:ext cx="3504895" cy="5074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Condition dan loop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199839" y="2423160"/>
            <a:ext cx="3761842" cy="61722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272991" y="2478024"/>
            <a:ext cx="3615538" cy="5074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t>this, object list, dan pengantar inheritance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961681" y="2423160"/>
            <a:ext cx="3651199" cy="61722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034833" y="2478024"/>
            <a:ext cx="3504895" cy="5074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Interaktivitas halaman web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48640" y="3040380"/>
            <a:ext cx="3651199" cy="61722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1792" y="3095244"/>
            <a:ext cx="3504895" cy="5074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Function dan array dasar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199839" y="3040380"/>
            <a:ext cx="3761842" cy="61722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272991" y="3095244"/>
            <a:ext cx="3615538" cy="5074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Object list dan mini project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961681" y="3040380"/>
            <a:ext cx="3651199" cy="61722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034833" y="3095244"/>
            <a:ext cx="3504895" cy="5074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Manipulasi UI dengan JavaScript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713232" y="4096512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77824" y="423367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Input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7824" y="4535424"/>
            <a:ext cx="27797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Mahasiswa sudah memahami variabel, function, array, dan console browser.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17136" y="4096512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681728" y="423367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Proses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81728" y="4535424"/>
            <a:ext cx="27797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Mengorganisasi kode menggunakan class dan object.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21040" y="4096512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485632" y="423367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D57"/>
                </a:solidFill>
              </a:rPr>
              <a:t>Output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85632" y="4535424"/>
            <a:ext cx="27797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Kode lebih modular, reusable, dan siap dipakai untuk DOM.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Analogi: Class adalah Cetak Biru, Object adalah Hasil Nyata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04</a:t>
            </a:r>
            <a:endParaRPr lang="en-US" sz="900" dirty="0"/>
          </a:p>
        </p:txBody>
      </p:sp>
      <p:pic>
        <p:nvPicPr>
          <p:cNvPr id="7" name="Image 0" descr="/mnt/data/a_clean_flat_infographic_diagram_on_a_white_back.png">    </p:cNvPr>
          <p:cNvPicPr>
            <a:picLocks noChangeAspect="1"/>
          </p:cNvPicPr>
          <p:nvPr/>
        </p:nvPicPr>
        <p:blipFill>
          <a:blip r:embed="rId1"/>
          <a:srcRect l="0" r="0" t="21945" b="21945"/>
          <a:stretch/>
        </p:blipFill>
        <p:spPr>
          <a:xfrm>
            <a:off x="457200" y="1051560"/>
            <a:ext cx="1129284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498348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14400" y="5020056"/>
            <a:ext cx="201168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 = blueprint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498348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2E9D57"/>
          </a:solidFill>
          <a:ln w="12700">
            <a:solidFill>
              <a:srgbClr val="2E9D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337560" y="5020056"/>
            <a:ext cx="219456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 = instance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89320" y="498348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89320" y="5020056"/>
            <a:ext cx="219456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Property = state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549640" y="4983480"/>
            <a:ext cx="2194560" cy="411480"/>
          </a:xfrm>
          <a:prstGeom prst="roundRect">
            <a:avLst>
              <a:gd name="adj" fmla="val 11111"/>
            </a:avLst>
          </a:prstGeom>
          <a:solidFill>
            <a:srgbClr val="6A4DBA"/>
          </a:solidFill>
          <a:ln w="12700">
            <a:solidFill>
              <a:srgbClr val="6A4DB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549640" y="5020056"/>
            <a:ext cx="219456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Method = behavior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14400" y="55778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4D5562"/>
                </a:solidFill>
              </a:rPr>
              <a:t>Gunakan analogi benda nyata: Mobil memiliki warna dan merek; Mobil juga bisa start(), stop(), dan berjalan().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Konsep Inti OOP untuk Pertemuan 10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0392" y="137160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Class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1673352"/>
            <a:ext cx="47457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Cetak biru atau template struktur data dan perilaku.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55080" y="123444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19672" y="137160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D57"/>
                </a:solidFill>
              </a:rPr>
              <a:t>Object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19672" y="1673352"/>
            <a:ext cx="47457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Instance nyata dari class yang memiliki nilai property sendiri.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24612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0392" y="338328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Encapsulation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" y="3685032"/>
            <a:ext cx="47457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Data dan perilaku dikelompokkan agar kode lebih aman dan rapi.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55080" y="324612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6A4DB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19672" y="3383280"/>
            <a:ext cx="4745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A4DBA"/>
                </a:solidFill>
              </a:rPr>
              <a:t>Inheritance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9672" y="3685032"/>
            <a:ext cx="47457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Class baru dapat mewarisi property dan method dari class lain.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88920" y="5349240"/>
            <a:ext cx="6537960" cy="868680"/>
          </a:xfrm>
          <a:prstGeom prst="roundRect">
            <a:avLst>
              <a:gd name="adj" fmla="val 7368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953512" y="5458968"/>
            <a:ext cx="620877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Mahasiswa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constructor(nim, nama)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this.nim = nim;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this.nama = nama;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perkenalan()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`Halo, saya ${this.nama}`;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Dari Object Literal ke Class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120640" cy="4069080"/>
          </a:xfrm>
          <a:prstGeom prst="roundRect">
            <a:avLst>
              <a:gd name="adj" fmla="val 1573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344168"/>
            <a:ext cx="4791456" cy="3849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mhs1 =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nim: '2026001',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nama: 'Ayu',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sapa() { return 'Halo ' + this.nama;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mhs2 =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nim: '2026002',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nama: 'Bima',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sapa() { return 'Halo ' + this.nama;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400800" y="1234440"/>
            <a:ext cx="5120640" cy="4069080"/>
          </a:xfrm>
          <a:prstGeom prst="roundRect">
            <a:avLst>
              <a:gd name="adj" fmla="val 1573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65392" y="1344168"/>
            <a:ext cx="4791456" cy="3849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Mahasiswa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constructor(nim, nama)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this.nim = nim;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this.nama = nama;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sapa()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'Halo ' + this.nama;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mhs1 = new Mahasiswa('2026001', 'Ayu');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mhs2 = new Mahasiswa('2026002', 'Bima');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097280" y="5486400"/>
            <a:ext cx="3566160" cy="320040"/>
          </a:xfrm>
          <a:prstGeom prst="roundRect">
            <a:avLst>
              <a:gd name="adj" fmla="val 14286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5522976"/>
            <a:ext cx="356616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 literal: cocok untuk data tunggal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5486400"/>
            <a:ext cx="3566160" cy="320040"/>
          </a:xfrm>
          <a:prstGeom prst="roundRect">
            <a:avLst>
              <a:gd name="adj" fmla="val 14286"/>
            </a:avLst>
          </a:prstGeom>
          <a:solidFill>
            <a:srgbClr val="2E9D57"/>
          </a:solidFill>
          <a:ln w="12700">
            <a:solidFill>
              <a:srgbClr val="2E9D5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086600" y="5522976"/>
            <a:ext cx="356616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Class: cocok untuk banyak object sejenis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Anatomi Class JavaScript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5486400" cy="4389120"/>
          </a:xfrm>
          <a:prstGeom prst="roundRect">
            <a:avLst>
              <a:gd name="adj" fmla="val 1458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298448"/>
            <a:ext cx="5157216" cy="416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t>class Produk {</a:t>
            </a:r>
            <a:endParaRPr lang="en-US" sz="920" dirty="0"/>
          </a:p>
          <a:p>
            <a:r>
              <a:t>  constructor(nama, harga) {</a:t>
            </a:r>
          </a:p>
          <a:p>
            <a:r>
              <a:t>    this.nama = nama;       // property</a:t>
            </a:r>
          </a:p>
          <a:p>
            <a:r>
              <a:t>    this.harga = harga;     // property</a:t>
            </a:r>
          </a:p>
          <a:p>
            <a:r>
              <a:t>  }</a:t>
            </a:r>
          </a:p>
          <a:p/>
          <a:p>
            <a:r>
              <a:t>  info() {                  // method</a:t>
            </a:r>
          </a:p>
          <a:p>
            <a:r>
              <a:t>    return `${this.nama}: Rp${this.harga}`;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const buku = new Produk('Buku JS', 75000);</a:t>
            </a:r>
          </a:p>
        </p:txBody>
      </p:sp>
      <p:sp>
        <p:nvSpPr>
          <p:cNvPr id="9" name="Shape 7"/>
          <p:cNvSpPr/>
          <p:nvPr/>
        </p:nvSpPr>
        <p:spPr>
          <a:xfrm>
            <a:off x="6446520" y="141732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11112" y="155448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class Produk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11112" y="1856232"/>
            <a:ext cx="405993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Nama class biasanya menggunakan PascalCase.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46520" y="233172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11112" y="246888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constructor()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1112" y="2770632"/>
            <a:ext cx="405993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Method khusus yang otomatis dipanggil saat object dibuat.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46520" y="324612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11112" y="338328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D57"/>
                </a:solidFill>
              </a:rPr>
              <a:t>this.nama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11112" y="3685032"/>
            <a:ext cx="405993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this menunjuk pada object yang sedang dibuat atau digunakan.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416052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6A4DB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11112" y="429768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A4DBA"/>
                </a:solidFill>
              </a:rPr>
              <a:t>info()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1112" y="4599432"/>
            <a:ext cx="405993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Method menyimpan perilaku yang dimiliki object.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Constructor: Mengisi Nilai Awal Object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943600" cy="3246120"/>
          </a:xfrm>
          <a:prstGeom prst="roundRect">
            <a:avLst>
              <a:gd name="adj" fmla="val 1972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344168"/>
            <a:ext cx="5614416" cy="3026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constructor(username, email, role = 'student')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this.username = username;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this.email = email;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this.role = role;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admin = new User('admin01', 'admin@umy.ac.id', 'admin');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mhs = new User('ti2026', 'ti2026@student.umy.ac.id');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90372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67"/>
                </a:solidFill>
              </a:rPr>
              <a:t>Saat new User(...) dipanggil: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95160" y="1847088"/>
            <a:ext cx="128016" cy="12801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223760" y="1783080"/>
            <a:ext cx="39776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D5562"/>
                </a:solidFill>
              </a:rPr>
              <a:t>Memory object baru dibuat.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95160" y="2286000"/>
            <a:ext cx="128016" cy="12801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223760" y="2221992"/>
            <a:ext cx="39776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D5562"/>
                </a:solidFill>
              </a:rPr>
              <a:t>constructor() dijalankan.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95160" y="2724912"/>
            <a:ext cx="128016" cy="12801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23760" y="2660904"/>
            <a:ext cx="39776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D5562"/>
                </a:solidFill>
              </a:rPr>
              <a:t>Parameter masuk ke property.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95160" y="3163824"/>
            <a:ext cx="128016" cy="12801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223760" y="3099816"/>
            <a:ext cx="39776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D5562"/>
                </a:solidFill>
              </a:rPr>
              <a:t>Object siap digunakan.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03720" y="42519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68312" y="4389120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D57"/>
                </a:solidFill>
              </a:rPr>
              <a:t>Default parameter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68312" y="4690872"/>
            <a:ext cx="37856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role = 'student' membuat nilai bawaan jika argument tidak dikirim.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Property: Menyimpan State Object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5562"/>
                </a:solidFill>
              </a:rPr>
              <a:t>Property menggambarkan data yang melekat pada object.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645920"/>
            <a:ext cx="1659636" cy="533400"/>
          </a:xfrm>
          <a:prstGeom prst="rect">
            <a:avLst/>
          </a:prstGeom>
          <a:solidFill>
            <a:srgbClr val="173B67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700784"/>
            <a:ext cx="1513332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Object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253996" y="1645920"/>
            <a:ext cx="1659636" cy="533400"/>
          </a:xfrm>
          <a:prstGeom prst="rect">
            <a:avLst/>
          </a:prstGeom>
          <a:solidFill>
            <a:srgbClr val="173B67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327148" y="1700784"/>
            <a:ext cx="1513332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Property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913632" y="1645920"/>
            <a:ext cx="1709928" cy="533400"/>
          </a:xfrm>
          <a:prstGeom prst="rect">
            <a:avLst/>
          </a:prstGeom>
          <a:solidFill>
            <a:srgbClr val="173B67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986784" y="1700784"/>
            <a:ext cx="1563624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Contoh Nilai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94360" y="2179320"/>
            <a:ext cx="1659636" cy="53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" y="2234184"/>
            <a:ext cx="1513332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Mahasiswa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253996" y="2179320"/>
            <a:ext cx="1659636" cy="53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327148" y="2234184"/>
            <a:ext cx="1513332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nim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913632" y="2179320"/>
            <a:ext cx="1709928" cy="53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986784" y="2234184"/>
            <a:ext cx="1563624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202601001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94360" y="2712720"/>
            <a:ext cx="1659636" cy="53340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7512" y="2767584"/>
            <a:ext cx="1513332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Mahasiswa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2253996" y="2712720"/>
            <a:ext cx="1659636" cy="53340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327148" y="2767584"/>
            <a:ext cx="1513332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nama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3913632" y="2712720"/>
            <a:ext cx="1709928" cy="53340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986784" y="2767584"/>
            <a:ext cx="1563624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Ayu Lestari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594360" y="3246120"/>
            <a:ext cx="1659636" cy="53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7512" y="3300984"/>
            <a:ext cx="1513332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Mahasiswa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2253996" y="3246120"/>
            <a:ext cx="1659636" cy="53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327148" y="3300984"/>
            <a:ext cx="1513332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ipk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3913632" y="3246120"/>
            <a:ext cx="1709928" cy="53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986784" y="3300984"/>
            <a:ext cx="1563624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3.75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594360" y="3779520"/>
            <a:ext cx="1659636" cy="53340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7512" y="3834384"/>
            <a:ext cx="1513332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Produk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2253996" y="3779520"/>
            <a:ext cx="1659636" cy="53340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327148" y="3834384"/>
            <a:ext cx="1513332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harga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3913632" y="3779520"/>
            <a:ext cx="1709928" cy="53340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986784" y="3834384"/>
            <a:ext cx="1563624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75000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594360" y="4312920"/>
            <a:ext cx="1659636" cy="53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67512" y="4367784"/>
            <a:ext cx="1513332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Produk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2253996" y="4312920"/>
            <a:ext cx="1659636" cy="53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327148" y="4367784"/>
            <a:ext cx="1513332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stok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3913632" y="4312920"/>
            <a:ext cx="1709928" cy="53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986784" y="4367784"/>
            <a:ext cx="1563624" cy="42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12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6400800" y="1645920"/>
            <a:ext cx="4937760" cy="32004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565392" y="1755648"/>
            <a:ext cx="4608576" cy="2980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Mahasiswa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constructor(nim, nama, ipk)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this.nim = nim;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this.nama = nama;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this.ipk = ipk;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ayu = new Mahasiswa('202601001', 'Ayu', 3.75);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console.log(ayu.nama);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2057400" y="516636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2221992" y="5303520"/>
            <a:ext cx="7534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Catatan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221992" y="5605272"/>
            <a:ext cx="7534656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Property dapat berubah sesuai kebutuhan, tetapi perubahan sebaiknya dikendalikan melalui method agar kode lebih rapi.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Method: Menyimpan Behavior Object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5440680" cy="4663440"/>
          </a:xfrm>
          <a:prstGeom prst="roundRect">
            <a:avLst>
              <a:gd name="adj" fmla="val 1373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252728"/>
            <a:ext cx="5111496" cy="4443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Produk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constructor(nama, harga, stok)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this.nama = nama;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this.harga = harga;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this.stok = stok;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tambahStok(jumlah)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this.stok += jumlah;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totalHarga(jumlah)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this.harga * jumlah;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mouse = new Produk('Mouse', 85000, 10);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mouse.tambahStok(5);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65392" y="1554480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Method instance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65392" y="1856232"/>
            <a:ext cx="41513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Dipanggil dari object: mouse.tambahStok(5).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251460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65392" y="2651760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Mengubah state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65392" y="2953512"/>
            <a:ext cx="41513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Method boleh memperbarui property object.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0" y="361188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65392" y="3749040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D57"/>
                </a:solidFill>
              </a:rPr>
              <a:t>Mengembalikan nilai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65392" y="4050792"/>
            <a:ext cx="41513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Method dapat return hasil perhitungan.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0" y="470916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6A4DB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65392" y="4846320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A4DBA"/>
                </a:solidFill>
              </a:rPr>
              <a:t>Best practice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65392" y="5148072"/>
            <a:ext cx="41513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Nama method gunakan kata kerja: tambah, hitung, validasi, tampilkan.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Keyword this: Object yang Sedang Aktif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5212080" cy="4251960"/>
          </a:xfrm>
          <a:prstGeom prst="roundRect">
            <a:avLst>
              <a:gd name="adj" fmla="val 1505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298448"/>
            <a:ext cx="4882896" cy="4032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Counter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this.nilai =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naik()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this.nilai++;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tampil()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this.nilai;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 = new Counter();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c.naik();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console.log(c.tampil()); //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7"/>
                </a:solidFill>
              </a:rPr>
              <a:t>Makna this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184708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12280" y="1783080"/>
            <a:ext cx="42519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this.nilai berarti property nilai milik object Counter yang sedang digunakan.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359152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12280" y="2295144"/>
            <a:ext cx="42519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Dalam method, this membantu object membaca atau mengubah datanya sendiri.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871216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12280" y="2807208"/>
            <a:ext cx="42519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Jika method dipanggil dari object berbeda, this menunjuk object berbeda.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40690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48272" y="4206240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Kesalahan umum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48272" y="4507992"/>
            <a:ext cx="36941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Lupa memakai this saat mengakses property di dalam method.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Instantiating Object dengan new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5760720" cy="4343400"/>
          </a:xfrm>
          <a:prstGeom prst="roundRect">
            <a:avLst>
              <a:gd name="adj" fmla="val 1474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252728"/>
            <a:ext cx="5431536" cy="412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Kelas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constructor(nama, dosen)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this.nama = nama;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this.dosen = dosen;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this.mahasiswa = [];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tambahMahasiswa(nama)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this.mahasiswa.push(nama);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ti401 = new Kelas('Pengembangan Desain Web', 'Dosen TI');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ti401.tambahMahasiswa('Ayu');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ti401.tambahMahasiswa('Bima');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059168" y="15819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79792" y="1572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Definisikan class sebagai template.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2423160"/>
            <a:ext cx="384048" cy="38404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59168" y="24963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79792" y="2487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Gunakan new ClassName(...) untuk membuat object.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3337560"/>
            <a:ext cx="384048" cy="38404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59168" y="34107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79792" y="3401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Akses property dan method dari object.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95160" y="4251960"/>
            <a:ext cx="384048" cy="384048"/>
          </a:xfrm>
          <a:prstGeom prst="ellipse">
            <a:avLst/>
          </a:prstGeom>
          <a:solidFill>
            <a:srgbClr val="6A4DBA"/>
          </a:solidFill>
          <a:ln w="12700">
            <a:solidFill>
              <a:srgbClr val="6A4DB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59168" y="43251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79792" y="43159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Gunakan object dalam logika aplikasi.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Banyak Object dari Satu Class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166360" cy="4114800"/>
          </a:xfrm>
          <a:prstGeom prst="roundRect">
            <a:avLst>
              <a:gd name="adj" fmla="val 1556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344168"/>
            <a:ext cx="4837176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Tugas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constructor(judul, deadline, selesai = false)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this.judul = judul;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this.deadline = deadline;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this.selesai = selesai;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tandaiSelesai()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this.selesai = true;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tugas = [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Tugas('HTML Semantik', '2026-02-20'),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Tugas('Form Registrasi', '2026-02-27'),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Tugas('CSS Dasar', '2026-03-05')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1143000" cy="457200"/>
          </a:xfrm>
          <a:prstGeom prst="rect">
            <a:avLst/>
          </a:prstGeom>
          <a:solidFill>
            <a:srgbClr val="173B67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3952" y="1517904"/>
            <a:ext cx="9966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Object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543800" y="1463040"/>
            <a:ext cx="2286000" cy="457200"/>
          </a:xfrm>
          <a:prstGeom prst="rect">
            <a:avLst/>
          </a:prstGeom>
          <a:solidFill>
            <a:srgbClr val="173B67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616952" y="1517904"/>
            <a:ext cx="21396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Judul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9829800" y="1463040"/>
            <a:ext cx="1143000" cy="457200"/>
          </a:xfrm>
          <a:prstGeom prst="rect">
            <a:avLst/>
          </a:prstGeom>
          <a:solidFill>
            <a:srgbClr val="173B67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902952" y="1517904"/>
            <a:ext cx="9966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Status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400800" y="1920240"/>
            <a:ext cx="11430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73952" y="1975104"/>
            <a:ext cx="9966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tugas[0]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543800" y="1920240"/>
            <a:ext cx="22860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616952" y="1975104"/>
            <a:ext cx="21396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HTML Semantik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9829800" y="1920240"/>
            <a:ext cx="11430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902952" y="1975104"/>
            <a:ext cx="9966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belum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400800" y="2377440"/>
            <a:ext cx="1143000" cy="45720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73952" y="2432304"/>
            <a:ext cx="9966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tugas[1]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543800" y="2377440"/>
            <a:ext cx="2286000" cy="45720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16952" y="2432304"/>
            <a:ext cx="21396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Form Registrasi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9829800" y="2377440"/>
            <a:ext cx="1143000" cy="45720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902952" y="2432304"/>
            <a:ext cx="9966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belum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400800" y="2834640"/>
            <a:ext cx="11430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73952" y="2889504"/>
            <a:ext cx="9966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tugas[2]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543800" y="2834640"/>
            <a:ext cx="22860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616952" y="2889504"/>
            <a:ext cx="21396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CSS Dasar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9829800" y="2834640"/>
            <a:ext cx="11430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902952" y="2889504"/>
            <a:ext cx="99669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belum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400800" y="374904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65392" y="3886200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D57"/>
                </a:solidFill>
              </a:rPr>
              <a:t>Pola penting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65392" y="4187952"/>
            <a:ext cx="42428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Satu class bisa membuat banyak object dengan struktur sama tetapi nilai berbeda.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12280" y="5029200"/>
            <a:ext cx="3749040" cy="384048"/>
          </a:xfrm>
          <a:prstGeom prst="roundRect">
            <a:avLst>
              <a:gd name="adj" fmla="val 11905"/>
            </a:avLst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812280" y="5065776"/>
            <a:ext cx="374904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 → many objects → array of objects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Pengayaan: Encapsulation Mengendalikan Akses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5669280" cy="4617720"/>
          </a:xfrm>
          <a:prstGeom prst="roundRect">
            <a:avLst>
              <a:gd name="adj" fmla="val 1386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252728"/>
            <a:ext cx="5340096" cy="4398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Rekening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#saldo = 0;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constructor(pemilik)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this.pemilik = pemilik;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setor(jumlah)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(jumlah &gt; 0) this.#saldo += jumlah;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lihatSaldo()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this.#saldo;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 = new Rekening('Ayu');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r.setor(100000);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console.log(r.lihatSaldo());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6629400" y="137160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93992" y="150876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#saldo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93992" y="1810512"/>
            <a:ext cx="38313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Private field: tidak dapat diakses langsung dari luar class.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29400" y="242316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93992" y="256032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D57"/>
                </a:solidFill>
              </a:rPr>
              <a:t>setor()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93992" y="2862072"/>
            <a:ext cx="38313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Method menjadi pintu masuk yang memvalidasi perubahan data.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29400" y="347472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93992" y="361188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lihatSaldo()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93992" y="3913632"/>
            <a:ext cx="38313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Data tetap dapat dibaca melalui method yang aman.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29400" y="452628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6A4DB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93992" y="466344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A4DBA"/>
                </a:solidFill>
              </a:rPr>
              <a:t>Tujuan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93992" y="4965192"/>
            <a:ext cx="38313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Mengurangi akses sembarangan dan menjaga konsistensi data object.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Getter dan Setter: Akses Terukur ke Property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5669280" cy="4800600"/>
          </a:xfrm>
          <a:prstGeom prst="roundRect">
            <a:avLst>
              <a:gd name="adj" fmla="val 1333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252728"/>
            <a:ext cx="5340096" cy="4581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Nilai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#angka = 0;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angka(nilaiBaru)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(nilaiBaru &gt;= 0 &amp;&amp; nilaiBaru &lt;= 100)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this.#angka = nilaiBaru;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angka()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this.#angka;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predikat()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(this.#angka &gt;= 80) return 'A';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(this.#angka &gt;= 70) return 'B';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'C';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6537960" y="1335024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69964" y="133959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30568" y="1325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Setter memvalidasi data sebelum property diubah.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37960" y="1883664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69964" y="188823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30568" y="18745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Getter membuat pembacaan data lebih natural.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37960" y="2432304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69964" y="243687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30568" y="24231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Computed property seperti predikat tidak perlu disimpan berulang.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3657600"/>
            <a:ext cx="4297680" cy="1097280"/>
          </a:xfrm>
          <a:prstGeom prst="roundRect">
            <a:avLst>
              <a:gd name="adj" fmla="val 5833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48272" y="3767328"/>
            <a:ext cx="396849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 = new Nilai();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n.angka = 85;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console.log(n.angka);    // 85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console.log(n.predikat); // A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Pengayaan: Inheritance untuk Reuse Kode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532120" cy="4434840"/>
          </a:xfrm>
          <a:prstGeom prst="roundRect">
            <a:avLst>
              <a:gd name="adj" fmla="val 1443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344168"/>
            <a:ext cx="5202936" cy="421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constructor(nama, email)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this.nama = nama;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this.email = email;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login()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this.nama + ' berhasil login';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Admin extends User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hapusData(id)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'Data ' + id + ' dihapus';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admin = new Admin('Dewi', 'dewi@umy.ac.id');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console.log(admin.login());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537960" y="132588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6A4DB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02552" y="146304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A4DBA"/>
                </a:solidFill>
              </a:rPr>
              <a:t>extends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02552" y="1764792"/>
            <a:ext cx="4059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Admin mewarisi property dan method dari User.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37960" y="2395728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02552" y="253288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D57"/>
                </a:solidFill>
              </a:rPr>
              <a:t>Reuse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02552" y="2834640"/>
            <a:ext cx="4059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Method login() tidak perlu ditulis ulang di Admin.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37960" y="3465576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02552" y="3602736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Extend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02552" y="3904488"/>
            <a:ext cx="4059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Admin dapat menambah method khusus seperti hapusData().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37960" y="4535424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02552" y="467258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Hati-hati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02552" y="4974336"/>
            <a:ext cx="4059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Gunakan inheritance saat relasi benar-benar “adalah bagian dari jenis”.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Pengayaan: super() pada Class Turunan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5897880" cy="4709160"/>
          </a:xfrm>
          <a:prstGeom prst="roundRect">
            <a:avLst>
              <a:gd name="adj" fmla="val 1359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252728"/>
            <a:ext cx="5568696" cy="448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constructor(nama, email)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this.nama = nama;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this.email = email;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Mahasiswa extends User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constructor(nama, email, nim)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super(nama, email);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this.nim = nim;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profil()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this.nim + ' - ' + this.nama;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 = new Mahasiswa('Ayu', 'ayu@student.umy.ac.id', '2026001');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90372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7"/>
                </a:solidFill>
              </a:rPr>
              <a:t>Urutan eksekusi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95160" y="1847088"/>
            <a:ext cx="128016" cy="12801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223760" y="1783080"/>
            <a:ext cx="4069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new Mahasiswa(...) dipanggil.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2322576"/>
            <a:ext cx="128016" cy="12801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223760" y="2258568"/>
            <a:ext cx="4069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constructor Mahasiswa berjalan.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2798064"/>
            <a:ext cx="128016" cy="12801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23760" y="2734056"/>
            <a:ext cx="4069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super(nama, email) mengisi property milik User.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3273552"/>
            <a:ext cx="128016" cy="12801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223760" y="3209544"/>
            <a:ext cx="40690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this.nim mengisi property tambahan Mahasiswa.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4754880"/>
            <a:ext cx="4206240" cy="411480"/>
          </a:xfrm>
          <a:prstGeom prst="roundRect">
            <a:avLst>
              <a:gd name="adj" fmla="val 11111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903720" y="4791456"/>
            <a:ext cx="42062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Dalam class turunan, super() wajib sebelum memakai this.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Static Method: Perilaku Milik Class, Bukan Object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669280" cy="3337560"/>
          </a:xfrm>
          <a:prstGeom prst="roundRect">
            <a:avLst>
              <a:gd name="adj" fmla="val 1918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344168"/>
            <a:ext cx="5340096" cy="3118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Validator {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emailValid(email) {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email.includes('@') &amp;&amp; email.includes('.');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passwordKuat(password) {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password.length &gt;= 8;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console.log(Validator.emailValid('user@umy.ac.id'));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console.log(Validator.passwordKuat('rahasia123'));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6492240" y="141732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56832" y="155448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static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56832" y="1856232"/>
            <a:ext cx="4059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Method dipanggil langsung dari class: Validator.emailValid(...).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251460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56832" y="265176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Tidak perlu new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56832" y="2953512"/>
            <a:ext cx="4059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Tidak perlu membuat object Validator untuk menjalankannya.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92240" y="361188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56832" y="374904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D57"/>
                </a:solidFill>
              </a:rPr>
              <a:t>Cocok untuk helper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56832" y="4050792"/>
            <a:ext cx="405993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Validasi, kalkulasi umum, format tanggal, konversi nilai.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Object List: Mengolah Banyak Object dengan Array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5486400" cy="4846320"/>
          </a:xfrm>
          <a:prstGeom prst="roundRect">
            <a:avLst>
              <a:gd name="adj" fmla="val 1321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207008"/>
            <a:ext cx="5157216" cy="4626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Produk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constructor(nama, harga)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this.nama = nama;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this.harga = harga;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diskon(persen)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this.harga - (this.harga * persen / 100);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produk = [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Produk('Keyboard', 200000),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Produk('Mouse', 85000),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Produk('Monitor', 1500000)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murah = produk.filter(p =&gt; p.harga &lt; 300000);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namaProduk = produk.map(p =&gt; p.nama);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1463040" cy="502920"/>
          </a:xfrm>
          <a:prstGeom prst="rect">
            <a:avLst/>
          </a:prstGeom>
          <a:solidFill>
            <a:srgbClr val="173B67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3952" y="1472184"/>
            <a:ext cx="131673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Operasi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863840" y="1417320"/>
            <a:ext cx="3108960" cy="502920"/>
          </a:xfrm>
          <a:prstGeom prst="rect">
            <a:avLst/>
          </a:prstGeom>
          <a:solidFill>
            <a:srgbClr val="173B67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936992" y="1472184"/>
            <a:ext cx="296265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Kegunaan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400800" y="1920240"/>
            <a:ext cx="14630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73952" y="1975104"/>
            <a:ext cx="131673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map()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7863840" y="1920240"/>
            <a:ext cx="31089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936992" y="1975104"/>
            <a:ext cx="296265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Mengubah array object menjadi array baru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400800" y="2423160"/>
            <a:ext cx="1463040" cy="50292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3952" y="2478024"/>
            <a:ext cx="131673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filter()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7863840" y="2423160"/>
            <a:ext cx="3108960" cy="50292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36992" y="2478024"/>
            <a:ext cx="296265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Menyaring object berdasarkan kondisi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400800" y="2926080"/>
            <a:ext cx="14630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73952" y="2980944"/>
            <a:ext cx="131673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find()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863840" y="2926080"/>
            <a:ext cx="31089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936992" y="2980944"/>
            <a:ext cx="296265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Mencari satu object yang cocok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400800" y="3429000"/>
            <a:ext cx="1463040" cy="50292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73952" y="3483864"/>
            <a:ext cx="131673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forEach()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7863840" y="3429000"/>
            <a:ext cx="3108960" cy="50292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936992" y="3483864"/>
            <a:ext cx="296265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Menjalankan proses untuk setiap object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400800" y="3931920"/>
            <a:ext cx="14630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73952" y="3986784"/>
            <a:ext cx="131673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reduce()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7863840" y="3931920"/>
            <a:ext cx="31089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936992" y="3986784"/>
            <a:ext cx="2962656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Menghitung total/ringkasan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400800" y="470916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65392" y="4846320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D57"/>
                </a:solidFill>
              </a:rPr>
              <a:t>Aplikasi nyata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65392" y="5148072"/>
            <a:ext cx="424281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Daftar mahasiswa, daftar produk, daftar tugas, daftar nilai, dan data JSON dari API.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Debugging OOP di Browser Console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5029200" cy="1463040"/>
          </a:xfrm>
          <a:prstGeom prst="roundRect">
            <a:avLst>
              <a:gd name="adj" fmla="val 4375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04672" y="1389888"/>
            <a:ext cx="4700016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 = new Mahasiswa('2026001', 'Ayu');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console.log(m.nama);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console.log(typeof 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 instanceof Mahasiswa);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335024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32804" y="133959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93408" y="1325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Periksa isi object dengan console.log(object).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883664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32804" y="188823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93408" y="18745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Cek property yang undefined akibat salah nama property.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432304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32804" y="243687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93408" y="24231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Gunakan breakpoint saat method mengubah state object.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980944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32804" y="298551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93408" y="29718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Uji output method satu per satu sebelum menggabungkan ke UI.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246120"/>
            <a:ext cx="3712464" cy="457200"/>
          </a:xfrm>
          <a:prstGeom prst="rect">
            <a:avLst/>
          </a:prstGeom>
          <a:solidFill>
            <a:srgbClr val="173B67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13232" y="3300984"/>
            <a:ext cx="3566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Masalah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352544" y="3246120"/>
            <a:ext cx="6894576" cy="457200"/>
          </a:xfrm>
          <a:prstGeom prst="rect">
            <a:avLst/>
          </a:prstGeom>
          <a:solidFill>
            <a:srgbClr val="173B67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425696" y="3300984"/>
            <a:ext cx="674827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Kemungkinan Penyebab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640080" y="3703320"/>
            <a:ext cx="3712464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13232" y="3758184"/>
            <a:ext cx="3566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undefined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352544" y="3703320"/>
            <a:ext cx="6894576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425696" y="3758184"/>
            <a:ext cx="674827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nama property tidak sama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40080" y="4160520"/>
            <a:ext cx="3712464" cy="45720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13232" y="4215384"/>
            <a:ext cx="3566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method is not a function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352544" y="4160520"/>
            <a:ext cx="6894576" cy="45720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425696" y="4215384"/>
            <a:ext cx="674827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object bukan instance class yang benar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40080" y="4617720"/>
            <a:ext cx="3712464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13232" y="4672584"/>
            <a:ext cx="3566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Cannot access private field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4352544" y="4617720"/>
            <a:ext cx="6894576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425696" y="4672584"/>
            <a:ext cx="674827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akses #field dari luar class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640080" y="5074920"/>
            <a:ext cx="3712464" cy="45720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13232" y="5129784"/>
            <a:ext cx="35661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Must call super constructor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4352544" y="5074920"/>
            <a:ext cx="6894576" cy="457200"/>
          </a:xfrm>
          <a:prstGeom prst="rect">
            <a:avLst/>
          </a:prstGeom>
          <a:solidFill>
            <a:srgbClr val="F7FAFE"/>
          </a:solidFill>
          <a:ln w="8890">
            <a:solidFill>
              <a:srgbClr val="D7E3F3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425696" y="5129784"/>
            <a:ext cx="674827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4D5562"/>
                </a:solidFill>
              </a:rPr>
              <a:t>super() belum dipanggil di class turunan</a:t>
            </a:r>
            <a:endParaRPr lang="en-US" sz="8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Mini Project: Student Card Manager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21</a:t>
            </a:r>
            <a:endParaRPr lang="en-US" sz="900" dirty="0"/>
          </a:p>
        </p:txBody>
      </p:sp>
      <p:pic>
        <p:nvPicPr>
          <p:cNvPr id="7" name="Image 0" descr="/mnt/data/a_bright_clean_vector_illustration_style_classro.png">    </p:cNvPr>
          <p:cNvPicPr>
            <a:picLocks noChangeAspect="1"/>
          </p:cNvPicPr>
          <p:nvPr/>
        </p:nvPicPr>
        <p:blipFill>
          <a:blip r:embed="rId1"/>
          <a:srcRect l="4066" r="4066" t="0" b="0"/>
          <a:stretch/>
        </p:blipFill>
        <p:spPr>
          <a:xfrm>
            <a:off x="6400800" y="1097280"/>
            <a:ext cx="507492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234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7"/>
                </a:solidFill>
              </a:rPr>
              <a:t>Output praktik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184708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14400" y="1783080"/>
            <a:ext cx="5166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Membuat class Student dengan property nim, nama, prodi, dan angkatan.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225856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14400" y="2194560"/>
            <a:ext cx="5166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Menambahkan method profil() dan statusAngkatan().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5800" y="267004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4400" y="2606040"/>
            <a:ext cx="5166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Membuat beberapa object mahasiswa dan menyimpannya dalam array.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85800" y="308152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14400" y="3017520"/>
            <a:ext cx="5166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Menampilkan daftar mahasiswa ke console atau halaman HTML sederhana.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" y="349300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14400" y="3429000"/>
            <a:ext cx="5166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562"/>
                </a:solidFill>
              </a:rPr>
              <a:t>Menambah validasi sederhana agar data tidak kosong.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14400" y="47091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78992" y="4846320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Durasi praktik: 25 menit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78992" y="5148072"/>
            <a:ext cx="46085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Mahasiswa boleh bekerja berpasangan; fokus pada struktur class dan object, bukan tampilan UI.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Praktik Terbimbing 1: Buat Class Student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5989320" cy="4663440"/>
          </a:xfrm>
          <a:prstGeom prst="roundRect">
            <a:avLst>
              <a:gd name="adj" fmla="val 1373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252728"/>
            <a:ext cx="5660136" cy="4443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constructor(nim, nama, prodi, angkatan)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this.nim = nim;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this.nama = nama;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this.prodi = prodi;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this.angkatan = angkatan;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profil()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this.nim + ' - ' + this.nama + ' (' + this.prodi + ')';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40" dirty="0"/>
          </a:p>
          <a:p>
            <a:pPr indent="0" marL="0">
              <a:buNone/>
            </a:pP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statusAngkatan(tahunSekarang) 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selisih = tahunSekarang - this.angkatan;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selisih &lt;= 1 ? 'Mahasiswa baru' : 'Mahasiswa aktif';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704088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7"/>
                </a:solidFill>
              </a:rPr>
              <a:t>Checklist praktik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86600" y="1837944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18604" y="184251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79208" y="18288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Buat file index.html dan script.js.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2340864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18604" y="234543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79208" y="2331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Hubungkan script.js ke HTML.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86600" y="2843784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18604" y="284835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79208" y="2834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Tulis class Student.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3346704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118604" y="335127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79208" y="33375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Coba buat satu object Student.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3849624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18604" y="385419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79208" y="38404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Tampilkan hasil profil() di console.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Praktik Terbimbing 2: Array of Objects + Output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5852160" cy="4023360"/>
          </a:xfrm>
          <a:prstGeom prst="roundRect">
            <a:avLst>
              <a:gd name="adj" fmla="val 1591"/>
            </a:avLst>
          </a:prstGeom>
          <a:solidFill>
            <a:srgbClr val="0F172A"/>
          </a:solidFill>
          <a:ln w="12700">
            <a:solidFill>
              <a:srgbClr val="26365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252728"/>
            <a:ext cx="5522976" cy="3803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dataMahasiswa = [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Student('2026001', 'Ayu', 'Teknologi Informasi', 2026),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Student('2026002', 'Bima', 'Teknologi Informasi', 2025),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Student('2026003', 'Citra', 'Teknologi Informasi', 2024)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mhs of dataMahasiswa)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console.log(mhs.profil());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console.log(mhs.statusAngkatan(2026));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70" dirty="0"/>
          </a:p>
          <a:p>
            <a:pPr indent="0" marL="0">
              <a:buNone/>
            </a:pP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daftar = dataMahasiswa.map(mhs =&gt; mhs.profil());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console.table(daftar);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6720840" y="13716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85432" y="1508760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Tantangan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85432" y="1810512"/>
            <a:ext cx="37856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Tambahkan method inisial() yang mengambil huruf pertama nama.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20840" y="25146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85432" y="2651760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Tantangan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85432" y="2953512"/>
            <a:ext cx="37856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Tambahkan validasi agar nim dan nama tidak boleh kosong.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0840" y="36576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885432" y="3794760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D57"/>
                </a:solidFill>
              </a:rPr>
              <a:t>Tantangan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85432" y="4096512"/>
            <a:ext cx="37856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Tampilkan data ke halaman HTML menggunakan DOM sederhana.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49440" y="5166360"/>
            <a:ext cx="3657600" cy="365760"/>
          </a:xfrm>
          <a:prstGeom prst="roundRect">
            <a:avLst>
              <a:gd name="adj" fmla="val 12500"/>
            </a:avLst>
          </a:prstGeom>
          <a:solidFill>
            <a:srgbClr val="6A4DBA"/>
          </a:solidFill>
          <a:ln w="12700">
            <a:solidFill>
              <a:srgbClr val="6A4DB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949440" y="5202936"/>
            <a:ext cx="36576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Submit: screenshot console + file JS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492240"/>
            <a:ext cx="11567160" cy="0"/>
          </a:xfrm>
          <a:prstGeom prst="line">
            <a:avLst/>
          </a:prstGeom>
          <a:noFill/>
          <a:ln w="12700">
            <a:solidFill>
              <a:srgbClr val="E4ECF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84048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565C0"/>
                </a:solidFill>
              </a:rPr>
              <a:t>PERTEMUAN 10 • JavaScript OOP</a:t>
            </a:r>
            <a:endParaRPr lang="en-US" sz="87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B67"/>
                </a:solidFill>
              </a:rPr>
              <a:t>Rangkuman &amp; Refleksi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8DA2"/>
                </a:solidFill>
              </a:rPr>
              <a:t>TI401 • Pengembangan Desain Web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658600" y="65105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B67"/>
                </a:solidFill>
              </a:rPr>
              <a:t>24</a:t>
            </a:r>
            <a:endParaRPr lang="en-US" sz="900" dirty="0"/>
          </a:p>
        </p:txBody>
      </p:sp>
      <p:pic>
        <p:nvPicPr>
          <p:cNvPr id="7" name="Image 0" descr="/mnt/data/a_bright_clean_vector_illustration_style_classro_batch_2.png">    </p:cNvPr>
          <p:cNvPicPr>
            <a:picLocks noChangeAspect="1"/>
          </p:cNvPicPr>
          <p:nvPr/>
        </p:nvPicPr>
        <p:blipFill>
          <a:blip r:embed="rId1"/>
          <a:srcRect l="3100" r="3100" t="0" b="0"/>
          <a:stretch/>
        </p:blipFill>
        <p:spPr>
          <a:xfrm>
            <a:off x="6400800" y="1024128"/>
            <a:ext cx="5029200" cy="3017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234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7"/>
                </a:solidFill>
              </a:rPr>
              <a:t>Poin kunci hari ini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1792224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17804" y="179679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78408" y="1783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Class adalah blueprint; object adalah instance.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2313432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17804" y="231800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78408" y="23042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Constructor mengisi nilai awal object.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2834640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17804" y="2839212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78408" y="28254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Property menyimpan state, method menyimpan behavior.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" y="3355848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17804" y="336042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78408" y="33467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this menunjuk object yang sedang aktif.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5800" y="3877056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17804" y="388162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78408" y="3867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t>Inheritance membantu reuse kode saat relasi tepat, namun cukup digunakan sebagai pengantar.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85800" y="4398264"/>
            <a:ext cx="201168" cy="201168"/>
          </a:xfrm>
          <a:prstGeom prst="ellipse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17804" y="440283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78408" y="4389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D5562"/>
                </a:solidFill>
              </a:rPr>
              <a:t>OOP menjadi jembatan menuju DOM dan aplikasi interaktif.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37960" y="4434840"/>
            <a:ext cx="4526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702552" y="4572000"/>
            <a:ext cx="4197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Exit ticket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02552" y="4873752"/>
            <a:ext cx="41970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D5562"/>
                </a:solidFill>
              </a:rPr>
              <a:t>Tulis 1 contoh class yang relevan dengan aplikasi web dan sebutkan 3 property + 2 method-nya.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TI401 Pertemuan 10 — JavaScript OOP</dc:title>
  <dc:subject>TI401 Pertemuan 10 JavaScript OOP</dc:subject>
  <dc:creator>Prodi TI UMY</dc:creator>
  <cp:lastModifiedBy>Prodi TI UMY</cp:lastModifiedBy>
  <cp:revision>1</cp:revision>
  <dcterms:created xsi:type="dcterms:W3CDTF">2026-07-21T12:03:04Z</dcterms:created>
  <dcterms:modified xsi:type="dcterms:W3CDTF">2026-07-21T12:03:04Z</dcterms:modified>
</cp:coreProperties>
</file>