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2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3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4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5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6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7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8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9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10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11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12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13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14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15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16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17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18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19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20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21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22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23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dosen: gunakan slide 24 sebagai bagian dari skenario Pertemuan 6. Jaga tempo agar materi 100 menit tidak berubah menjadi praktikum penuh; praktikum 50 menit tersedia pada slide 19–22.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Bootstrap Dasar &amp; Layout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B5563"/>
                </a:solidFill>
              </a:rPr>
              <a:t>Membangun layout responsif dengan container, grid 12 kolom, breakpoint, dan komponen dasar.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21208" y="2423160"/>
            <a:ext cx="1143000" cy="329184"/>
          </a:xfrm>
          <a:prstGeom prst="roundRect">
            <a:avLst>
              <a:gd name="adj" fmla="val 33333"/>
            </a:avLst>
          </a:prstGeom>
          <a:solidFill>
            <a:srgbClr val="FFF1E4"/>
          </a:solidFill>
          <a:ln w="15240">
            <a:solidFill>
              <a:srgbClr val="F28E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51002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E1C"/>
                </a:solidFill>
              </a:rPr>
              <a:t>100 menit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47088" y="2423160"/>
            <a:ext cx="1143000" cy="329184"/>
          </a:xfrm>
          <a:prstGeom prst="roundRect">
            <a:avLst>
              <a:gd name="adj" fmla="val 33333"/>
            </a:avLst>
          </a:prstGeom>
          <a:solidFill>
            <a:srgbClr val="EAF3FF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251002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50 menit lab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21208" y="297180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5468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28E1C"/>
                </a:solidFill>
              </a:rPr>
              <a:t>Capaian: mampu merancang layout responsif menggunakan Bootstrap dasar dan Bootstrap Layout.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521208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3A68"/>
                </a:solidFill>
              </a:rPr>
              <a:t>Alur 100 Menit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4343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8E1C"/>
                </a:solidFill>
              </a:rPr>
              <a:t>10’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34440" y="43434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Review CSS layout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690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20’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34440" y="46908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Mental model Bootstrap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50383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8E1C"/>
                </a:solidFill>
              </a:rPr>
              <a:t>25’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34440" y="503834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Grid, kolom, breakpoint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5385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25’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34440" y="538581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Navbar &amp; Card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5733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8E1C"/>
                </a:solidFill>
              </a:rPr>
              <a:t>20’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57332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Demo, kuis, refleksi</a:t>
            </a:r>
            <a:endParaRPr lang="en-US" sz="1050" dirty="0"/>
          </a:p>
        </p:txBody>
      </p:sp>
      <p:pic>
        <p:nvPicPr>
          <p:cNvPr id="22" name="Image 0" descr="/mnt/data/wide_clean_vector_illustration_graphic_design_scen.png">    </p:cNvPr>
          <p:cNvPicPr>
            <a:picLocks noChangeAspect="1"/>
          </p:cNvPicPr>
          <p:nvPr/>
        </p:nvPicPr>
        <p:blipFill>
          <a:blip r:embed="rId1"/>
          <a:srcRect l="19145" r="19145" t="0" b="0"/>
          <a:stretch/>
        </p:blipFill>
        <p:spPr>
          <a:xfrm>
            <a:off x="5989320" y="594360"/>
            <a:ext cx="5715000" cy="5212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Bootstrap?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Bootstrap dipakai setelah mahasiswa memahami HTML, CSS, Flexbox, dan Grid.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Konsistensi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Class siap pakai membantu desain tampak rapi lintas halaman.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Responsif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Grid dan breakpoint memudahkan layout desktop, tablet, dan mobile.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Kecepatan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Komponen dasar mempercepat prototyping tanpa menulis semua CSS dari nol.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Batasan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Bootstrap bukan pengganti pemahaman CSS; ia tetap perlu struktur HTML yang benar.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Pembelajaran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Setelah sesi, mahasiswa mampu membangun landing page responsif sederhana.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Menjelaskan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peran Bootstrap sebagai framework CSS berbasis class dan utility.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Menyusun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struktur container, row, dan column pada grid 12 kolom.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Menerapkan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breakpoint dasar: col-12, col-md-6, col-lg-4.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Menggunakan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komponen navbar dan card tanpa mengabaikan semantik HTML.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526280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Menguji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tampilan pada ukuran layar berbeda menggunakan Browser DevTools.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 Model Bootstrap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Pahami Bootstrap sebagai kombinasi grid, utilities, dan komponen.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EAF3FF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67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A68"/>
                </a:solidFill>
              </a:rPr>
              <a:t>Container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" y="2404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membatasi lebar dan memberi ruang aman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51960" y="2057400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FFF5EB"/>
          </a:solidFill>
          <a:ln w="15240">
            <a:solidFill>
              <a:srgbClr val="F28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2167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A68"/>
                </a:solidFill>
              </a:rPr>
              <a:t>Row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16552" y="2404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baris horizontal untuk menampung kolom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818120" y="2057400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EAF3FF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2167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A68"/>
                </a:solidFill>
              </a:rPr>
              <a:t>Column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82712" y="2404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unit layout dalam sistem 12 kolom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85800" y="3319272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FFF5EB"/>
          </a:solidFill>
          <a:ln w="15240">
            <a:solidFill>
              <a:srgbClr val="F28E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A68"/>
                </a:solidFill>
              </a:rPr>
              <a:t>Utility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" y="36667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class kecil untuk spacing, warna, teks, dan display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251960" y="3319272"/>
            <a:ext cx="2880360" cy="713232"/>
          </a:xfrm>
          <a:prstGeom prst="roundRect">
            <a:avLst>
              <a:gd name="adj" fmla="val 10256"/>
            </a:avLst>
          </a:prstGeom>
          <a:solidFill>
            <a:srgbClr val="F5F0FF"/>
          </a:solidFill>
          <a:ln w="1524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A68"/>
                </a:solidFill>
              </a:rPr>
              <a:t>Component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6552" y="36667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pola UI siap pakai seperti navbar dan card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086600" y="4407408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1192" y="455371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Pola dasar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51192" y="4846320"/>
            <a:ext cx="38770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class="container"&gt;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class="row"&gt;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&lt;div class="col-md-6"&gt;...&lt;/div&gt;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&lt;div class="col-md-6"&gt;...&lt;/div&gt;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&lt;/div&gt;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Menyiapkan Bootstrap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Untuk praktikum, gunakan CDN agar mahasiswa cepat mencoba layout.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598932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95144"/>
            <a:ext cx="566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Template CDN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2587752"/>
            <a:ext cx="5660136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&lt;head&gt;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&lt;link href="https://cdn.jsdelivr.net/npm/bootstrap@5.3.3/dist/css/bootstrap.min.css" rel="stylesheet"&gt;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&lt;/head&gt;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&lt;!-- konten --&gt;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&lt;script src="https://cdn.jsdelivr.net/npm/bootstrap@5.3.3/dist/js/bootstrap.bundle.min.js"&gt;&lt;/script&gt;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360920" y="21762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3A68"/>
                </a:solidFill>
              </a:rPr>
              <a:t>Catatan kritis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26151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Gunakan versi Bootstrap yang dikunci agar hasil konsisten.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406640" y="31455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File JavaScript Bootstrap hanya dibutuhkan untuk komponen interaktif.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7406640" y="36758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Untuk tugas offline, sediakan file CSS/JS lokal sebagai cadangan.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406640" y="42062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Jangan menumpuk terlalu banyak class jika struktur HTML belum jelas.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 &amp; Breakpoint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8745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Container memberi batas lebar agar konten tidak terlalu melebar. Breakpoint membuat layout berubah sesuai ukuran layar.</a:t>
            </a:r>
            <a:endParaRPr lang="en-US" sz="1300" dirty="0"/>
          </a:p>
        </p:txBody>
      </p:sp>
      <p:pic>
        <p:nvPicPr>
          <p:cNvPr id="5" name="Image 0" descr="/mnt/data/a_clean_infographic_poster_cheat_sheet_style_ima.png">    </p:cNvPr>
          <p:cNvPicPr>
            <a:picLocks noChangeAspect="1"/>
          </p:cNvPicPr>
          <p:nvPr/>
        </p:nvPicPr>
        <p:blipFill>
          <a:blip r:embed="rId1"/>
          <a:srcRect l="18125" r="18125" t="0" b="0"/>
          <a:stretch/>
        </p:blipFill>
        <p:spPr>
          <a:xfrm>
            <a:off x="5806440" y="594360"/>
            <a:ext cx="5852160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 12 Kolom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Grid Bootstrap membagi satu baris menjadi 12 unit. Kolom dapat mengambil sebagian dari 12 unit.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347472" cy="685800"/>
          </a:xfrm>
          <a:prstGeom prst="rect">
            <a:avLst/>
          </a:prstGeom>
          <a:solidFill>
            <a:srgbClr val="DBEAFE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</a:rPr>
              <a:t>1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124712" y="2240280"/>
            <a:ext cx="347472" cy="685800"/>
          </a:xfrm>
          <a:prstGeom prst="rect">
            <a:avLst/>
          </a:prstGeom>
          <a:solidFill>
            <a:srgbClr val="DBEAFE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</a:rPr>
              <a:t>2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563624" y="2240280"/>
            <a:ext cx="347472" cy="685800"/>
          </a:xfrm>
          <a:prstGeom prst="rect">
            <a:avLst/>
          </a:prstGeom>
          <a:solidFill>
            <a:srgbClr val="DBEAFE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</a:rPr>
              <a:t>3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002536" y="2240280"/>
            <a:ext cx="347472" cy="685800"/>
          </a:xfrm>
          <a:prstGeom prst="rect">
            <a:avLst/>
          </a:prstGeom>
          <a:solidFill>
            <a:srgbClr val="DBEAFE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</a:rPr>
              <a:t>4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441448" y="2240280"/>
            <a:ext cx="347472" cy="685800"/>
          </a:xfrm>
          <a:prstGeom prst="rect">
            <a:avLst/>
          </a:prstGeom>
          <a:solidFill>
            <a:srgbClr val="DBEAFE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</a:rPr>
              <a:t>5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880360" y="2240280"/>
            <a:ext cx="347472" cy="685800"/>
          </a:xfrm>
          <a:prstGeom prst="rect">
            <a:avLst/>
          </a:prstGeom>
          <a:solidFill>
            <a:srgbClr val="DBEAFE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</a:rPr>
              <a:t>6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319272" y="2240280"/>
            <a:ext cx="347472" cy="685800"/>
          </a:xfrm>
          <a:prstGeom prst="rect">
            <a:avLst/>
          </a:prstGeom>
          <a:solidFill>
            <a:srgbClr val="FFEDD5"/>
          </a:solidFill>
          <a:ln w="8890">
            <a:solidFill>
              <a:srgbClr val="F28E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28E1C"/>
                </a:solidFill>
              </a:rPr>
              <a:t>7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758184" y="2240280"/>
            <a:ext cx="347472" cy="685800"/>
          </a:xfrm>
          <a:prstGeom prst="rect">
            <a:avLst/>
          </a:prstGeom>
          <a:solidFill>
            <a:srgbClr val="FFEDD5"/>
          </a:solidFill>
          <a:ln w="8890">
            <a:solidFill>
              <a:srgbClr val="F28E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28E1C"/>
                </a:solidFill>
              </a:rPr>
              <a:t>8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197096" y="2240280"/>
            <a:ext cx="347472" cy="685800"/>
          </a:xfrm>
          <a:prstGeom prst="rect">
            <a:avLst/>
          </a:prstGeom>
          <a:solidFill>
            <a:srgbClr val="FFEDD5"/>
          </a:solidFill>
          <a:ln w="8890">
            <a:solidFill>
              <a:srgbClr val="F28E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97096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28E1C"/>
                </a:solidFill>
              </a:rPr>
              <a:t>9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636008" y="2240280"/>
            <a:ext cx="347472" cy="685800"/>
          </a:xfrm>
          <a:prstGeom prst="rect">
            <a:avLst/>
          </a:prstGeom>
          <a:solidFill>
            <a:srgbClr val="FFEDD5"/>
          </a:solidFill>
          <a:ln w="8890">
            <a:solidFill>
              <a:srgbClr val="F28E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28E1C"/>
                </a:solidFill>
              </a:rPr>
              <a:t>10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074920" y="2240280"/>
            <a:ext cx="347472" cy="685800"/>
          </a:xfrm>
          <a:prstGeom prst="rect">
            <a:avLst/>
          </a:prstGeom>
          <a:solidFill>
            <a:srgbClr val="FFEDD5"/>
          </a:solidFill>
          <a:ln w="8890">
            <a:solidFill>
              <a:srgbClr val="F28E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28E1C"/>
                </a:solidFill>
              </a:rPr>
              <a:t>11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513832" y="2240280"/>
            <a:ext cx="347472" cy="685800"/>
          </a:xfrm>
          <a:prstGeom prst="rect">
            <a:avLst/>
          </a:prstGeom>
          <a:solidFill>
            <a:srgbClr val="FFEDD5"/>
          </a:solidFill>
          <a:ln w="8890">
            <a:solidFill>
              <a:srgbClr val="F28E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248716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28E1C"/>
                </a:solidFill>
              </a:rPr>
              <a:t>12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85800" y="3337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3A68"/>
                </a:solidFill>
              </a:rPr>
              <a:t>Contoh pembagian umum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3730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565C0"/>
                </a:solidFill>
              </a:rPr>
              <a:t>col-12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2194560" y="37307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4B5563"/>
                </a:solidFill>
              </a:rPr>
              <a:t>1 kolom penuh di mobile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777240" y="41239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28E1C"/>
                </a:solidFill>
              </a:rPr>
              <a:t>col-md-6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2194560" y="41239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4B5563"/>
                </a:solidFill>
              </a:rPr>
              <a:t>2 kolom di tablet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777240" y="4517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565C0"/>
                </a:solidFill>
              </a:rPr>
              <a:t>col-lg-4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2194560" y="45171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4B5563"/>
                </a:solidFill>
              </a:rPr>
              <a:t>3 kolom di desktop</a:t>
            </a:r>
            <a:endParaRPr lang="en-US" sz="1010" dirty="0"/>
          </a:p>
        </p:txBody>
      </p:sp>
      <p:sp>
        <p:nvSpPr>
          <p:cNvPr id="39" name="Text 37"/>
          <p:cNvSpPr/>
          <p:nvPr/>
        </p:nvSpPr>
        <p:spPr>
          <a:xfrm>
            <a:off x="777240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28E1C"/>
                </a:solidFill>
              </a:rPr>
              <a:t>col-lg-3</a:t>
            </a:r>
            <a:endParaRPr lang="en-US" sz="1130" dirty="0"/>
          </a:p>
        </p:txBody>
      </p:sp>
      <p:sp>
        <p:nvSpPr>
          <p:cNvPr id="40" name="Text 38"/>
          <p:cNvSpPr/>
          <p:nvPr/>
        </p:nvSpPr>
        <p:spPr>
          <a:xfrm>
            <a:off x="2194560" y="49103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4B5563"/>
                </a:solidFill>
              </a:rPr>
              <a:t>4 kolom di desktop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6675120" y="2148840"/>
            <a:ext cx="4526280" cy="2103120"/>
          </a:xfrm>
          <a:prstGeom prst="roundRect">
            <a:avLst>
              <a:gd name="adj" fmla="val 3478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2295144"/>
            <a:ext cx="4197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Responsive columns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39712" y="2587752"/>
            <a:ext cx="419709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class="row"&gt;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class="col-12 col-md-6 col-lg-4"&gt;Card 1&lt;/div&gt;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class="col-12 col-md-6 col-lg-4"&gt;Card 2&lt;/div&gt;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class="col-12 col-md-6 col-lg-4"&gt;Card 3&lt;/div&gt;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&lt;/div&gt;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Row, Column, dan Gutter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Bootstrap grid bekerja rapi jika hierarkinya tidak dilanggar.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container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Membungkus area utama halaman.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row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Menjadi pembungkus langsung bagi kolom.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col-*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Menentukan lebar kolom pada breakpoint tertentu.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g-*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Mengatur gutter atau jarak antar kolom dan baris.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526280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Kesalahan umum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Meletakkan card langsung dalam row tanpa col, atau menaruh row tanpa container.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Membaca Class Responsif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Bootstrap menerapkan pendekatan mobile-first: gaya dasar berlaku dulu, lalu naik pada breakpoint.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21488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9514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Contoh card responsif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2587752"/>
            <a:ext cx="497433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 class="col-12 col-md-6 col-lg-4"&gt;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&lt;article class="card h-100"&gt;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&lt;div class="card-body"&gt;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&lt;h2 class="h5"&gt;Judul Card&lt;/h2&gt;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&lt;p&gt;Ringkasan kegiatan.&lt;/p&gt;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&lt;/article&gt;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&lt;/div&gt;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537960" y="2148840"/>
            <a:ext cx="4251960" cy="603504"/>
          </a:xfrm>
          <a:prstGeom prst="roundRect">
            <a:avLst>
              <a:gd name="adj" fmla="val 12121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2295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3A68"/>
                </a:solidFill>
              </a:rPr>
              <a:t>Mobile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955280" y="2295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565C0"/>
                </a:solidFill>
              </a:rPr>
              <a:t>col-12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281160" y="22951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1 kolom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537960" y="3026664"/>
            <a:ext cx="4251960" cy="603504"/>
          </a:xfrm>
          <a:prstGeom prst="roundRect">
            <a:avLst>
              <a:gd name="adj" fmla="val 12121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31729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3A68"/>
                </a:solidFill>
              </a:rPr>
              <a:t>Tablet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7955280" y="31729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28E1C"/>
                </a:solidFill>
              </a:rPr>
              <a:t>col-md-6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9281160" y="3172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2 kolom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537960" y="3904488"/>
            <a:ext cx="4251960" cy="603504"/>
          </a:xfrm>
          <a:prstGeom prst="roundRect">
            <a:avLst>
              <a:gd name="adj" fmla="val 12121"/>
            </a:avLst>
          </a:prstGeom>
          <a:solidFill>
            <a:srgbClr val="F5F0FF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4050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3A68"/>
                </a:solidFill>
              </a:rPr>
              <a:t>Desktop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7955280" y="40507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F42C1"/>
                </a:solidFill>
              </a:rPr>
              <a:t>col-lg-4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281160" y="4050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3 kolom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537960" y="5074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Prinsip: tulis dari kebutuhan layar kecil terlebih dahulu, kemudian naik ke layar lebih besar.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Utility Spacing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Utility class mempercepat pengaturan jarak tanpa CSS tambahan.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m-*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margin: jarak di luar elemen.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p-*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padding: jarak di dalam elemen.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mt/mb/ms/me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arah margin: top, bottom, start, end.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py/px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padding vertikal dan horizontal.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526280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g-*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jarak antar kolom dalam row.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Utility Teks &amp; Warna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Gunakan utility untuk konsistensi, bukan untuk menutupi struktur HTML yang keliru.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text-center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Cocok untuk judul pendek, bukan paragraf panjang.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fw-bold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Menebalkan teks penting, jangan mengganti heading semantik.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text-primary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Menggunakan warna bawaan Bootstrap.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bg-light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Memberi latar terang untuk section ringan.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526280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rounded/shadow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Efek visual secukupnya agar UI tidak terlalu ramai.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Komponen 1: Navbar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Navbar membantu navigasi, tetapi tetap perlu link yang jelas dan struktur semantik.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20574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03704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Navbar minimal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2496312"/>
            <a:ext cx="5020056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&lt;nav class="navbar navbar-expand-lg bg-body-tertiary"&gt;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class="container"&gt;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&lt;a class="navbar-brand" href="#"&gt;TI401&lt;/a&gt;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&lt;div class="navbar-nav"&gt;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&lt;a class="nav-link" href="#materi"&gt;Materi&lt;/a&gt;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&lt;a class="nav-link" href="#daftar"&gt;Daftar&lt;/a&gt;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&lt;/nav&gt;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3A68"/>
                </a:solidFill>
              </a:rPr>
              <a:t>Kunci pembahasan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5786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Brand bukan selalu logo; bisa judul aplikasi.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629400" y="3081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Link mengarah ke section yang ada.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Gunakan container agar isi navbar sejajar dengan konten.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629400" y="40873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Untuk toggler mobile, butuh Bootstrap bundle JS.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Komponen 2: Card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Card cocok untuk berita, kegiatan, profil, atau daftar fitur.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2057400"/>
            <a:ext cx="5715000" cy="306324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03704"/>
            <a:ext cx="5385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Card semantik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2496312"/>
            <a:ext cx="5385816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&lt;article class="card h-100"&gt;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&lt;img src="assets/event.jpg" class="card-img-top" alt="Mahasiswa mengikuti workshop web"&gt;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class="card-body"&gt;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&lt;h2 class="h5 card-title"&gt;Workshop Web&lt;/h2&gt;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&lt;p class="card-text"&gt;Belajar membangun layout responsif.&lt;/p&gt;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&lt;a href="#daftar" class="btn btn-primary"&gt;Daftar&lt;/a&gt;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&lt;/div&gt;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&lt;/article&gt;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04088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3A68"/>
                </a:solidFill>
              </a:rPr>
              <a:t>Jaga kualitas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5786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Gunakan article bila konten card dapat berdiri sendiri.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086600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Teks tombol harus menggambarkan aksi.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7086600" y="358444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Alt gambar tetap diperlukan bila gambar bermakna.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086600" y="408736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• h-100 membantu tinggi card sejajar pada satu baris.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 Landing Page Responsif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Sesi ini tidak membuat banyak komponen, tetapi membuat satu halaman yang utuh.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14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3A68"/>
                </a:solidFill>
              </a:rPr>
              <a:t>Navbar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70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</a:rPr>
              <a:t>navigasi halaman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944368" y="228600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414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3A68"/>
                </a:solidFill>
              </a:rPr>
              <a:t>Hero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35808" y="2670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</a:rPr>
              <a:t>judul, deskripsi, CTA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157216" y="228600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2414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3A68"/>
                </a:solidFill>
              </a:rPr>
              <a:t>Cards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48656" y="2670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</a:rPr>
              <a:t>3 informasi utama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370064" y="228600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2414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3A68"/>
                </a:solidFill>
              </a:rPr>
              <a:t>Form/CTA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61504" y="2670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</a:rPr>
              <a:t>aksi pengguna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582912" y="228600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2414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3A68"/>
                </a:solidFill>
              </a:rPr>
              <a:t>Footer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74352" y="2670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</a:rPr>
              <a:t>informasi penutup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960120" y="3794760"/>
            <a:ext cx="987552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3941064"/>
            <a:ext cx="9546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Struktur semantik + Bootstrap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4712" y="4233672"/>
            <a:ext cx="9546336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&lt;nav&gt;...&lt;/nav&gt;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&lt;header class="py-5"&gt;...&lt;/header&gt;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&lt;main&gt;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&lt;section id="materi"&gt;...&lt;/section&gt;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&lt;section id="daftar"&gt;...&lt;/section&gt;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&lt;/main&gt;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&lt;footer&gt;...&lt;/footer&gt;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Bootstrap Tetap Butuh Semantik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Class Bootstrap mempercantik, tetapi makna tetap berasal dari HTML.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Heading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Gunakan h1, h2, h3 sesuai hierarki; bukan hanya class display-*. 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Button/link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Tombol untuk aksi, link untuk navigasi.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Form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Setiap input tetap harus punya label yang terhubung.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Gambar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Tetap beri alt jika gambar membawa makna.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526280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Focus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Jangan menghapus outline fokus tanpa pengganti yang jelas.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Kesalahan Umum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Bagian ini perlu ditekankan sebelum praktik agar mahasiswa tidak hanya menyalin class.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Row tanpa col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Semua isi langsung di row tanpa pembungkus col.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Grid berlebihan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Menggunakan col-*, row, dan container di semua elemen tanpa alasan.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Teks kecil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Terlalu banyak utility membuat tampilan padat dan sulit dibaca.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Komponen campur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Navbar, modal, carousel, form, alert dipakai sekaligus tanpa kebutuhan.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526280"/>
            <a:ext cx="155448" cy="1554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Tidak diuji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Hanya dilihat di laptop, tidak diuji di mode mobile DevTools.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Dosen 20 Menit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Bangun landing page kecil dari struktur HTML menjadi layout Bootstrap.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11226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998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5’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21488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pasang CDN dan struktur folder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1518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69290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8E1C"/>
                </a:solidFill>
              </a:rPr>
              <a:t>5’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26517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buat navbar dan hero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181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19582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5’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buat grid 3 card responsif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62102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69874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8E1C"/>
                </a:solidFill>
              </a:rPr>
              <a:t>3’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54480" y="36576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tambahkan utility spacing dan warna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2394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20166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2’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54480" y="4160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uji mobile dengan DevTools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388620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08392" y="403250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Folder demo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08392" y="4325112"/>
            <a:ext cx="314553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06_bootstrap-dasar-layout/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index.html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assets/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event.jpg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README.md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914400" y="57150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Fokus demo: keputusan layout, bukan menghafal seluruh komponen Bootstrap.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Code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Gunakan template kecil agar praktik dimulai dari struktur yang benar.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2029968"/>
            <a:ext cx="10744200" cy="3520440"/>
          </a:xfrm>
          <a:prstGeom prst="roundRect">
            <a:avLst>
              <a:gd name="adj" fmla="val 2078"/>
            </a:avLst>
          </a:prstGeom>
          <a:solidFill>
            <a:srgbClr val="0F172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176272"/>
            <a:ext cx="10415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2468880"/>
            <a:ext cx="1041501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&lt;!DOCTYPE html&gt;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&lt;html lang="id"&gt;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&lt;head&gt;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&lt;meta charset="UTF-8"&gt;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&lt;meta name="viewport" content="width=device-width, initial-scale=1.0"&gt;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&lt;title&gt;Workshop Web TI401&lt;/title&gt;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&lt;link href="https://cdn.jsdelivr.net/npm/bootstrap@5.3.3/dist/css/bootstrap.min.css" rel="stylesheet"&gt;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&lt;/head&gt;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&lt;body&gt;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&lt;nav class="navbar bg-body-tertiary"&gt;...&lt;/nav&gt;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&lt;main&gt;...&lt;/main&gt;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&lt;/body&gt;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&lt;/html&gt;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Panduan Praktikum 50 Menit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Praktikum dibuat ringkas agar fokus pada grid, breakpoint, dan komponen dasar.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4526280" cy="512064"/>
          </a:xfrm>
          <a:prstGeom prst="roundRect">
            <a:avLst>
              <a:gd name="adj" fmla="val 1428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30428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5’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27685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Setup folder dan CDN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2148840"/>
            <a:ext cx="4526280" cy="512064"/>
          </a:xfrm>
          <a:prstGeom prst="roundRect">
            <a:avLst>
              <a:gd name="adj" fmla="val 14286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230428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8E1C"/>
                </a:solidFill>
              </a:rPr>
              <a:t>10’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20840" y="227685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Navbar dan hero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71800"/>
            <a:ext cx="4526280" cy="512064"/>
          </a:xfrm>
          <a:prstGeom prst="roundRect">
            <a:avLst>
              <a:gd name="adj" fmla="val 1428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12724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15’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3099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Grid 3 card responsif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2971800"/>
            <a:ext cx="4526280" cy="512064"/>
          </a:xfrm>
          <a:prstGeom prst="roundRect">
            <a:avLst>
              <a:gd name="adj" fmla="val 14286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312724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8E1C"/>
                </a:solidFill>
              </a:rPr>
              <a:t>10’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3099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Spacing, warna, dan tombol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794760"/>
            <a:ext cx="4526280" cy="512064"/>
          </a:xfrm>
          <a:prstGeom prst="roundRect">
            <a:avLst>
              <a:gd name="adj" fmla="val 1428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95020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5’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92277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Uji mobile/tablet/desktop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3794760"/>
            <a:ext cx="4526280" cy="512064"/>
          </a:xfrm>
          <a:prstGeom prst="roundRect">
            <a:avLst>
              <a:gd name="adj" fmla="val 14286"/>
            </a:avLst>
          </a:prstGeom>
          <a:solidFill>
            <a:srgbClr val="FFF5EB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95020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8E1C"/>
                </a:solidFill>
              </a:rPr>
              <a:t>5’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392277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Commit atau unggah ke GitHub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507492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Output: folder 06_bootstrap-dasar-layout berisi index.html yang bisa dibuka via GitHub Pages.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Tugas Praktikum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Buat landing page “Workshop Web Dasar” untuk mahasiswa.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Navbar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Brand TI401 dan dua tautan internal.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Hero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Judul, deskripsi singkat, dan tombol daftar.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Card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Minimal 3 card informasi dengan grid responsif.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Responsif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Mobile 1 kolom, tablet 2 kolom, desktop 3 kolom.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526280"/>
            <a:ext cx="155448" cy="155448"/>
          </a:xfrm>
          <a:prstGeom prst="ellipse">
            <a:avLst/>
          </a:prstGeom>
          <a:solidFill>
            <a:srgbClr val="F28E1C"/>
          </a:solidFill>
          <a:ln w="12700">
            <a:solidFill>
              <a:srgbClr val="F28E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README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Tuliskan fitur, screenshot, dan link GitHub Pages.</a:t>
            </a:r>
            <a:endParaRPr lang="en-US" sz="11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Rubrik Cepat CPMK51.5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Gunakan rubrik ini untuk penilaian formatif dan umpan balik praktik.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3A68"/>
                </a:solidFill>
              </a:rPr>
              <a:t>Struktur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20%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20574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HTML semantik, folder rapi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22960" y="2633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3A68"/>
                </a:solidFill>
              </a:rPr>
              <a:t>Grid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0" y="26334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8E1C"/>
                </a:solidFill>
              </a:rPr>
              <a:t>25%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263347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container-row-col benar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822960" y="3209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3A68"/>
                </a:solidFill>
              </a:rPr>
              <a:t>Responsif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0" y="32095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25%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320954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breakpoint diuji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22960" y="3785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3A68"/>
                </a:solidFill>
              </a:rPr>
              <a:t>Komponen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3785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8E1C"/>
                </a:solidFill>
              </a:rPr>
              <a:t>15%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0" y="378561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navbar/card digunakan tepat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822960" y="4361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3A68"/>
                </a:solidFill>
              </a:rPr>
              <a:t>Kerapian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43616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15%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0" y="436168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spacing, teks, warna nyaman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68680" y="53035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Catatan: fokus penilaian adalah kemampuan merancang layout responsif, bukan jumlah komponen Bootstrap.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Pengumpulan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Sebelum dikumpulkan, mahasiswa wajib memastikan halaman dapat dibuka dan diuji.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File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index.html berada di folder 06_bootstrap-dasar-layout.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CDN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Bootstrap CSS dapat dimuat, atau file lokal disediakan.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374136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DevTools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383280" y="33009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Uji pada lebar mobile, tablet, desktop.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877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GitHub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83280" y="3877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Commit dengan pesan jelas dan aktifkan GitHub Pages.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526280"/>
            <a:ext cx="155448" cy="15544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531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3A68"/>
                </a:solidFill>
              </a:rPr>
              <a:t>Bukti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Kumpulkan link repository, link Pages, dan screenshot tampilan.</a:t>
            </a:r>
            <a:endParaRPr lang="en-US" sz="11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Kuis Formatif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5361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Gunakan 5 pertanyaan cepat untuk mengecek pemahaman sebelum praktik.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1. Apa fungsi container dalam Bootstrap?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2. Mengapa row sebaiknya berisi col?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22960" y="3118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3. Apa makna col-12 col-md-6 col-lg-4?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822960" y="36484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4. Kapan menggunakan card dibanding div biasa?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22960" y="417880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5. Bagaimana cara menguji responsivitas di browser?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549640" y="214884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68"/>
                </a:solidFill>
              </a:rPr>
              <a:t>Kunci lisan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2880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Jawaban tidak perlu ditampilkan di slide agar kuis tetap aktif.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6 • CPMK51 / Sub-CPMK51.5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3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Rangkuman &amp; Transisi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508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Bootstrap mempercepat layout responsif, tetapi kualitas halaman tetap bergantung pada struktur HTML, keputusan desain, dan pengujian.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• container-row-col adalah pola dasar grid Bootstrap.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731520" y="29535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• Breakpoint dibaca mobile-first.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731520" y="339242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• Navbar dan card cukup untuk membangun landing page sederhana.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731520" y="383133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• Semantik, aksesibilitas, dan uji responsif tetap wajib.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31520" y="4270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• Pertemuan 7: mini project design + literasi AI/Web3.</a:t>
            </a:r>
            <a:endParaRPr lang="en-US" sz="1120" dirty="0"/>
          </a:p>
        </p:txBody>
      </p:sp>
      <p:pic>
        <p:nvPicPr>
          <p:cNvPr id="10" name="Image 0" descr="/mnt/data/wide_modern_classroom_workshop_illustration_scen.png">    </p:cNvPr>
          <p:cNvPicPr>
            <a:picLocks noChangeAspect="1"/>
          </p:cNvPicPr>
          <p:nvPr/>
        </p:nvPicPr>
        <p:blipFill>
          <a:blip r:embed="rId1"/>
          <a:srcRect l="18898" r="18898" t="0" b="0"/>
          <a:stretch/>
        </p:blipFill>
        <p:spPr>
          <a:xfrm>
            <a:off x="5989320" y="685800"/>
            <a:ext cx="5760720" cy="5212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TI401 Pertemuan 6 - Bootstrap Dasar dan Layout</dc:title>
  <dc:subject>TI401 Pertemuan 6 - Bootstrap Dasar dan Layout</dc:subject>
  <dc:creator>TI UMY Official</dc:creator>
  <cp:lastModifiedBy>TI UMY Official</cp:lastModifiedBy>
  <cp:revision>1</cp:revision>
  <dcterms:created xsi:type="dcterms:W3CDTF">2026-07-23T04:57:29Z</dcterms:created>
  <dcterms:modified xsi:type="dcterms:W3CDTF">2026-07-23T04:57:29Z</dcterms:modified>
</cp:coreProperties>
</file>