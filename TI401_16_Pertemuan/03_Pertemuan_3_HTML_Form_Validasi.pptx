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 5–10 menit: tekankan bahwa form bukan hanya kolom input, tetapi pengalaman pengguna memasukkan data dengan 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58952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Form Lanjutan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Validasi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99339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3D4653"/>
                </a:solidFill>
              </a:rPr>
              <a:t>Pertemuan 3 • 100 menit • CPMK51 / Sub-CPMK51.2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347472" y="2697480"/>
            <a:ext cx="5102352" cy="932688"/>
          </a:xfrm>
          <a:prstGeom prst="roundRect">
            <a:avLst>
              <a:gd name="adj" fmla="val 392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816352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Target sesi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3090672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Mahasiswa mampu merancang form interaktif dengan validasi dan usability yang baik.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347472" y="4114800"/>
            <a:ext cx="1100938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42245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4297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" y="4636008"/>
            <a:ext cx="80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Review form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93776" y="4956048"/>
            <a:ext cx="808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10’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1649578" y="4114800"/>
            <a:ext cx="1100938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41018" y="42245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41018" y="4297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95882" y="4636008"/>
            <a:ext cx="80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Validasi HTML5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1795882" y="4956048"/>
            <a:ext cx="808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30’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2951683" y="4114800"/>
            <a:ext cx="1100938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43123" y="42245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3123" y="4297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97987" y="4636008"/>
            <a:ext cx="80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Usability &amp; a11y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3097987" y="4956048"/>
            <a:ext cx="808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25’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253789" y="4114800"/>
            <a:ext cx="1100938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5229" y="42245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5229" y="4297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00093" y="4636008"/>
            <a:ext cx="80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Demo validasi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4400093" y="4956048"/>
            <a:ext cx="808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20’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555894" y="4114800"/>
            <a:ext cx="1100938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47334" y="42245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47334" y="42976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02198" y="4636008"/>
            <a:ext cx="808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Refleksi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5702198" y="4956048"/>
            <a:ext cx="8083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15’</a:t>
            </a:r>
            <a:endParaRPr lang="en-US" sz="840" dirty="0"/>
          </a:p>
        </p:txBody>
      </p:sp>
      <p:pic>
        <p:nvPicPr>
          <p:cNvPr id="36" name="Image 0" descr="/mnt/data/wide_clean_vector_illustration_flat_design_scene_batch_1.png">    </p:cNvPr>
          <p:cNvPicPr>
            <a:picLocks noChangeAspect="1"/>
          </p:cNvPicPr>
          <p:nvPr/>
        </p:nvPicPr>
        <p:blipFill>
          <a:blip r:embed="rId1"/>
          <a:srcRect l="1469" r="1469" t="0" b="0"/>
          <a:stretch/>
        </p:blipFill>
        <p:spPr>
          <a:xfrm>
            <a:off x="6400800" y="777240"/>
            <a:ext cx="5440680" cy="315468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903720" y="4462272"/>
            <a:ext cx="4617720" cy="713232"/>
          </a:xfrm>
          <a:prstGeom prst="roundRect">
            <a:avLst>
              <a:gd name="adj" fmla="val 512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50024" y="4581144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Output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050024" y="4855464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Form pendaftaran yang berlabel, tervalidasi, mudah digunakan, dan siap diuji di browser.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belajar 100 menit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Sesi disusun dari konsep validasi, praktik desain form, hingga uji hasil.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676400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" y="2441448"/>
            <a:ext cx="138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Orientasi &amp; review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649224" y="2761488"/>
            <a:ext cx="138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10’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380488" y="1920240"/>
            <a:ext cx="1676400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71928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1928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26792" y="2441448"/>
            <a:ext cx="138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Constraint validation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526792" y="2761488"/>
            <a:ext cx="138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25’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258056" y="1920240"/>
            <a:ext cx="1676400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9496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9496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04360" y="2441448"/>
            <a:ext cx="138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Input lanjutan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404360" y="2761488"/>
            <a:ext cx="138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20’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135624" y="1920240"/>
            <a:ext cx="1676400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81928" y="2441448"/>
            <a:ext cx="138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Usability &amp; aksesibilitas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281928" y="2761488"/>
            <a:ext cx="138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20’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8013192" y="1920240"/>
            <a:ext cx="1676400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4632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4632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59496" y="2441448"/>
            <a:ext cx="138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Demo coding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8159496" y="2761488"/>
            <a:ext cx="138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15’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9890760" y="1920240"/>
            <a:ext cx="1676400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82200" y="202996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82200" y="21031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6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037064" y="2441448"/>
            <a:ext cx="138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Kuis/refleksi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10037064" y="2761488"/>
            <a:ext cx="1383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10’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685800" y="3730752"/>
            <a:ext cx="5303520" cy="960120"/>
          </a:xfrm>
          <a:prstGeom prst="roundRect">
            <a:avLst>
              <a:gd name="adj" fmla="val 3810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" y="384962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Capaian utama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104" y="4123944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Mahasiswa dapat memilih jenis input yang tepat, menerapkan atribut validasi, memberi pesan bantu, dan mengecek kualitas form.</a:t>
            </a:r>
            <a:endParaRPr lang="en-US" sz="1190" dirty="0"/>
          </a:p>
        </p:txBody>
      </p:sp>
      <p:sp>
        <p:nvSpPr>
          <p:cNvPr id="41" name="Shape 39"/>
          <p:cNvSpPr/>
          <p:nvPr/>
        </p:nvSpPr>
        <p:spPr>
          <a:xfrm>
            <a:off x="6263640" y="3730752"/>
            <a:ext cx="5303520" cy="960120"/>
          </a:xfrm>
          <a:prstGeom prst="roundRect">
            <a:avLst>
              <a:gd name="adj" fmla="val 3810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384962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Produk pembelajaran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9944" y="4123944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Satu file index.html berisi form pendaftaran kegiatan kampus dengan validasi HTML5, struktur fieldset, dan checklist pengujian.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5715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validasi form penting?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Validasi membantu pengguna mengirim data yang benar, lengkap, dan siap diproses.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01952"/>
            <a:ext cx="50109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Mengurangi kesalahan sejak pengguna mengisi form.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77440"/>
            <a:ext cx="50109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Membuat instruksi lebih jelas dan pengalaman lebih nyaman.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852928"/>
            <a:ext cx="50109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Mencegah data kosong, salah format, atau tidak sesuai batasan.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328416"/>
            <a:ext cx="50109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Membantu developer memahami kebutuhan data sebelum masuk backend.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03904"/>
            <a:ext cx="501091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Validasi client-side memperbaiki UX, tetapi tetap perlu validasi server-side.</a:t>
            </a:r>
            <a:endParaRPr lang="en-US" sz="1450" dirty="0"/>
          </a:p>
        </p:txBody>
      </p:sp>
      <p:pic>
        <p:nvPicPr>
          <p:cNvPr id="18" name="Image 0" descr="/mnt/data/wide_clean_vector_flat_illustration_of_a_modern_c_batch_2.png">    </p:cNvPr>
          <p:cNvPicPr>
            <a:picLocks noChangeAspect="1"/>
          </p:cNvPicPr>
          <p:nvPr/>
        </p:nvPicPr>
        <p:blipFill>
          <a:blip r:embed="rId1"/>
          <a:srcRect l="74" r="74" t="0" b="0"/>
          <a:stretch/>
        </p:blipFill>
        <p:spPr>
          <a:xfrm>
            <a:off x="6446520" y="1417320"/>
            <a:ext cx="5029200" cy="28346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492240" y="4663440"/>
            <a:ext cx="4892040" cy="749808"/>
          </a:xfrm>
          <a:prstGeom prst="roundRect">
            <a:avLst>
              <a:gd name="adj" fmla="val 4878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38544" y="4782312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Prinsip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38544" y="505663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Form yang baik memberi arahan sebelum pengguna salah, bukan hanya menegur setelah salah.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Pertemuan 2: struktur form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Sebelum validasi, pastikan anatomi form sudah benar.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Setiap input yang dikirim harus memiliki atribut name.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Setiap input perlu label yang terhubung dengan for dan id.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type yang sesuai: email, number, date, tel, dan lainnya.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Kelompokkan input sejenis agar mudah dipahami.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Tombol submit harus menjelaskan aksi pengguna.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action="#" method="post"&gt;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for="nama"&gt;Nama Lengkap&lt;/label&gt;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id="nama" name="nama" type="text"&gt;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for="email"&gt;Email&lt;/label&gt;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id="email" name="email" type="email"&gt;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type="submit"&gt;Kirim Pendaftaran&lt;/button&gt;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Pertanyaan pemantik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Apa yang terjadi jika input tidak memiliki name? Apa dampaknya untuk backend?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 HTML5: atribut constraint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HTML menyediakan validasi dasar tanpa menulis JavaScript.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required: data wajib diisi.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minlength dan maxlength: batas jumlah karakter.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min, max, step: batas angka, tanggal, atau nilai numerik.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pattern: pola teks berbasis regular expression sederhana.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type tertentu punya validasi bawaan, seperti email dan url.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name="nama" required minlength="3"&gt;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name="email" required&gt;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type="number" name="usia" min="17" max="60"&gt;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name="nim" pattern="[0-9]{8,12}"&gt;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Catatan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Validasi HTML5 mudah diterapkan, tetapi pesan error default berbeda antar-browser.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vs optional field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Tidak semua data harus diminta; minta hanya yang benar-benar dibutuhkan.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3246120" cy="1280160"/>
          </a:xfrm>
          <a:prstGeom prst="roundRect">
            <a:avLst>
              <a:gd name="adj" fmla="val 2857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2084832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Wajib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" y="2359152"/>
            <a:ext cx="2953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Data inti yang dibutuhkan untuk proses utama: nama, email, NIM.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4389120" y="1965960"/>
            <a:ext cx="3246120" cy="1280160"/>
          </a:xfrm>
          <a:prstGeom prst="roundRect">
            <a:avLst>
              <a:gd name="adj" fmla="val 2857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084832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Opsional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35424" y="2359152"/>
            <a:ext cx="2953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Data tambahan yang tidak menghambat proses: catatan, preferensi, informasi pendukung.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246120" cy="1280160"/>
          </a:xfrm>
          <a:prstGeom prst="roundRect">
            <a:avLst>
              <a:gd name="adj" fmla="val 2857"/>
            </a:avLst>
          </a:prstGeom>
          <a:solidFill>
            <a:srgbClr val="FFE9E9"/>
          </a:solidFill>
          <a:ln w="12700">
            <a:solidFill>
              <a:srgbClr val="D948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84832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4848"/>
                </a:solidFill>
              </a:rPr>
              <a:t>Hindari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38744" y="2359152"/>
            <a:ext cx="2953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Meminta data sensitif tanpa tujuan jelas atau tanpa perlindungan.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1965960" y="3977640"/>
            <a:ext cx="8275320" cy="1481328"/>
          </a:xfrm>
          <a:prstGeom prst="roundRect">
            <a:avLst>
              <a:gd name="adj" fmla="val 2469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4087368"/>
            <a:ext cx="80010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for="nama"&gt;Nama Lengkap &lt;span&gt;*&lt;/span&gt;&lt;/label&gt;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id="nama" name="nama" required&gt;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for="catatan"&gt;Catatan Tambahan&lt;/label&gt;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id="catatan" name="catatan"&gt;&lt;/textarea&gt;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65960" y="5650992"/>
            <a:ext cx="8275320" cy="566928"/>
          </a:xfrm>
          <a:prstGeom prst="roundRect">
            <a:avLst>
              <a:gd name="adj" fmla="val 6452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2264" y="5769864"/>
            <a:ext cx="7982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Usability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12264" y="6044184"/>
            <a:ext cx="79827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Tanda wajib sebaiknya dijelaskan, bukan hanya diberi simbol bintang tanpa keterangan.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 format: email, url, tel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Gunakan type sesuai format agar browser membantu pengecekan awal.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type="email" memeriksa pola email dasar.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type="url" memeriksa format URL.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type="tel" memunculkan keyboard telepon di mobile, tetapi tidak memvalidasi pola otomatis.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placeholder hanya sebagai contoh format, bukan pengganti label.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Tambahkan teks bantuan jika format harus spesifik.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for="email"&gt;Email&lt;/label&gt;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id="email" name="email" type="email"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placeholder="nama@student.umy.ac.id" required&gt;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for="wa"&gt;No. WhatsApp&lt;/label&gt;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id="wa" name="wa" type="tel"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pattern="08[0-9]{8,11}"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placeholder="08xxxxxxxxxx"&gt;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 panjang teks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Batas panjang membantu data lebih konsisten dan mudah diproses.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minlength cocok untuk nama, password, atau jawaban teks.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maxlength mencegah teks terlalu panjang.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Untuk NIM, pattern lebih tepat daripada number.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Jelaskan format yang diharapkan kepada pengguna.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Tes input terlalu pendek, kosong, dan terlalu panjang.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for="nama"&gt;Nama Lengkap&lt;/label&gt;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id="nama" name="nama" type="text"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required minlength="3" maxlength="60"&gt;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for="nim"&gt;NIM&lt;/label&gt;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id="nim" name="nim" type="text"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required pattern="[0-9]{8,12}"&gt;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Mengapa NIM bukan number?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NIM adalah identitas, bukan angka untuk dihitung. type text menjaga nol di depan dan format tetap utuh.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 angka dan tanggal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Batas nilai membantu pengguna memilih rentang yang wajar.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number mendukung min, max, dan step.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date mendukung min dan max dalam format yyyy-mm-dd.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teks bantuan agar batasan mudah dipahami.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Browser mobile akan menampilkan kontrol input yang sesuai.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Hati-hati: tampilan date picker berbeda antar-browser.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for="jumlah"&gt;Jumlah Peserta&lt;/label&gt;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id="jumlah" name="jumlah" type="number"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min="1" max="5" step="1" required&gt;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for="tanggal"&gt;Tanggal Hadir&lt;/label&gt;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id="tanggal" name="tanggal" type="date"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min="2026-02-16" max="2026-03-07"&gt;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Pattern: validasi pola sederhana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Pattern berguna untuk format seperti NIM, kode kelas, atau nomor telepon.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pattern memakai regular expression.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pola sederhana agar mudah dipahami mahasiswa pemula.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Tambahkan title agar browser memberi petunjuk kesalahan.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Jangan mengandalkan pattern untuk keamanan data.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Tes data valid dan tidak valid sebelum dikumpulkan.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for="kelas"&gt;Kode Kelas&lt;/label&gt;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id="kelas" name="kelas" type="text"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pattern="[A-Z]{1}"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title="Masukkan satu huruf kapital, contoh: A" required&gt;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for="nim"&gt;NIM&lt;/label&gt;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id="nim" name="nim" type="text"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pattern="[0-9]{8,12}"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title="NIM berisi 8 sampai 12 digit angka" required&gt;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 dan checkbox lanjutan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Validasi pilihan bergantung pada cara elemen dikelompokkan.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Radio satu grup harus memakai name yang sama.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required cukup ditempatkan pada salah satu radio dalam grup.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Checkbox cocok untuk banyak pilihan.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Untuk checkbox minimal satu pilihan, HTML saja terbatas; bisa dibantu JavaScript pada materi lanjutan.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fieldset dan legend untuk kelompok pilihan.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&lt;fieldset&gt;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&lt;legend&gt;Pilih Sesi Workshop&lt;/legend&gt;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&lt;label&gt;&lt;input type="radio" name="sesi" value="pagi" required&gt; Pagi&lt;/label&gt;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&lt;label&gt;&lt;input type="radio" name="sesi" value="siang"&gt; Siang&lt;/label&gt;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&lt;/fieldset&gt;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&lt;label&gt;&lt;input type="checkbox" name="minat" value="html"&gt; HTML&lt;/label&gt;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&lt;label&gt;&lt;input type="checkbox" name="minat" value="css"&gt; CSS&lt;/label&gt;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Select, option, dan optgroup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Select membantu merapikan pilihan yang jumlahnya banyak.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option pertama bisa dipakai sebagai instruksi kosong.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value yang singkat dan konsisten.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optgroup mengelompokkan pilihan yang panjang.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disabled + selected membantu membuat placeholder pilihan.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required memastikan pengguna memilih opsi valid.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for="prodi"&gt;Program Studi&lt;/label&gt;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id="prodi" name="prodi" required&gt;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value="" selected disabled&gt;Pilih program studi&lt;/option&gt;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&lt;optgroup label="Fakultas Teknik"&gt;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value="ti"&gt;Teknologi Informasi&lt;/option&gt;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value="if"&gt;Informatika&lt;/option&gt;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&lt;/optgroup&gt;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Tip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Teks yang terlihat boleh panjang, tetapi value sebaiknya pendek dan stabil.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 input: batasan awal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Input file berguna, tetapi tetap perlu kebijakan dan validasi server.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type="file" membuka pemilih file dari perangkat.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accept memberi saran jenis file, bukan jaminan keamanan.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multiple memungkinkan unggah lebih dari satu file.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Jelaskan jenis dan ukuran file yang diharapkan.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Jangan unggah data sensitif tanpa kebutuhan jelas.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for="bukti"&gt;Upload Bukti KTM&lt;/label&gt;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id="bukti" name="bukti" type="file"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accept=".pdf,.jpg,.jpeg,.png"&gt;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&lt;p&gt;Format: PDF/JPG/PNG. Maksimal 2 MB.&lt;/p&gt;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Fieldset dan legend: form lebih bermakna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Kelompokkan pertanyaan agar form terasa pendek dan logis.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fieldset membungkus kelompok input yang saling terkait.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legend menjadi judul kelompok.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Bagus untuk identitas, pilihan sesi, preferensi, dan persetujuan.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Membantu screen reader menjelaskan konteks input.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Membuat kode lebih mudah dibaca.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&lt;fieldset&gt;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&lt;legend&gt;Identitas Peserta&lt;/legend&gt;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for="nama"&gt;Nama&lt;/label&gt;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id="nama" name="nama" required&gt;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for="email"&gt;Email&lt;/label&gt;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id="email" name="email" type="email" required&gt;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&lt;/fieldset&gt;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Usability form: mudah diisi, bukan sekadar valid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Form yang valid secara HTML belum tentu nyaman digunakan.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10512"/>
            <a:ext cx="3218688" cy="987552"/>
          </a:xfrm>
          <a:prstGeom prst="roundRect">
            <a:avLst>
              <a:gd name="adj" fmla="val 3704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929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Label jelas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" y="220370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Label tetap terlihat saat pengguna mengetik. Jangan hanya mengandalkan placeholder.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4361688" y="1810512"/>
            <a:ext cx="3218688" cy="987552"/>
          </a:xfrm>
          <a:prstGeom prst="roundRect">
            <a:avLst>
              <a:gd name="adj" fmla="val 3704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929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Instruksi dekat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220370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Letakkan contoh format atau batasan di dekat field yang relevan.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8129016" y="1810512"/>
            <a:ext cx="3218688" cy="987552"/>
          </a:xfrm>
          <a:prstGeom prst="roundRect">
            <a:avLst>
              <a:gd name="adj" fmla="val 3704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929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Urutan natural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20370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Susun input dari informasi paling mudah ke informasi yang lebih detail.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594360" y="3227832"/>
            <a:ext cx="3218688" cy="987552"/>
          </a:xfrm>
          <a:prstGeom prst="roundRect">
            <a:avLst>
              <a:gd name="adj" fmla="val 3704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Tombol spesifik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" y="362102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Gunakan “Kirim Pendaftaran”, bukan hanya “Submit”.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4361688" y="3227832"/>
            <a:ext cx="3218688" cy="987552"/>
          </a:xfrm>
          <a:prstGeom prst="roundRect">
            <a:avLst>
              <a:gd name="adj" fmla="val 3704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Minimalkan beban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07992" y="362102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Jangan meminta data yang tidak diperlukan pada tahap awal.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8129016" y="3227832"/>
            <a:ext cx="3218688" cy="987552"/>
          </a:xfrm>
          <a:prstGeom prst="roundRect">
            <a:avLst>
              <a:gd name="adj" fmla="val 3704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Feedback cepat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75320" y="362102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Beri petunjuk error yang dapat diperbaiki pengguna.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1051560" y="5074920"/>
            <a:ext cx="101041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F37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97864" y="5193792"/>
            <a:ext cx="9811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376B"/>
                </a:solidFill>
              </a:rPr>
              <a:t>Pertanyaan desain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97864" y="5468112"/>
            <a:ext cx="9811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Apakah pengguna tahu apa yang harus diisi, mengapa data itu diminta, dan bagaimana memperbaiki kesalahan?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Aksesibilitas form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Pengguna harus bisa mengisi form dengan keyboard, pembaca layar, dan perangkat berbeda.</a:t>
            </a:r>
            <a:endParaRPr lang="en-US" sz="1400" dirty="0"/>
          </a:p>
        </p:txBody>
      </p:sp>
      <p:pic>
        <p:nvPicPr>
          <p:cNvPr id="8" name="Image 0" descr="/mnt/data/wide_infographic_style_illustration_on_a_white_bac_batch_3.png">    </p:cNvPr>
          <p:cNvPicPr>
            <a:picLocks noChangeAspect="1"/>
          </p:cNvPicPr>
          <p:nvPr/>
        </p:nvPicPr>
        <p:blipFill>
          <a:blip r:embed="rId1"/>
          <a:srcRect l="103" r="103" t="0" b="0"/>
          <a:stretch/>
        </p:blipFill>
        <p:spPr>
          <a:xfrm>
            <a:off x="6446520" y="1234440"/>
            <a:ext cx="5074920" cy="28620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93852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828800"/>
            <a:ext cx="48737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Setiap input memiliki label yang terhubung.</a:t>
            </a:r>
            <a:endParaRPr lang="en-US" sz="1430" dirty="0"/>
          </a:p>
        </p:txBody>
      </p:sp>
      <p:sp>
        <p:nvSpPr>
          <p:cNvPr id="11" name="Shape 8"/>
          <p:cNvSpPr/>
          <p:nvPr/>
        </p:nvSpPr>
        <p:spPr>
          <a:xfrm>
            <a:off x="548640" y="241401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304288"/>
            <a:ext cx="48737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Urutan tab mengikuti urutan visual halaman.</a:t>
            </a:r>
            <a:endParaRPr lang="en-US" sz="1430" dirty="0"/>
          </a:p>
        </p:txBody>
      </p:sp>
      <p:sp>
        <p:nvSpPr>
          <p:cNvPr id="13" name="Shape 10"/>
          <p:cNvSpPr/>
          <p:nvPr/>
        </p:nvSpPr>
        <p:spPr>
          <a:xfrm>
            <a:off x="548640" y="288950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2779776"/>
            <a:ext cx="48737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Instruksi dan error dekat dengan field terkait.</a:t>
            </a:r>
            <a:endParaRPr lang="en-US" sz="1430" dirty="0"/>
          </a:p>
        </p:txBody>
      </p:sp>
      <p:sp>
        <p:nvSpPr>
          <p:cNvPr id="15" name="Shape 12"/>
          <p:cNvSpPr/>
          <p:nvPr/>
        </p:nvSpPr>
        <p:spPr>
          <a:xfrm>
            <a:off x="548640" y="336499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3255264"/>
            <a:ext cx="48737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Jangan menyampaikan error hanya dengan warna.</a:t>
            </a:r>
            <a:endParaRPr lang="en-US" sz="1430" dirty="0"/>
          </a:p>
        </p:txBody>
      </p:sp>
      <p:sp>
        <p:nvSpPr>
          <p:cNvPr id="17" name="Shape 14"/>
          <p:cNvSpPr/>
          <p:nvPr/>
        </p:nvSpPr>
        <p:spPr>
          <a:xfrm>
            <a:off x="548640" y="384048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730752"/>
            <a:ext cx="487375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Gunakan fieldset/legend untuk kelompok pilihan.</a:t>
            </a:r>
            <a:endParaRPr lang="en-US" sz="1430" dirty="0"/>
          </a:p>
        </p:txBody>
      </p:sp>
      <p:sp>
        <p:nvSpPr>
          <p:cNvPr id="19" name="Shape 16"/>
          <p:cNvSpPr/>
          <p:nvPr/>
        </p:nvSpPr>
        <p:spPr>
          <a:xfrm>
            <a:off x="658368" y="4983480"/>
            <a:ext cx="5120640" cy="749808"/>
          </a:xfrm>
          <a:prstGeom prst="roundRect">
            <a:avLst>
              <a:gd name="adj" fmla="val 487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5102352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Praktik cepat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" y="537667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Coba isi form hanya dengan keyboard: Tab, Shift+Tab, Space, Enter.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valid dan invalid: umpan balik visual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Pseudo-class membantu menandai status input tanpa JavaScript.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:valid berlaku saat nilai memenuhi aturan.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:invalid berlaku saat nilai melanggar aturan.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:focus membantu pengguna mengetahui posisi kursor.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warna plus ikon/teks agar tidak bergantung pada warna saja.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Jangan terlalu agresif menampilkan error sebelum pengguna mengetik.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input:focus {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outline: 2px solid #0b66c3;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input:valid {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border-color: green;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input:invalid {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border-color: red;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Catatan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Pada praktik HTML murni, cukup dikenalkan sebagai cara styling validasi dasar.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Pesan error yang membantu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Pesan error harus spesifik, sopan, dan memberi solusi.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Kurang baik: “Input salah”. Pengguna tidak tahu memperbaiki apa.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Lebih baik: “NIM harus berisi 8–12 digit angka”.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Letakkan instruksi sebelum pengguna melakukan kesalahan.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title untuk memberi petunjuk pada pattern.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Untuk pesan kustom yang lebih baik, gunakan JavaScript pada materi lanjutan.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for="nim"&gt;NIM&lt;/label&gt;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id="nim" name="nim" type="text"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pattern="[0-9]{8,12}"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title="NIM harus berisi 8 sampai 12 digit angka"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required&gt;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&lt;small&gt;Contoh: 2024012345&lt;/small&gt;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Constraint Validation API: pengantar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Untuk form lanjutan, JavaScript dapat membaca status validasi browser.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checkValidity() memeriksa apakah form valid.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reportValidity() memunculkan pesan validasi browser.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setCustomValidity() dapat memberi pesan khusus.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secukupnya; jangan membuat validasi terlalu rumit di awal.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Fokus utama pertemuan ini tetap HTML Form dan validasi dasar.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document.querySelector("form");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form.addEventListener("submit", function (event)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(!form.checkValidity())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event.preventDefault();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form.reportValidity();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Opsional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Slide ini bisa dilewati jika waktu terbatas, atau dipakai sebagai jembatan ke JavaScript DOM.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dosen: form registrasi tervalidasi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Bangun form dari struktur sederhana menjadi form yang siap diuji.</a:t>
            </a:r>
            <a:endParaRPr lang="en-US" sz="1400" dirty="0"/>
          </a:p>
        </p:txBody>
      </p:sp>
      <p:pic>
        <p:nvPicPr>
          <p:cNvPr id="8" name="Image 0" descr="/mnt/data/wide_clean_vector_flat_illustration_of_a_modern_c_batch_2.png">    </p:cNvPr>
          <p:cNvPicPr>
            <a:picLocks noChangeAspect="1"/>
          </p:cNvPicPr>
          <p:nvPr/>
        </p:nvPicPr>
        <p:blipFill>
          <a:blip r:embed="rId1"/>
          <a:srcRect l="0" r="0" t="179" b="179"/>
          <a:stretch/>
        </p:blipFill>
        <p:spPr>
          <a:xfrm>
            <a:off x="6720840" y="1243584"/>
            <a:ext cx="4663440" cy="2615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198424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" y="1874520"/>
            <a:ext cx="5376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Buat section identitas peserta dengan fieldset dan legend.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502920" y="245973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" y="2350008"/>
            <a:ext cx="5376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Tambahkan input nama, NIM, email, kelas, tanggal, dan sesi.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502920" y="293522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" y="2825496"/>
            <a:ext cx="5376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Terapkan required, minlength, pattern, min/max, dan type.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502920" y="341071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3300984"/>
            <a:ext cx="5376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Tambahkan small text sebagai instruksi.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502920" y="388620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" y="3776472"/>
            <a:ext cx="53766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Uji submit kosong, format salah, dan data valid.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6355080" y="4681728"/>
            <a:ext cx="5257800" cy="804672"/>
          </a:xfrm>
          <a:prstGeom prst="roundRect">
            <a:avLst>
              <a:gd name="adj" fmla="val 454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01384" y="4800600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Fokus demonstrasi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01384" y="5074920"/>
            <a:ext cx="4965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Setiap kali menambah input, jelaskan alasan memilih type dan atribut validasinya.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Kode inti demo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Contoh ini menjadi basis praktik mahasiswa.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Gunakan struktur fieldset untuk identitas.</a:t>
            </a:r>
            <a:endParaRPr lang="en-US" sz="141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32304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Hubungkan label dengan input melalui for dan id.</a:t>
            </a:r>
            <a:endParaRPr lang="en-US" sz="141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871216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Pastikan setiap input yang dikirim memiliki name.</a:t>
            </a:r>
            <a:endParaRPr lang="en-US" sz="1410" dirty="0"/>
          </a:p>
        </p:txBody>
      </p:sp>
      <p:sp>
        <p:nvSpPr>
          <p:cNvPr id="14" name="Shape 12"/>
          <p:cNvSpPr/>
          <p:nvPr/>
        </p:nvSpPr>
        <p:spPr>
          <a:xfrm>
            <a:off x="502920" y="341985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310128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Tambahkan validasi di atribut HTML.</a:t>
            </a:r>
            <a:endParaRPr lang="en-US" sz="141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49040"/>
            <a:ext cx="48280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3D4653"/>
                </a:solidFill>
              </a:rPr>
              <a:t>Cek form di browser sebelum mengumpulkan.</a:t>
            </a:r>
            <a:endParaRPr lang="en-US" sz="1410" dirty="0"/>
          </a:p>
        </p:txBody>
      </p:sp>
      <p:sp>
        <p:nvSpPr>
          <p:cNvPr id="18" name="Shape 16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&lt;fieldset&gt;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&lt;legend&gt;Identitas Peserta&lt;/legend&gt;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for="nama"&gt;Nama Lengkap&lt;/label&gt;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id="nama" name="nama" required minlength="3"&gt;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for="nim"&gt;NIM&lt;/label&gt;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id="nim" name="nim" pattern="[0-9]{8,12}" required&gt;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for="email"&gt;Email&lt;/label&gt;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id="email" name="email" type="email" required&gt;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&lt;/fieldset&gt;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Panduan praktik 50 menit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Skenario: buat form pendaftaran workshop yang valid dan mudah digunakan.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2006194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" y="2459736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Setup file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32104" y="2779776"/>
            <a:ext cx="171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5’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893162" y="1938528"/>
            <a:ext cx="2006194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84602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4602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39466" y="2459736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Struktur form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3039466" y="2779776"/>
            <a:ext cx="171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10’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100523" y="1938528"/>
            <a:ext cx="2006194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963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1963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46827" y="2459736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Input &amp; pilihan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5246827" y="2779776"/>
            <a:ext cx="171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15’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307885" y="1938528"/>
            <a:ext cx="2006194" cy="1078992"/>
          </a:xfrm>
          <a:prstGeom prst="roundRect">
            <a:avLst>
              <a:gd name="adj" fmla="val 5085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9325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99325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8C28"/>
                </a:solidFill>
              </a:rPr>
              <a:t>4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54189" y="2459736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Validasi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54189" y="2779776"/>
            <a:ext cx="171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28C28"/>
                </a:solidFill>
              </a:rPr>
              <a:t>10’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515246" y="1938528"/>
            <a:ext cx="2006194" cy="1078992"/>
          </a:xfrm>
          <a:prstGeom prst="roundRect">
            <a:avLst>
              <a:gd name="adj" fmla="val 5085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6686" y="20482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6686" y="212140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6C3"/>
                </a:solidFill>
              </a:rPr>
              <a:t>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61550" y="2459736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376B"/>
                </a:solidFill>
              </a:rPr>
              <a:t>Uji &amp; unggah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9661550" y="2779776"/>
            <a:ext cx="171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B66C3"/>
                </a:solidFill>
              </a:rPr>
              <a:t>10’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77240" y="3675888"/>
            <a:ext cx="5166360" cy="932688"/>
          </a:xfrm>
          <a:prstGeom prst="roundRect">
            <a:avLst>
              <a:gd name="adj" fmla="val 3922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3794760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Kebutuhan minimal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" y="4069080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Nama, NIM, email, program studi, kelas, sesi, tanggal hadir, dan motivasi singkat.</a:t>
            </a:r>
            <a:endParaRPr lang="en-US" sz="1190" dirty="0"/>
          </a:p>
        </p:txBody>
      </p:sp>
      <p:sp>
        <p:nvSpPr>
          <p:cNvPr id="36" name="Shape 34"/>
          <p:cNvSpPr/>
          <p:nvPr/>
        </p:nvSpPr>
        <p:spPr>
          <a:xfrm>
            <a:off x="6263640" y="3675888"/>
            <a:ext cx="5166360" cy="932688"/>
          </a:xfrm>
          <a:prstGeom prst="roundRect">
            <a:avLst>
              <a:gd name="adj" fmla="val 392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3794760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Validasi wajib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9944" y="4069080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Gunakan required, type=email, minlength, maxlength, pattern untuk NIM, dan minimal satu fieldset.</a:t>
            </a:r>
            <a:endParaRPr lang="en-US" sz="1190" dirty="0"/>
          </a:p>
        </p:txBody>
      </p:sp>
      <p:sp>
        <p:nvSpPr>
          <p:cNvPr id="39" name="Shape 37"/>
          <p:cNvSpPr/>
          <p:nvPr/>
        </p:nvSpPr>
        <p:spPr>
          <a:xfrm>
            <a:off x="1828800" y="5074920"/>
            <a:ext cx="8549640" cy="685800"/>
          </a:xfrm>
          <a:prstGeom prst="roundRect">
            <a:avLst>
              <a:gd name="adj" fmla="val 5333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75104" y="5193792"/>
            <a:ext cx="8257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Output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75104" y="5468112"/>
            <a:ext cx="8257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index.html dapat dibuka di browser, tidak error struktur dasar, dan siap diunggah ke GitHub/Moodle.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uji form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Uji tidak hanya “bisa tampil”, tetapi juga “bisa mencegah kesalahan”.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993392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D4653"/>
                </a:solidFill>
              </a:rPr>
              <a:t>Submit form kosong: apakah field wajib terdeteksi?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386584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D4653"/>
                </a:solidFill>
              </a:rPr>
              <a:t>Masukkan email salah: apakah browser memberi peringatan?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779776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D4653"/>
                </a:solidFill>
              </a:rPr>
              <a:t>Masukkan NIM huruf: apakah pattern menolak?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502920" y="3282696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172968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D4653"/>
                </a:solidFill>
              </a:rPr>
              <a:t>Coba navigasi dengan keyboard menggunakan Tab.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86868" cy="86868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566160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D4653"/>
                </a:solidFill>
              </a:rPr>
              <a:t>Periksa label: klik teks label, apakah fokus pindah ke input?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86868" cy="868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959352"/>
            <a:ext cx="482803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3D4653"/>
                </a:solidFill>
              </a:rPr>
              <a:t>Jalankan validasi struktur HTML bila tersedia.</a:t>
            </a:r>
            <a:endParaRPr lang="en-US" sz="1380" dirty="0"/>
          </a:p>
        </p:txBody>
      </p:sp>
      <p:sp>
        <p:nvSpPr>
          <p:cNvPr id="20" name="Shape 18"/>
          <p:cNvSpPr/>
          <p:nvPr/>
        </p:nvSpPr>
        <p:spPr>
          <a:xfrm>
            <a:off x="5715000" y="1874520"/>
            <a:ext cx="5715000" cy="3566160"/>
          </a:xfrm>
          <a:prstGeom prst="roundRect">
            <a:avLst>
              <a:gd name="adj" fmla="val 10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984248"/>
            <a:ext cx="544068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action="#" method="post"&gt;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Uji 1: submit kosong --&gt;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Uji 2: format email salah --&gt;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Uji 3: NIM tidak sesuai pattern --&gt;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Uji 4: navigasi keyboard --&gt;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715000" y="5596128"/>
            <a:ext cx="5715000" cy="658368"/>
          </a:xfrm>
          <a:prstGeom prst="roundRect">
            <a:avLst>
              <a:gd name="adj" fmla="val 555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5715000"/>
            <a:ext cx="5422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Bukti pengumpulan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61304" y="5989320"/>
            <a:ext cx="5422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Mahasiswa dapat menyertakan screenshot form dan screenshot pesan validasi browser.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</a:rPr>
              <a:t>PERTEMUAN 3 • CPMK51 / Sub-CPMK51.2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ringkas &amp; refleksi akhir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D4653"/>
                </a:solidFill>
              </a:rPr>
              <a:t>Gunakan rubrik ini untuk menilai kualitas form secara cepat.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87452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Struktur 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" y="2148840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form, fieldset, legend, label, id, dan name tertulis benar.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187452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Input tepat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18504" y="2148840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type sesuai kebutuhan: text, email, tel, number, date, radio/select/textarea.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685800" y="308152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32004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Validasi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" y="3474720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required, minlength, maxlength, pattern, min/max digunakan sesuai kasus.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6172200" y="308152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3200400"/>
            <a:ext cx="4599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Usability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18504" y="3474720"/>
            <a:ext cx="4599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3D4653"/>
                </a:solidFill>
              </a:rPr>
              <a:t>instruksi jelas, error dapat diperbaiki, urutan input logis.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1353312" y="4956048"/>
            <a:ext cx="94640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00200" y="5157216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76B"/>
                </a:solidFill>
              </a:rPr>
              <a:t>Refleksi: validasi apa yang paling penting untuk mencegah data salah pada form pendaftaran kampus?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3 HTML Form Lanjutan dan Validasi</dc:title>
  <dc:subject>TI401 Pertemuan 3 - HTML Form Lanjutan &amp; Validasi</dc:subject>
  <dc:creator>TI UMY</dc:creator>
  <cp:lastModifiedBy>TI UMY</cp:lastModifiedBy>
  <cp:revision>1</cp:revision>
  <dcterms:created xsi:type="dcterms:W3CDTF">2026-07-19T18:44:59Z</dcterms:created>
  <dcterms:modified xsi:type="dcterms:W3CDTF">2026-07-19T18:44:59Z</dcterms:modified>
</cp:coreProperties>
</file>