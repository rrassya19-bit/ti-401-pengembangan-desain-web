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56032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66D0"/>
                </a:solidFill>
              </a:rPr>
              <a:t>PERTEMUAN 5 • CPMK51 / Sub-CPMK51.4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320040" y="685800"/>
            <a:ext cx="5486400" cy="11887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3300" b="1" dirty="0">
                <a:solidFill>
                  <a:srgbClr val="0F2447"/>
                </a:solidFill>
              </a:rPr>
              <a:t>CSS Layout:</a:t>
            </a:r>
            <a:endParaRPr lang="en-US" sz="3300" dirty="0"/>
          </a:p>
          <a:p>
            <a:pPr indent="0" marL="0">
              <a:buNone/>
            </a:pPr>
            <a:r>
              <a:rPr lang="en-US" sz="3300" b="1" dirty="0">
                <a:solidFill>
                  <a:srgbClr val="0F2447"/>
                </a:solidFill>
              </a:rPr>
              <a:t>Flexbox &amp; Grid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365760" y="2057400"/>
            <a:ext cx="539496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475569"/>
                </a:solidFill>
              </a:rPr>
              <a:t>Target 100 menit: mahasiswa mampu merancang layout halaman web modern menggunakan Flexbox dan Grid secara tepat, responsif, dan mudah dipelihara.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365760" y="2880360"/>
            <a:ext cx="5349240" cy="384048"/>
          </a:xfrm>
          <a:prstGeom prst="rect">
            <a:avLst/>
          </a:prstGeom>
          <a:solidFill>
            <a:srgbClr val="FFF4E8"/>
          </a:solidFill>
          <a:ln w="12700">
            <a:solidFill>
              <a:srgbClr val="F28C28">
                <a:alpha val="9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28C28"/>
                </a:solidFill>
              </a:rPr>
              <a:t>Capaian: merancang layout menggunakan Flexbox dan Grid</a:t>
            </a:r>
            <a:endParaRPr lang="en-US" sz="1220" dirty="0"/>
          </a:p>
        </p:txBody>
      </p:sp>
      <p:pic>
        <p:nvPicPr>
          <p:cNvPr id="6" name="Image 0" descr="/mnt/data/a_clean_modern_educational_illustration_promoti_batch_2.png">    </p:cNvPr>
          <p:cNvPicPr>
            <a:picLocks noChangeAspect="1"/>
          </p:cNvPicPr>
          <p:nvPr/>
        </p:nvPicPr>
        <p:blipFill>
          <a:blip r:embed="rId1"/>
          <a:srcRect l="185" r="185" t="0" b="0"/>
          <a:stretch/>
        </p:blipFill>
        <p:spPr>
          <a:xfrm>
            <a:off x="5943600" y="502920"/>
            <a:ext cx="5989320" cy="33832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41605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447"/>
                </a:solidFill>
              </a:rPr>
              <a:t>Alur Pembelajaran 100 Menit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411480" y="4599432"/>
            <a:ext cx="621792" cy="274320"/>
          </a:xfrm>
          <a:prstGeom prst="rect">
            <a:avLst/>
          </a:prstGeom>
          <a:solidFill>
            <a:srgbClr val="FFF0E3"/>
          </a:solidFill>
          <a:ln w="12700">
            <a:solidFill>
              <a:srgbClr val="F28C28">
                <a:alpha val="9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28C28"/>
                </a:solidFill>
              </a:rPr>
              <a:t>10’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1188720" y="4617720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475569"/>
                </a:solidFill>
              </a:rPr>
              <a:t>Orientasi &amp; studi kasus — Kenapa layout sering rusak di layar berbeda.</a:t>
            </a:r>
            <a:endParaRPr lang="en-US" sz="1080" dirty="0"/>
          </a:p>
        </p:txBody>
      </p:sp>
      <p:sp>
        <p:nvSpPr>
          <p:cNvPr id="10" name="Text 7"/>
          <p:cNvSpPr/>
          <p:nvPr/>
        </p:nvSpPr>
        <p:spPr>
          <a:xfrm>
            <a:off x="1188720" y="4617720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0F2447"/>
                </a:solidFill>
              </a:rPr>
              <a:t>Orientasi &amp; studi kasus</a:t>
            </a:r>
            <a:endParaRPr lang="en-US" sz="1080" dirty="0"/>
          </a:p>
        </p:txBody>
      </p:sp>
      <p:sp>
        <p:nvSpPr>
          <p:cNvPr id="11" name="Text 8"/>
          <p:cNvSpPr/>
          <p:nvPr/>
        </p:nvSpPr>
        <p:spPr>
          <a:xfrm>
            <a:off x="411480" y="4965192"/>
            <a:ext cx="621792" cy="274320"/>
          </a:xfrm>
          <a:prstGeom prst="rect">
            <a:avLst/>
          </a:prstGeom>
          <a:solidFill>
            <a:srgbClr val="EAF3FF"/>
          </a:solidFill>
          <a:ln w="12700">
            <a:solidFill>
              <a:srgbClr val="1E66D0">
                <a:alpha val="9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66D0"/>
                </a:solidFill>
              </a:rPr>
              <a:t>20’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1188720" y="4983480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475569"/>
                </a:solidFill>
              </a:rPr>
              <a:t>Konsep layout CSS — Normal flow, display, box model, dan responsive thinking.</a:t>
            </a:r>
            <a:endParaRPr lang="en-US" sz="1080" dirty="0"/>
          </a:p>
        </p:txBody>
      </p:sp>
      <p:sp>
        <p:nvSpPr>
          <p:cNvPr id="13" name="Text 10"/>
          <p:cNvSpPr/>
          <p:nvPr/>
        </p:nvSpPr>
        <p:spPr>
          <a:xfrm>
            <a:off x="1188720" y="4983480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0F2447"/>
                </a:solidFill>
              </a:rPr>
              <a:t>Konsep layout CSS</a:t>
            </a:r>
            <a:endParaRPr lang="en-US" sz="1080" dirty="0"/>
          </a:p>
        </p:txBody>
      </p:sp>
      <p:sp>
        <p:nvSpPr>
          <p:cNvPr id="14" name="Text 11"/>
          <p:cNvSpPr/>
          <p:nvPr/>
        </p:nvSpPr>
        <p:spPr>
          <a:xfrm>
            <a:off x="411480" y="5330952"/>
            <a:ext cx="621792" cy="274320"/>
          </a:xfrm>
          <a:prstGeom prst="rect">
            <a:avLst/>
          </a:prstGeom>
          <a:solidFill>
            <a:srgbClr val="FFF0E3"/>
          </a:solidFill>
          <a:ln w="12700">
            <a:solidFill>
              <a:srgbClr val="F28C28">
                <a:alpha val="9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28C28"/>
                </a:solidFill>
              </a:rPr>
              <a:t>25’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1188720" y="5349240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475569"/>
                </a:solidFill>
              </a:rPr>
              <a:t>Flexbox — Container, axis, alignment, wrap, dan gap.</a:t>
            </a:r>
            <a:endParaRPr lang="en-US" sz="1080" dirty="0"/>
          </a:p>
        </p:txBody>
      </p:sp>
      <p:sp>
        <p:nvSpPr>
          <p:cNvPr id="16" name="Text 13"/>
          <p:cNvSpPr/>
          <p:nvPr/>
        </p:nvSpPr>
        <p:spPr>
          <a:xfrm>
            <a:off x="1188720" y="5349240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0F2447"/>
                </a:solidFill>
              </a:rPr>
              <a:t>Flexbox</a:t>
            </a:r>
            <a:endParaRPr lang="en-US" sz="1080" dirty="0"/>
          </a:p>
        </p:txBody>
      </p:sp>
      <p:sp>
        <p:nvSpPr>
          <p:cNvPr id="17" name="Text 14"/>
          <p:cNvSpPr/>
          <p:nvPr/>
        </p:nvSpPr>
        <p:spPr>
          <a:xfrm>
            <a:off x="411480" y="5696712"/>
            <a:ext cx="621792" cy="274320"/>
          </a:xfrm>
          <a:prstGeom prst="rect">
            <a:avLst/>
          </a:prstGeom>
          <a:solidFill>
            <a:srgbClr val="EAF3FF"/>
          </a:solidFill>
          <a:ln w="12700">
            <a:solidFill>
              <a:srgbClr val="1E66D0">
                <a:alpha val="9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66D0"/>
                </a:solidFill>
              </a:rPr>
              <a:t>25’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1188720" y="5715000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475569"/>
                </a:solidFill>
              </a:rPr>
              <a:t>Grid — Track, columns, rows, area, dan card layout.</a:t>
            </a:r>
            <a:endParaRPr lang="en-US" sz="1080" dirty="0"/>
          </a:p>
        </p:txBody>
      </p:sp>
      <p:sp>
        <p:nvSpPr>
          <p:cNvPr id="19" name="Text 16"/>
          <p:cNvSpPr/>
          <p:nvPr/>
        </p:nvSpPr>
        <p:spPr>
          <a:xfrm>
            <a:off x="1188720" y="5715000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0F2447"/>
                </a:solidFill>
              </a:rPr>
              <a:t>Grid</a:t>
            </a:r>
            <a:endParaRPr lang="en-US" sz="1080" dirty="0"/>
          </a:p>
        </p:txBody>
      </p:sp>
      <p:sp>
        <p:nvSpPr>
          <p:cNvPr id="20" name="Text 17"/>
          <p:cNvSpPr/>
          <p:nvPr/>
        </p:nvSpPr>
        <p:spPr>
          <a:xfrm>
            <a:off x="411480" y="6062472"/>
            <a:ext cx="621792" cy="274320"/>
          </a:xfrm>
          <a:prstGeom prst="rect">
            <a:avLst/>
          </a:prstGeom>
          <a:solidFill>
            <a:srgbClr val="FFF0E3"/>
          </a:solidFill>
          <a:ln w="12700">
            <a:solidFill>
              <a:srgbClr val="F28C28">
                <a:alpha val="9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28C28"/>
                </a:solidFill>
              </a:rPr>
              <a:t>20’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1188720" y="6080760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475569"/>
                </a:solidFill>
              </a:rPr>
              <a:t>Demo, latihan, refleksi — Membangun homepage sederhana dan validasi hasil.</a:t>
            </a:r>
            <a:endParaRPr lang="en-US" sz="1080" dirty="0"/>
          </a:p>
        </p:txBody>
      </p:sp>
      <p:sp>
        <p:nvSpPr>
          <p:cNvPr id="22" name="Text 19"/>
          <p:cNvSpPr/>
          <p:nvPr/>
        </p:nvSpPr>
        <p:spPr>
          <a:xfrm>
            <a:off x="1188720" y="6080760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0F2447"/>
                </a:solidFill>
              </a:rPr>
              <a:t>Demo, latihan, refleksi</a:t>
            </a:r>
            <a:endParaRPr lang="en-US" sz="1080" dirty="0"/>
          </a:p>
        </p:txBody>
      </p:sp>
      <p:sp>
        <p:nvSpPr>
          <p:cNvPr id="23" name="Text 20"/>
          <p:cNvSpPr/>
          <p:nvPr/>
        </p:nvSpPr>
        <p:spPr>
          <a:xfrm>
            <a:off x="292608" y="65562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C93"/>
                </a:solidFill>
              </a:rPr>
              <a:t>TI401 • Pengembangan Desain Web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11612880" y="651052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2447"/>
                </a:solidFill>
              </a:rPr>
              <a:t>01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292608" y="6419088"/>
            <a:ext cx="11567160" cy="0"/>
          </a:xfrm>
          <a:prstGeom prst="line">
            <a:avLst/>
          </a:prstGeom>
          <a:noFill/>
          <a:ln w="10160">
            <a:solidFill>
              <a:srgbClr val="DDE7F3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56032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66D0"/>
                </a:solidFill>
              </a:rPr>
              <a:t>PERTEMUAN 5 • CPMK51 / Sub-CPMK51.4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320040" y="658368"/>
            <a:ext cx="55778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F2447"/>
                </a:solidFill>
              </a:rPr>
              <a:t>Peta Capaian Pertemuan 5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94360" y="1828800"/>
            <a:ext cx="3337560" cy="1097280"/>
          </a:xfrm>
          <a:prstGeom prst="rect">
            <a:avLst/>
          </a:prstGeom>
          <a:solidFill>
            <a:srgbClr val="EAF3FF"/>
          </a:solidFill>
          <a:ln w="12700">
            <a:solidFill>
              <a:srgbClr val="CFE0F3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475569"/>
                </a:solidFill>
              </a:rPr>
              <a:t>Pengetahuan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475569"/>
                </a:solidFill>
              </a:rPr>
              <a:t>Memahami perbedaan normal flow, Flexbox, dan Grid.</a:t>
            </a:r>
            <a:endParaRPr lang="en-US" sz="1320" dirty="0"/>
          </a:p>
        </p:txBody>
      </p:sp>
      <p:sp>
        <p:nvSpPr>
          <p:cNvPr id="5" name="Text 3"/>
          <p:cNvSpPr/>
          <p:nvPr/>
        </p:nvSpPr>
        <p:spPr>
          <a:xfrm>
            <a:off x="704088" y="1920240"/>
            <a:ext cx="31181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E66D0"/>
                </a:solidFill>
              </a:rPr>
              <a:t>Pengetahuan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343400" y="1828800"/>
            <a:ext cx="3337560" cy="1097280"/>
          </a:xfrm>
          <a:prstGeom prst="rect">
            <a:avLst/>
          </a:prstGeom>
          <a:solidFill>
            <a:srgbClr val="FFF0E3"/>
          </a:solidFill>
          <a:ln w="12700">
            <a:solidFill>
              <a:srgbClr val="CFE0F3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475569"/>
                </a:solidFill>
              </a:rPr>
              <a:t>Keterampilan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475569"/>
                </a:solidFill>
              </a:rPr>
              <a:t>Membuat navigation bar, hero section, dan card grid responsif.</a:t>
            </a:r>
            <a:endParaRPr lang="en-US" sz="1320" dirty="0"/>
          </a:p>
        </p:txBody>
      </p:sp>
      <p:sp>
        <p:nvSpPr>
          <p:cNvPr id="7" name="Text 5"/>
          <p:cNvSpPr/>
          <p:nvPr/>
        </p:nvSpPr>
        <p:spPr>
          <a:xfrm>
            <a:off x="4453128" y="1920240"/>
            <a:ext cx="31181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28C28"/>
                </a:solidFill>
              </a:rPr>
              <a:t>Keterampilan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092440" y="1828800"/>
            <a:ext cx="3337560" cy="1097280"/>
          </a:xfrm>
          <a:prstGeom prst="rect">
            <a:avLst/>
          </a:prstGeom>
          <a:solidFill>
            <a:srgbClr val="EAF8F0"/>
          </a:solidFill>
          <a:ln w="12700">
            <a:solidFill>
              <a:srgbClr val="CFE0F3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475569"/>
                </a:solidFill>
              </a:rPr>
              <a:t>Sikap kerja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475569"/>
                </a:solidFill>
              </a:rPr>
              <a:t>Memilih teknik layout sesuai kebutuhan, bukan sekadar meniru kode.</a:t>
            </a:r>
            <a:endParaRPr lang="en-US" sz="1320" dirty="0"/>
          </a:p>
        </p:txBody>
      </p:sp>
      <p:sp>
        <p:nvSpPr>
          <p:cNvPr id="9" name="Text 7"/>
          <p:cNvSpPr/>
          <p:nvPr/>
        </p:nvSpPr>
        <p:spPr>
          <a:xfrm>
            <a:off x="8202168" y="1920240"/>
            <a:ext cx="31181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E9D61"/>
                </a:solidFill>
              </a:rPr>
              <a:t>Sikap kerja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3749040"/>
            <a:ext cx="4754880" cy="1417320"/>
          </a:xfrm>
          <a:prstGeom prst="rect">
            <a:avLst/>
          </a:prstGeom>
          <a:solidFill>
            <a:srgbClr val="F5F9FF"/>
          </a:solidFill>
          <a:ln w="12700">
            <a:solidFill>
              <a:srgbClr val="CFE0F3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 akhir sesi: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/05_css-layout/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index.html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style.css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Halaman berisi header, hero, card grid, dan footer yang responsif.</a:t>
            </a:r>
            <a:endParaRPr lang="en-US" sz="1300" dirty="0"/>
          </a:p>
        </p:txBody>
      </p:sp>
      <p:pic>
        <p:nvPicPr>
          <p:cNvPr id="11" name="Image 0" descr="/mnt/data/wide_clean_educational_infographic_slide_style_i_batch_1.png">    </p:cNvPr>
          <p:cNvPicPr>
            <a:picLocks noChangeAspect="1"/>
          </p:cNvPicPr>
          <p:nvPr/>
        </p:nvPicPr>
        <p:blipFill>
          <a:blip r:embed="rId1"/>
          <a:srcRect l="0" r="0" t="12848" b="12848"/>
          <a:stretch/>
        </p:blipFill>
        <p:spPr>
          <a:xfrm>
            <a:off x="6309360" y="3337560"/>
            <a:ext cx="5029200" cy="21031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292608" y="65562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C93"/>
                </a:solidFill>
              </a:rPr>
              <a:t>TI401 • Pengembangan Desain Web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11612880" y="651052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2447"/>
                </a:solidFill>
              </a:rPr>
              <a:t>02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292608" y="6419088"/>
            <a:ext cx="11567160" cy="0"/>
          </a:xfrm>
          <a:prstGeom prst="line">
            <a:avLst/>
          </a:prstGeom>
          <a:noFill/>
          <a:ln w="10160">
            <a:solidFill>
              <a:srgbClr val="DDE7F3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56032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66D0"/>
                </a:solidFill>
              </a:rPr>
              <a:t>PERTEMUAN 5 • CPMK51 / Sub-CPMK51.4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320040" y="658368"/>
            <a:ext cx="55778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F2447"/>
                </a:solidFill>
              </a:rPr>
              <a:t>Mengapa Layout Penting?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94360" y="1600200"/>
            <a:ext cx="5120640" cy="1188720"/>
          </a:xfrm>
          <a:prstGeom prst="rect">
            <a:avLst/>
          </a:prstGeom>
          <a:solidFill>
            <a:srgbClr val="FFF5EC"/>
          </a:solidFill>
          <a:ln w="12700">
            <a:solidFill>
              <a:srgbClr val="CFE0F3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Masalah umum tanpa layout yang tepat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Konten menumpuk tidak rapi, tombol berpindah posisi, card tidak sejajar, dan halaman sulit digunakan di HP.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04088" y="1691640"/>
            <a:ext cx="4901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28C28"/>
                </a:solidFill>
              </a:rPr>
              <a:t>Masalah umum tanpa layout yang tepat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94360" y="3063240"/>
            <a:ext cx="5120640" cy="1188720"/>
          </a:xfrm>
          <a:prstGeom prst="rect">
            <a:avLst/>
          </a:prstGeom>
          <a:solidFill>
            <a:srgbClr val="F5FAFF"/>
          </a:solidFill>
          <a:ln w="12700">
            <a:solidFill>
              <a:srgbClr val="CFE0F3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Tujuan layout modern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Struktur konten jelas, jarak konsisten, responsif, mudah dipelihara, serta sesuai prinsip UI/UX.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04088" y="3154680"/>
            <a:ext cx="4901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E66D0"/>
                </a:solidFill>
              </a:rPr>
              <a:t>Tujuan layout modern</a:t>
            </a:r>
            <a:endParaRPr lang="en-US" sz="1500" dirty="0"/>
          </a:p>
        </p:txBody>
      </p:sp>
      <p:pic>
        <p:nvPicPr>
          <p:cNvPr id="8" name="Image 0" descr="/mnt/data/a_clean_modern_educational_illustration_promoti_batch_2.png">    </p:cNvPr>
          <p:cNvPicPr>
            <a:picLocks noChangeAspect="1"/>
          </p:cNvPicPr>
          <p:nvPr/>
        </p:nvPicPr>
        <p:blipFill>
          <a:blip r:embed="rId1"/>
          <a:srcRect l="15719" r="15719" t="0" b="0"/>
          <a:stretch/>
        </p:blipFill>
        <p:spPr>
          <a:xfrm>
            <a:off x="6309360" y="1298448"/>
            <a:ext cx="5257800" cy="43159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92608" y="65562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C93"/>
                </a:solidFill>
              </a:rPr>
              <a:t>TI401 • Pengembangan Desain Web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11612880" y="651052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2447"/>
                </a:solidFill>
              </a:rPr>
              <a:t>03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92608" y="6419088"/>
            <a:ext cx="11567160" cy="0"/>
          </a:xfrm>
          <a:prstGeom prst="line">
            <a:avLst/>
          </a:prstGeom>
          <a:noFill/>
          <a:ln w="10160">
            <a:solidFill>
              <a:srgbClr val="DDE7F3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56032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66D0"/>
                </a:solidFill>
              </a:rPr>
              <a:t>PERTEMUAN 5 • CPMK51 / Sub-CPMK51.4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320040" y="658368"/>
            <a:ext cx="55778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F2447"/>
                </a:solidFill>
              </a:rPr>
              <a:t>Dari Box Model ke Layout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4526280" cy="2011680"/>
          </a:xfrm>
          <a:prstGeom prst="rect">
            <a:avLst/>
          </a:prstGeom>
          <a:solidFill>
            <a:srgbClr val="F8FBFF"/>
          </a:solidFill>
          <a:ln w="12700">
            <a:solidFill>
              <a:srgbClr val="CFE0F3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Box model: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 → padding → border → margin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Layout: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container → item → arah → jarak → responsif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760720" y="1417320"/>
            <a:ext cx="530352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FE0F3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Urutan berpikir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870448" y="1508760"/>
            <a:ext cx="5084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E66D0"/>
                </a:solidFill>
              </a:rPr>
              <a:t>Urutan berpikir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035040" y="1938528"/>
            <a:ext cx="4754880" cy="2148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</a:rPr>
              <a:t>• Tentukan struktur HTML semantik
</a:t>
            </a:r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</a:rPr>
              <a:t>• Tentukan area besar halaman
</a:t>
            </a:r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</a:rPr>
              <a:t>• Pilih Flexbox untuk satu arah
</a:t>
            </a:r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</a:rPr>
              <a:t>• Pilih Grid untuk dua arah
</a:t>
            </a:r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</a:rPr>
              <a:t>• Uji di ukuran layar berbeda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51560" y="4343400"/>
            <a:ext cx="9966960" cy="502920"/>
          </a:xfrm>
          <a:prstGeom prst="rect">
            <a:avLst/>
          </a:prstGeom>
          <a:solidFill>
            <a:srgbClr val="EAF8F0"/>
          </a:solidFill>
          <a:ln w="12700">
            <a:solidFill>
              <a:srgbClr val="2E9D61">
                <a:alpha val="9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9D61"/>
                </a:solidFill>
              </a:rPr>
              <a:t>Prinsip: layout yang baik dimulai dari struktur HTML yang benar.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92608" y="65562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C93"/>
                </a:solidFill>
              </a:rPr>
              <a:t>TI401 • Pengembangan Desain Web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1612880" y="651052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2447"/>
                </a:solidFill>
              </a:rPr>
              <a:t>04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92608" y="6419088"/>
            <a:ext cx="11567160" cy="0"/>
          </a:xfrm>
          <a:prstGeom prst="line">
            <a:avLst/>
          </a:prstGeom>
          <a:noFill/>
          <a:ln w="10160">
            <a:solidFill>
              <a:srgbClr val="DDE7F3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56032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66D0"/>
                </a:solidFill>
              </a:rPr>
              <a:t>PERTEMUAN 5 • CPMK51 / Sub-CPMK51.4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320040" y="658368"/>
            <a:ext cx="55778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F2447"/>
                </a:solidFill>
              </a:rPr>
              <a:t>Normal Flow: Posisi Default HTML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3520440" cy="1645920"/>
          </a:xfrm>
          <a:prstGeom prst="rect">
            <a:avLst/>
          </a:prstGeom>
          <a:solidFill>
            <a:srgbClr val="F8FBFF"/>
          </a:solidFill>
          <a:ln w="12700">
            <a:solidFill>
              <a:srgbClr val="CFE0F3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Block element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Memenuhi lebar baris dan turun ke baris baru. Contoh: div, section, article, h1, p.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3300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E66D0"/>
                </a:solidFill>
              </a:rPr>
              <a:t>Block element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389120" y="1554480"/>
            <a:ext cx="3520440" cy="1645920"/>
          </a:xfrm>
          <a:prstGeom prst="rect">
            <a:avLst/>
          </a:prstGeom>
          <a:solidFill>
            <a:srgbClr val="FFFAF5"/>
          </a:solidFill>
          <a:ln w="12700">
            <a:solidFill>
              <a:srgbClr val="CFE0F3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Inline element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Mengikuti isi teks dan tidak membuat baris baru. Contoh: a, span, strong.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498848" y="1645920"/>
            <a:ext cx="3300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28C28"/>
                </a:solidFill>
              </a:rPr>
              <a:t>Inline element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138160" y="1554480"/>
            <a:ext cx="3520440" cy="1645920"/>
          </a:xfrm>
          <a:prstGeom prst="rect">
            <a:avLst/>
          </a:prstGeom>
          <a:solidFill>
            <a:srgbClr val="F4FBF7"/>
          </a:solidFill>
          <a:ln w="12700">
            <a:solidFill>
              <a:srgbClr val="CFE0F3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Inline-block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Bersifat inline tetapi ukuran width/height dapat diatur.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47888" y="1645920"/>
            <a:ext cx="3300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E9D61"/>
                </a:solidFill>
              </a:rPr>
              <a:t>Inline-block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51560" y="3794760"/>
            <a:ext cx="4754880" cy="1417320"/>
          </a:xfrm>
          <a:prstGeom prst="rect">
            <a:avLst/>
          </a:prstGeom>
          <a:solidFill>
            <a:srgbClr val="F5F9FF"/>
          </a:solidFill>
          <a:ln w="12700">
            <a:solidFill>
              <a:srgbClr val="CFE0F3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&lt;h1&gt;Judul&lt;/h1&gt;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&lt;p&gt;Paragraf &lt;a href="#"&gt;tautan&lt;/a&gt;&lt;/p&gt;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&lt;section&gt;Konten utama&lt;/section&gt;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400800" y="3794760"/>
            <a:ext cx="4206240" cy="1417320"/>
          </a:xfrm>
          <a:prstGeom prst="rect">
            <a:avLst/>
          </a:prstGeom>
          <a:solidFill>
            <a:srgbClr val="FFFAF5"/>
          </a:solidFill>
          <a:ln w="12700">
            <a:solidFill>
              <a:srgbClr val="CFE0F3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semua masih mengikuti normal flow */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{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margin-top: 24px;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292608" y="65562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C93"/>
                </a:solidFill>
              </a:rPr>
              <a:t>TI401 • Pengembangan Desain Web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1612880" y="651052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2447"/>
                </a:solidFill>
              </a:rPr>
              <a:t>05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92608" y="6419088"/>
            <a:ext cx="11567160" cy="0"/>
          </a:xfrm>
          <a:prstGeom prst="line">
            <a:avLst/>
          </a:prstGeom>
          <a:noFill/>
          <a:ln w="10160">
            <a:solidFill>
              <a:srgbClr val="DDE7F3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56032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66D0"/>
                </a:solidFill>
              </a:rPr>
              <a:t>PERTEMUAN 5 • CPMK51 / Sub-CPMK51.4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320040" y="658368"/>
            <a:ext cx="55778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F2447"/>
                </a:solidFill>
              </a:rPr>
              <a:t>Properti display sebagai Pintu Layout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645920"/>
            <a:ext cx="5257800" cy="4343400"/>
          </a:xfrm>
          <a:prstGeom prst="rect">
            <a:avLst/>
          </a:prstGeom>
          <a:solidFill>
            <a:srgbClr val="F8FBFF"/>
          </a:solidFill>
          <a:ln w="12700">
            <a:solidFill>
              <a:srgbClr val="CFE0F3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display: block / inline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12648" y="1737360"/>
            <a:ext cx="5038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E66D0"/>
                </a:solidFill>
              </a:rPr>
              <a:t>display: block / inline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2148840"/>
            <a:ext cx="4892040" cy="34747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475569"/>
                </a:solidFill>
              </a:rPr>
              <a:t>• Mengubah perilaku dasar elemen
</a:t>
            </a:r>
            <a:pPr indent="0" marL="0">
              <a:buNone/>
            </a:pPr>
            <a:r>
              <a:rPr lang="en-US" sz="1420" dirty="0">
                <a:solidFill>
                  <a:srgbClr val="475569"/>
                </a:solidFill>
              </a:rPr>
              <a:t>• Menentukan apakah elemen memenuhi baris atau mengikuti teks
</a:t>
            </a:r>
            <a:pPr indent="0" marL="0">
              <a:buNone/>
            </a:pPr>
            <a:r>
              <a:rPr lang="en-US" sz="1420" dirty="0">
                <a:solidFill>
                  <a:srgbClr val="475569"/>
                </a:solidFill>
              </a:rPr>
              <a:t>• Dipakai untuk merapikan struktur sederhana</a:t>
            </a:r>
            <a:endParaRPr lang="en-US" sz="1420" dirty="0"/>
          </a:p>
        </p:txBody>
      </p:sp>
      <p:sp>
        <p:nvSpPr>
          <p:cNvPr id="7" name="Text 5"/>
          <p:cNvSpPr/>
          <p:nvPr/>
        </p:nvSpPr>
        <p:spPr>
          <a:xfrm>
            <a:off x="6080760" y="1645920"/>
            <a:ext cx="5440680" cy="4343400"/>
          </a:xfrm>
          <a:prstGeom prst="rect">
            <a:avLst/>
          </a:prstGeom>
          <a:solidFill>
            <a:srgbClr val="FFFAF5"/>
          </a:solidFill>
          <a:ln w="12700">
            <a:solidFill>
              <a:srgbClr val="F7C796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display: flex / grid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190488" y="1737360"/>
            <a:ext cx="5221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28C28"/>
                </a:solidFill>
              </a:rPr>
              <a:t>display: flex / grid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263640" y="2148840"/>
            <a:ext cx="5074920" cy="34747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475569"/>
                </a:solidFill>
              </a:rPr>
              <a:t>• Mengaktifkan layout modern pada container
</a:t>
            </a:r>
            <a:pPr indent="0" marL="0">
              <a:buNone/>
            </a:pPr>
            <a:r>
              <a:rPr lang="en-US" sz="1420" dirty="0">
                <a:solidFill>
                  <a:srgbClr val="475569"/>
                </a:solidFill>
              </a:rPr>
              <a:t>• Anak langsung container menjadi flex item atau grid item
</a:t>
            </a:r>
            <a:pPr indent="0" marL="0">
              <a:buNone/>
            </a:pPr>
            <a:r>
              <a:rPr lang="en-US" sz="1420" dirty="0">
                <a:solidFill>
                  <a:srgbClr val="475569"/>
                </a:solidFill>
              </a:rPr>
              <a:t>• Dipakai untuk komponen dan halaman responsif</a:t>
            </a:r>
            <a:endParaRPr lang="en-US" sz="1420" dirty="0"/>
          </a:p>
        </p:txBody>
      </p:sp>
      <p:sp>
        <p:nvSpPr>
          <p:cNvPr id="10" name="Text 8"/>
          <p:cNvSpPr/>
          <p:nvPr/>
        </p:nvSpPr>
        <p:spPr>
          <a:xfrm>
            <a:off x="292608" y="65562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C93"/>
                </a:solidFill>
              </a:rPr>
              <a:t>TI401 • Pengembangan Desain Web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1612880" y="651052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2447"/>
                </a:solidFill>
              </a:rPr>
              <a:t>06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92608" y="6419088"/>
            <a:ext cx="11567160" cy="0"/>
          </a:xfrm>
          <a:prstGeom prst="line">
            <a:avLst/>
          </a:prstGeom>
          <a:noFill/>
          <a:ln w="10160">
            <a:solidFill>
              <a:srgbClr val="DDE7F3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56032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66D0"/>
                </a:solidFill>
              </a:rPr>
              <a:t>PERTEMUAN 5 • CPMK51 / Sub-CPMK51.4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320040" y="658368"/>
            <a:ext cx="55778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F2447"/>
                </a:solidFill>
              </a:rPr>
              <a:t>Flexbox: Mental Model Satu Arah</a:t>
            </a:r>
            <a:endParaRPr lang="en-US" sz="2700" dirty="0"/>
          </a:p>
        </p:txBody>
      </p:sp>
      <p:pic>
        <p:nvPicPr>
          <p:cNvPr id="4" name="Image 0" descr="/mnt/data/wide_clean_educational_infographic_slide_style_i_batch_1.png">    </p:cNvPr>
          <p:cNvPicPr>
            <a:picLocks noChangeAspect="1"/>
          </p:cNvPicPr>
          <p:nvPr/>
        </p:nvPicPr>
        <p:blipFill>
          <a:blip r:embed="rId1"/>
          <a:srcRect l="8512" r="8512" t="0" b="0"/>
          <a:stretch/>
        </p:blipFill>
        <p:spPr>
          <a:xfrm>
            <a:off x="594360" y="1298448"/>
            <a:ext cx="5257800" cy="3566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172200" y="1280160"/>
            <a:ext cx="5303520" cy="1097280"/>
          </a:xfrm>
          <a:prstGeom prst="rect">
            <a:avLst/>
          </a:prstGeom>
          <a:solidFill>
            <a:srgbClr val="F8FBFF"/>
          </a:solidFill>
          <a:ln w="12700">
            <a:solidFill>
              <a:srgbClr val="CFE0F3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Konsep utama Flexbox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Container mengatur arah, jarak, dan perataan item. Item mengikuti aturan container.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281928" y="1371600"/>
            <a:ext cx="5084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E66D0"/>
                </a:solidFill>
              </a:rPr>
              <a:t>Konsep utama Flexbox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263640" y="2743200"/>
            <a:ext cx="4937760" cy="1920240"/>
          </a:xfrm>
          <a:prstGeom prst="rect">
            <a:avLst/>
          </a:prstGeom>
          <a:solidFill>
            <a:srgbClr val="F5F9FF"/>
          </a:solidFill>
          <a:ln w="12700">
            <a:solidFill>
              <a:srgbClr val="CFE0F3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.navbar 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display: flex;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justify-content: space-between;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align-items: center;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gap: 16px;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263640" y="4983480"/>
            <a:ext cx="4937760" cy="502920"/>
          </a:xfrm>
          <a:prstGeom prst="rect">
            <a:avLst/>
          </a:prstGeom>
          <a:solidFill>
            <a:srgbClr val="FFF0E3"/>
          </a:solidFill>
          <a:ln w="12700">
            <a:solidFill>
              <a:srgbClr val="F28C28">
                <a:alpha val="9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28C28"/>
                </a:solidFill>
              </a:rPr>
              <a:t>Cocok untuk: navbar, tombol sejajar, daftar menu, card actions, hero row.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292608" y="65562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C93"/>
                </a:solidFill>
              </a:rPr>
              <a:t>TI401 • Pengembangan Desain Web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11612880" y="651052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2447"/>
                </a:solidFill>
              </a:rPr>
              <a:t>07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92608" y="6419088"/>
            <a:ext cx="11567160" cy="0"/>
          </a:xfrm>
          <a:prstGeom prst="line">
            <a:avLst/>
          </a:prstGeom>
          <a:noFill/>
          <a:ln w="10160">
            <a:solidFill>
              <a:srgbClr val="DDE7F3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56032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66D0"/>
                </a:solidFill>
              </a:rPr>
              <a:t>PERTEMUAN 5 • CPMK51 / Sub-CPMK51.4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320040" y="658368"/>
            <a:ext cx="55778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F2447"/>
                </a:solidFill>
              </a:rPr>
              <a:t>Flex Container dan Flex Item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4937760" cy="3474720"/>
          </a:xfrm>
          <a:prstGeom prst="rect">
            <a:avLst/>
          </a:prstGeom>
          <a:solidFill>
            <a:srgbClr val="F5F9FF"/>
          </a:solidFill>
          <a:ln w="12700">
            <a:solidFill>
              <a:srgbClr val="CFE0F3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&lt;nav class="navbar"&gt;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&lt;h2&gt;LOGO&lt;/h2&gt;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&lt;ul class="menu"&gt;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&lt;li&gt;Home&lt;/li&gt;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&lt;li&gt;Profil&lt;/li&gt;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&lt;li&gt;Kontak&lt;/li&gt;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&lt;/ul&gt;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&lt;/nav&gt;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172200" y="1325880"/>
            <a:ext cx="5074920" cy="3474720"/>
          </a:xfrm>
          <a:prstGeom prst="rect">
            <a:avLst/>
          </a:prstGeom>
          <a:solidFill>
            <a:srgbClr val="FFFAF5"/>
          </a:solidFill>
          <a:ln w="12700">
            <a:solidFill>
              <a:srgbClr val="CFE0F3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.navbar {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display: flex;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align-items: center;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justify-content: space-between;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.menu {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display: flex;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gap: 20px;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1097280" y="5212080"/>
            <a:ext cx="9601200" cy="502920"/>
          </a:xfrm>
          <a:prstGeom prst="rect">
            <a:avLst/>
          </a:prstGeom>
          <a:solidFill>
            <a:srgbClr val="EAF8F0"/>
          </a:solidFill>
          <a:ln w="12700">
            <a:solidFill>
              <a:srgbClr val="2E9D61">
                <a:alpha val="9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9D61"/>
                </a:solidFill>
              </a:rPr>
              <a:t>Catatan: hanya anak langsung container yang otomatis menjadi item.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92608" y="65562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C93"/>
                </a:solidFill>
              </a:rPr>
              <a:t>TI401 • Pengembangan Desain Web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612880" y="651052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2447"/>
                </a:solidFill>
              </a:rPr>
              <a:t>08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92608" y="6419088"/>
            <a:ext cx="11567160" cy="0"/>
          </a:xfrm>
          <a:prstGeom prst="line">
            <a:avLst/>
          </a:prstGeom>
          <a:noFill/>
          <a:ln w="10160">
            <a:solidFill>
              <a:srgbClr val="DDE7F3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56032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66D0"/>
                </a:solidFill>
              </a:rPr>
              <a:t>PERTEMUAN 5 • CPMK51 / Sub-CPMK51.4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320040" y="658368"/>
            <a:ext cx="55778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F2447"/>
                </a:solidFill>
              </a:rPr>
              <a:t>Axis: Main Axis dan Cross Axis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3474720" cy="1280160"/>
          </a:xfrm>
          <a:prstGeom prst="rect">
            <a:avLst/>
          </a:prstGeom>
          <a:solidFill>
            <a:srgbClr val="F8FBFF"/>
          </a:solidFill>
          <a:ln w="12700">
            <a:solidFill>
              <a:srgbClr val="CFE0F3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flex-direction: row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Main axis horizontal; item bergerak kiri → kanan.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49808" y="1554480"/>
            <a:ext cx="3255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E66D0"/>
                </a:solidFill>
              </a:rPr>
              <a:t>flex-direction: row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4343400" y="1463040"/>
            <a:ext cx="3474720" cy="1280160"/>
          </a:xfrm>
          <a:prstGeom prst="rect">
            <a:avLst/>
          </a:prstGeom>
          <a:solidFill>
            <a:srgbClr val="FFFAF5"/>
          </a:solidFill>
          <a:ln w="12700">
            <a:solidFill>
              <a:srgbClr val="CFE0F3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justify-content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Mengatur posisi item sepanjang main axis.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453128" y="1554480"/>
            <a:ext cx="3255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28C28"/>
                </a:solidFill>
              </a:rPr>
              <a:t>justify-content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046720" y="1463040"/>
            <a:ext cx="3474720" cy="1280160"/>
          </a:xfrm>
          <a:prstGeom prst="rect">
            <a:avLst/>
          </a:prstGeom>
          <a:solidFill>
            <a:srgbClr val="F4FBF7"/>
          </a:solidFill>
          <a:ln w="12700">
            <a:solidFill>
              <a:srgbClr val="CFE0F3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align-items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Mengatur posisi item sepanjang cross axis.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156448" y="1554480"/>
            <a:ext cx="3255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2E9D61"/>
                </a:solidFill>
              </a:rPr>
              <a:t>align-items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1188720" y="3246120"/>
            <a:ext cx="4663440" cy="1828800"/>
          </a:xfrm>
          <a:prstGeom prst="rect">
            <a:avLst/>
          </a:prstGeom>
          <a:solidFill>
            <a:srgbClr val="F5F9FF"/>
          </a:solidFill>
          <a:ln w="12700">
            <a:solidFill>
              <a:srgbClr val="CFE0F3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.hero 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display: flex;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flex-direction: row;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justify-content: space-between;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align-items: center;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83680" y="3246120"/>
            <a:ext cx="3931920" cy="1828800"/>
          </a:xfrm>
          <a:prstGeom prst="rect">
            <a:avLst/>
          </a:prstGeom>
          <a:solidFill>
            <a:srgbClr val="F8FBFF"/>
          </a:solidFill>
          <a:ln w="12700">
            <a:solidFill>
              <a:srgbClr val="CFE0F3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Ubah arah: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.hero 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flex-direction: column;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92608" y="65562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C93"/>
                </a:solidFill>
              </a:rPr>
              <a:t>TI401 • Pengembangan Desain Web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1612880" y="651052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2447"/>
                </a:solidFill>
              </a:rPr>
              <a:t>09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92608" y="6419088"/>
            <a:ext cx="11567160" cy="0"/>
          </a:xfrm>
          <a:prstGeom prst="line">
            <a:avLst/>
          </a:prstGeom>
          <a:noFill/>
          <a:ln w="10160">
            <a:solidFill>
              <a:srgbClr val="DDE7F3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56032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66D0"/>
                </a:solidFill>
              </a:rPr>
              <a:t>PERTEMUAN 5 • CPMK51 / Sub-CPMK51.4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320040" y="658368"/>
            <a:ext cx="55778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F2447"/>
                </a:solidFill>
              </a:rPr>
              <a:t>Alignment yang Sering Dipakai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85800" y="1508760"/>
            <a:ext cx="3246120" cy="1005840"/>
          </a:xfrm>
          <a:prstGeom prst="rect">
            <a:avLst/>
          </a:prstGeom>
          <a:solidFill>
            <a:srgbClr val="F8FBFF"/>
          </a:solidFill>
          <a:ln w="12700">
            <a:solidFill>
              <a:srgbClr val="CFE0F3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475569"/>
                </a:solidFill>
              </a:rPr>
              <a:t>flex-start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475569"/>
                </a:solidFill>
              </a:rPr>
              <a:t>Item menempel di awal</a:t>
            </a:r>
            <a:endParaRPr lang="en-US" sz="1220" dirty="0"/>
          </a:p>
        </p:txBody>
      </p:sp>
      <p:sp>
        <p:nvSpPr>
          <p:cNvPr id="5" name="Text 3"/>
          <p:cNvSpPr/>
          <p:nvPr/>
        </p:nvSpPr>
        <p:spPr>
          <a:xfrm>
            <a:off x="795528" y="1600200"/>
            <a:ext cx="3026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E66D0"/>
                </a:solidFill>
              </a:rPr>
              <a:t>flex-start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4434840" y="1508760"/>
            <a:ext cx="3246120" cy="1005840"/>
          </a:xfrm>
          <a:prstGeom prst="rect">
            <a:avLst/>
          </a:prstGeom>
          <a:solidFill>
            <a:srgbClr val="FFFAF5"/>
          </a:solidFill>
          <a:ln w="12700">
            <a:solidFill>
              <a:srgbClr val="CFE0F3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475569"/>
                </a:solidFill>
              </a:rPr>
              <a:t>center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475569"/>
                </a:solidFill>
              </a:rPr>
              <a:t>Item di tengah</a:t>
            </a:r>
            <a:endParaRPr lang="en-US" sz="1220" dirty="0"/>
          </a:p>
        </p:txBody>
      </p:sp>
      <p:sp>
        <p:nvSpPr>
          <p:cNvPr id="7" name="Text 5"/>
          <p:cNvSpPr/>
          <p:nvPr/>
        </p:nvSpPr>
        <p:spPr>
          <a:xfrm>
            <a:off x="4544568" y="1600200"/>
            <a:ext cx="3026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28C28"/>
                </a:solidFill>
              </a:rPr>
              <a:t>center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183880" y="1508760"/>
            <a:ext cx="3246120" cy="1005840"/>
          </a:xfrm>
          <a:prstGeom prst="rect">
            <a:avLst/>
          </a:prstGeom>
          <a:solidFill>
            <a:srgbClr val="F4FBF7"/>
          </a:solidFill>
          <a:ln w="12700">
            <a:solidFill>
              <a:srgbClr val="CFE0F3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475569"/>
                </a:solidFill>
              </a:rPr>
              <a:t>space-between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475569"/>
                </a:solidFill>
              </a:rPr>
              <a:t>Ruang di antara item</a:t>
            </a:r>
            <a:endParaRPr lang="en-US" sz="1220" dirty="0"/>
          </a:p>
        </p:txBody>
      </p:sp>
      <p:sp>
        <p:nvSpPr>
          <p:cNvPr id="9" name="Text 7"/>
          <p:cNvSpPr/>
          <p:nvPr/>
        </p:nvSpPr>
        <p:spPr>
          <a:xfrm>
            <a:off x="8293608" y="1600200"/>
            <a:ext cx="3026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2E9D61"/>
                </a:solidFill>
              </a:rPr>
              <a:t>space-between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85800" y="3063240"/>
            <a:ext cx="3246120" cy="1005840"/>
          </a:xfrm>
          <a:prstGeom prst="rect">
            <a:avLst/>
          </a:prstGeom>
          <a:solidFill>
            <a:srgbClr val="F8FBFF"/>
          </a:solidFill>
          <a:ln w="12700">
            <a:solidFill>
              <a:srgbClr val="CFE0F3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475569"/>
                </a:solidFill>
              </a:rPr>
              <a:t>space-around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475569"/>
                </a:solidFill>
              </a:rPr>
              <a:t>Ruang di sekitar item</a:t>
            </a:r>
            <a:endParaRPr lang="en-US" sz="1220" dirty="0"/>
          </a:p>
        </p:txBody>
      </p:sp>
      <p:sp>
        <p:nvSpPr>
          <p:cNvPr id="11" name="Text 9"/>
          <p:cNvSpPr/>
          <p:nvPr/>
        </p:nvSpPr>
        <p:spPr>
          <a:xfrm>
            <a:off x="795528" y="3154680"/>
            <a:ext cx="3026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E66D0"/>
                </a:solidFill>
              </a:rPr>
              <a:t>space-around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434840" y="3063240"/>
            <a:ext cx="3246120" cy="1005840"/>
          </a:xfrm>
          <a:prstGeom prst="rect">
            <a:avLst/>
          </a:prstGeom>
          <a:solidFill>
            <a:srgbClr val="FFFAF5"/>
          </a:solidFill>
          <a:ln w="12700">
            <a:solidFill>
              <a:srgbClr val="CFE0F3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475569"/>
                </a:solidFill>
              </a:rPr>
              <a:t>stretch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475569"/>
                </a:solidFill>
              </a:rPr>
              <a:t>Item memenuhi tinggi container</a:t>
            </a:r>
            <a:endParaRPr lang="en-US" sz="1220" dirty="0"/>
          </a:p>
        </p:txBody>
      </p:sp>
      <p:sp>
        <p:nvSpPr>
          <p:cNvPr id="13" name="Text 11"/>
          <p:cNvSpPr/>
          <p:nvPr/>
        </p:nvSpPr>
        <p:spPr>
          <a:xfrm>
            <a:off x="4544568" y="3154680"/>
            <a:ext cx="3026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28C28"/>
                </a:solidFill>
              </a:rPr>
              <a:t>stretch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3063240" y="4754880"/>
            <a:ext cx="6126480" cy="1143000"/>
          </a:xfrm>
          <a:prstGeom prst="rect">
            <a:avLst/>
          </a:prstGeom>
          <a:solidFill>
            <a:srgbClr val="F5F9FF"/>
          </a:solidFill>
          <a:ln w="12700">
            <a:solidFill>
              <a:srgbClr val="CFE0F3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coba satu per satu */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.container {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display: flex;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justify-content: center;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align-items: center;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292608" y="65562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C93"/>
                </a:solidFill>
              </a:rPr>
              <a:t>TI401 • Pengembangan Desain Web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1612880" y="651052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2447"/>
                </a:solidFill>
              </a:rPr>
              <a:t>10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92608" y="6419088"/>
            <a:ext cx="11567160" cy="0"/>
          </a:xfrm>
          <a:prstGeom prst="line">
            <a:avLst/>
          </a:prstGeom>
          <a:noFill/>
          <a:ln w="10160">
            <a:solidFill>
              <a:srgbClr val="DDE7F3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56032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66D0"/>
                </a:solidFill>
              </a:rPr>
              <a:t>PERTEMUAN 5 • CPMK51 / Sub-CPMK51.4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320040" y="658368"/>
            <a:ext cx="55778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F2447"/>
                </a:solidFill>
              </a:rPr>
              <a:t>Flex Wrap dan Gap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85800" y="1417320"/>
            <a:ext cx="4663440" cy="2834640"/>
          </a:xfrm>
          <a:prstGeom prst="rect">
            <a:avLst/>
          </a:prstGeom>
          <a:solidFill>
            <a:srgbClr val="F5F9FF"/>
          </a:solidFill>
          <a:ln w="12700">
            <a:solidFill>
              <a:srgbClr val="CFE0F3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.cards 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display: flex;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flex-wrap: wrap;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gap: 24px;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.card 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flex: 1 1 260px;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897880" y="1417320"/>
            <a:ext cx="5303520" cy="1417320"/>
          </a:xfrm>
          <a:prstGeom prst="rect">
            <a:avLst/>
          </a:prstGeom>
          <a:solidFill>
            <a:srgbClr val="F8FBFF"/>
          </a:solidFill>
          <a:ln w="12700">
            <a:solidFill>
              <a:srgbClr val="CFE0F3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Makna flex: 1 1 260px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Item boleh membesar, boleh mengecil, dan lebar awalnya 260px. Cocok untuk card responsif sederhana.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007608" y="1508760"/>
            <a:ext cx="5084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E66D0"/>
                </a:solidFill>
              </a:rPr>
              <a:t>Makna flex: 1 1 260px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897880" y="3246120"/>
            <a:ext cx="5303520" cy="1417320"/>
          </a:xfrm>
          <a:prstGeom prst="rect">
            <a:avLst/>
          </a:prstGeom>
          <a:solidFill>
            <a:srgbClr val="FFFAF5"/>
          </a:solidFill>
          <a:ln w="12700">
            <a:solidFill>
              <a:srgbClr val="CFE0F3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Best practice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Gunakan gap untuk jarak antar item. Hindari menumpuk margin kanan/kiri pada setiap card.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07608" y="3337560"/>
            <a:ext cx="5084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28C28"/>
                </a:solidFill>
              </a:rPr>
              <a:t>Best practice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05840" y="5166360"/>
            <a:ext cx="9966960" cy="502920"/>
          </a:xfrm>
          <a:prstGeom prst="rect">
            <a:avLst/>
          </a:prstGeom>
          <a:solidFill>
            <a:srgbClr val="EAF8F0"/>
          </a:solidFill>
          <a:ln w="12700">
            <a:solidFill>
              <a:srgbClr val="2E9D61">
                <a:alpha val="9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E9D61"/>
                </a:solidFill>
              </a:rPr>
              <a:t>Flexbox dapat responsif tanpa media query sederhana.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292608" y="65562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C93"/>
                </a:solidFill>
              </a:rPr>
              <a:t>TI401 • Pengembangan Desain Web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1612880" y="651052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2447"/>
                </a:solidFill>
              </a:rPr>
              <a:t>11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92608" y="6419088"/>
            <a:ext cx="11567160" cy="0"/>
          </a:xfrm>
          <a:prstGeom prst="line">
            <a:avLst/>
          </a:prstGeom>
          <a:noFill/>
          <a:ln w="10160">
            <a:solidFill>
              <a:srgbClr val="DDE7F3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56032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66D0"/>
                </a:solidFill>
              </a:rPr>
              <a:t>PERTEMUAN 5 • CPMK51 / Sub-CPMK51.4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320040" y="658368"/>
            <a:ext cx="55778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F2447"/>
                </a:solidFill>
              </a:rPr>
              <a:t>Latihan 1: Navbar Responsif dengan Flexbox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94360" y="1234440"/>
            <a:ext cx="5303520" cy="3200400"/>
          </a:xfrm>
          <a:prstGeom prst="rect">
            <a:avLst/>
          </a:prstGeom>
          <a:solidFill>
            <a:srgbClr val="F5F9FF"/>
          </a:solidFill>
          <a:ln w="12700">
            <a:solidFill>
              <a:srgbClr val="CFE0F3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&lt;header class="site-header"&gt;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&lt;h1&gt;Portal Kampus&lt;/h1&gt;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&lt;nav&gt;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&lt;a href="#"&gt;Beranda&lt;/a&gt;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&lt;a href="#"&gt;Berita&lt;/a&gt;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&lt;a href="#"&gt;Kontak&lt;/a&gt;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&lt;/nav&gt;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&lt;/header&gt;</a:t>
            </a:r>
            <a:endParaRPr lang="en-US" sz="1280" dirty="0"/>
          </a:p>
        </p:txBody>
      </p:sp>
      <p:sp>
        <p:nvSpPr>
          <p:cNvPr id="5" name="Text 3"/>
          <p:cNvSpPr/>
          <p:nvPr/>
        </p:nvSpPr>
        <p:spPr>
          <a:xfrm>
            <a:off x="6263640" y="1234440"/>
            <a:ext cx="5166360" cy="3200400"/>
          </a:xfrm>
          <a:prstGeom prst="rect">
            <a:avLst/>
          </a:prstGeom>
          <a:solidFill>
            <a:srgbClr val="FFFAF5"/>
          </a:solidFill>
          <a:ln w="12700">
            <a:solidFill>
              <a:srgbClr val="CFE0F3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.site-header {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display: flex;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justify-content: space-between;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align-items: center;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gap: 16px;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.site-header nav {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display: flex;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gap: 14px;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80" dirty="0"/>
          </a:p>
        </p:txBody>
      </p:sp>
      <p:sp>
        <p:nvSpPr>
          <p:cNvPr id="6" name="Text 4"/>
          <p:cNvSpPr/>
          <p:nvPr/>
        </p:nvSpPr>
        <p:spPr>
          <a:xfrm>
            <a:off x="960120" y="4983480"/>
            <a:ext cx="10241280" cy="502920"/>
          </a:xfrm>
          <a:prstGeom prst="rect">
            <a:avLst/>
          </a:prstGeom>
          <a:solidFill>
            <a:srgbClr val="EAF3FF"/>
          </a:solidFill>
          <a:ln w="12700">
            <a:solidFill>
              <a:srgbClr val="1E66D0">
                <a:alpha val="9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66D0"/>
                </a:solidFill>
              </a:rPr>
              <a:t>Target latihan: menu sejajar, jarak rapi, dan tidak bertabrakan saat layar diperkecil.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292608" y="65562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C93"/>
                </a:solidFill>
              </a:rPr>
              <a:t>TI401 • Pengembangan Desain Web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612880" y="651052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2447"/>
                </a:solidFill>
              </a:rPr>
              <a:t>12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92608" y="6419088"/>
            <a:ext cx="11567160" cy="0"/>
          </a:xfrm>
          <a:prstGeom prst="line">
            <a:avLst/>
          </a:prstGeom>
          <a:noFill/>
          <a:ln w="10160">
            <a:solidFill>
              <a:srgbClr val="DDE7F3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56032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66D0"/>
                </a:solidFill>
              </a:rPr>
              <a:t>PERTEMUAN 5 • CPMK51 / Sub-CPMK51.4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320040" y="658368"/>
            <a:ext cx="55778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F2447"/>
                </a:solidFill>
              </a:rPr>
              <a:t>CSS Grid: Mental Model Dua Arah</a:t>
            </a:r>
            <a:endParaRPr lang="en-US" sz="2700" dirty="0"/>
          </a:p>
        </p:txBody>
      </p:sp>
      <p:pic>
        <p:nvPicPr>
          <p:cNvPr id="4" name="Image 0" descr="/mnt/data/a_clean_infographic_comparison_poster_flat_vect_batch_3.png">    </p:cNvPr>
          <p:cNvPicPr>
            <a:picLocks noChangeAspect="1"/>
          </p:cNvPicPr>
          <p:nvPr/>
        </p:nvPicPr>
        <p:blipFill>
          <a:blip r:embed="rId1"/>
          <a:srcRect l="12044" r="12044" t="0" b="0"/>
          <a:stretch/>
        </p:blipFill>
        <p:spPr>
          <a:xfrm>
            <a:off x="640080" y="1188720"/>
            <a:ext cx="5303520" cy="3931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217920" y="1371600"/>
            <a:ext cx="5120640" cy="1371600"/>
          </a:xfrm>
          <a:prstGeom prst="rect">
            <a:avLst/>
          </a:prstGeom>
          <a:solidFill>
            <a:srgbClr val="FFF0E3"/>
          </a:solidFill>
          <a:ln w="12700">
            <a:solidFill>
              <a:srgbClr val="CFE0F3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Kapan memakai Grid?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Ketika layout membutuhkan baris dan kolom: galeri, daftar kartu, dashboard, struktur halaman, atau area konten besar.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327648" y="1463040"/>
            <a:ext cx="4901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28C28"/>
                </a:solidFill>
              </a:rPr>
              <a:t>Kapan memakai Grid?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400800" y="3154680"/>
            <a:ext cx="4663440" cy="1508760"/>
          </a:xfrm>
          <a:prstGeom prst="rect">
            <a:avLst/>
          </a:prstGeom>
          <a:solidFill>
            <a:srgbClr val="F5F9FF"/>
          </a:solidFill>
          <a:ln w="12700">
            <a:solidFill>
              <a:srgbClr val="CFE0F3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.card-grid {</a:t>
            </a:r>
            <a:endParaRPr lang="en-US" sz="1430" dirty="0"/>
          </a:p>
          <a:p>
            <a:pPr indent="0" marL="0">
              <a:buNone/>
            </a:pPr>
            <a:r>
              <a:rPr lang="en-US" sz="143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display: grid;</a:t>
            </a:r>
            <a:endParaRPr lang="en-US" sz="1430" dirty="0"/>
          </a:p>
          <a:p>
            <a:pPr indent="0" marL="0">
              <a:buNone/>
            </a:pPr>
            <a:r>
              <a:rPr lang="en-US" sz="143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grid-template-columns: repeat(3, 1fr);</a:t>
            </a:r>
            <a:endParaRPr lang="en-US" sz="1430" dirty="0"/>
          </a:p>
          <a:p>
            <a:pPr indent="0" marL="0">
              <a:buNone/>
            </a:pPr>
            <a:r>
              <a:rPr lang="en-US" sz="143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gap: 24px;</a:t>
            </a:r>
            <a:endParaRPr lang="en-US" sz="1430" dirty="0"/>
          </a:p>
          <a:p>
            <a:pPr indent="0" marL="0">
              <a:buNone/>
            </a:pPr>
            <a:r>
              <a:rPr lang="en-US" sz="143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30" dirty="0"/>
          </a:p>
        </p:txBody>
      </p:sp>
      <p:sp>
        <p:nvSpPr>
          <p:cNvPr id="8" name="Text 5"/>
          <p:cNvSpPr/>
          <p:nvPr/>
        </p:nvSpPr>
        <p:spPr>
          <a:xfrm>
            <a:off x="292608" y="65562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C93"/>
                </a:solidFill>
              </a:rPr>
              <a:t>TI401 • Pengembangan Desain Web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1612880" y="651052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2447"/>
                </a:solidFill>
              </a:rPr>
              <a:t>13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92608" y="6419088"/>
            <a:ext cx="11567160" cy="0"/>
          </a:xfrm>
          <a:prstGeom prst="line">
            <a:avLst/>
          </a:prstGeom>
          <a:noFill/>
          <a:ln w="10160">
            <a:solidFill>
              <a:srgbClr val="DDE7F3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56032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66D0"/>
                </a:solidFill>
              </a:rPr>
              <a:t>PERTEMUAN 5 • CPMK51 / Sub-CPMK51.4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320040" y="658368"/>
            <a:ext cx="55778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F2447"/>
                </a:solidFill>
              </a:rPr>
              <a:t>Grid Container, Track, dan Gap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85800" y="1554480"/>
            <a:ext cx="3383280" cy="1143000"/>
          </a:xfrm>
          <a:prstGeom prst="rect">
            <a:avLst/>
          </a:prstGeom>
          <a:solidFill>
            <a:srgbClr val="F8FBFF"/>
          </a:solidFill>
          <a:ln w="12700">
            <a:solidFill>
              <a:srgbClr val="CFE0F3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Container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Elemen yang diberi display:grid.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95528" y="1645920"/>
            <a:ext cx="3163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E66D0"/>
                </a:solidFill>
              </a:rPr>
              <a:t>Container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389120" y="1554480"/>
            <a:ext cx="3383280" cy="1143000"/>
          </a:xfrm>
          <a:prstGeom prst="rect">
            <a:avLst/>
          </a:prstGeom>
          <a:solidFill>
            <a:srgbClr val="FFFAF5"/>
          </a:solidFill>
          <a:ln w="12700">
            <a:solidFill>
              <a:srgbClr val="CFE0F3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Track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Kolom atau baris yang dibuat di dalam grid.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498848" y="1645920"/>
            <a:ext cx="3163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28C28"/>
                </a:solidFill>
              </a:rPr>
              <a:t>Track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092440" y="1554480"/>
            <a:ext cx="3383280" cy="1143000"/>
          </a:xfrm>
          <a:prstGeom prst="rect">
            <a:avLst/>
          </a:prstGeom>
          <a:solidFill>
            <a:srgbClr val="F4FBF7"/>
          </a:solidFill>
          <a:ln w="12700">
            <a:solidFill>
              <a:srgbClr val="CFE0F3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Gap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Jarak konsisten antar item grid.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02168" y="1645920"/>
            <a:ext cx="3163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E9D61"/>
                </a:solidFill>
              </a:rPr>
              <a:t>Gap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34440" y="3246120"/>
            <a:ext cx="4389120" cy="1783080"/>
          </a:xfrm>
          <a:prstGeom prst="rect">
            <a:avLst/>
          </a:prstGeom>
          <a:solidFill>
            <a:srgbClr val="F5F9FF"/>
          </a:solidFill>
          <a:ln w="12700">
            <a:solidFill>
              <a:srgbClr val="CFE0F3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.gallery 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display: grid;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grid-template-columns: 1fr 1fr 1fr;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gap: 24px;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46520" y="3246120"/>
            <a:ext cx="4389120" cy="1783080"/>
          </a:xfrm>
          <a:prstGeom prst="rect">
            <a:avLst/>
          </a:prstGeom>
          <a:solidFill>
            <a:srgbClr val="FFFAF5"/>
          </a:solidFill>
          <a:ln w="12700">
            <a:solidFill>
              <a:srgbClr val="CFE0F3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shorthand */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.gallery 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grid-template-columns: repeat(3, 1fr);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92608" y="65562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C93"/>
                </a:solidFill>
              </a:rPr>
              <a:t>TI401 • Pengembangan Desain Web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1612880" y="651052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2447"/>
                </a:solidFill>
              </a:rPr>
              <a:t>14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92608" y="6419088"/>
            <a:ext cx="11567160" cy="0"/>
          </a:xfrm>
          <a:prstGeom prst="line">
            <a:avLst/>
          </a:prstGeom>
          <a:noFill/>
          <a:ln w="10160">
            <a:solidFill>
              <a:srgbClr val="DDE7F3"/>
            </a:solidFill>
            <a:prstDash val="solid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56032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66D0"/>
                </a:solidFill>
              </a:rPr>
              <a:t>PERTEMUAN 5 • CPMK51 / Sub-CPMK51.4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320040" y="658368"/>
            <a:ext cx="55778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F2447"/>
                </a:solidFill>
              </a:rPr>
              <a:t>Membuat Kolom Responsif dengan Grid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777240" y="1463040"/>
            <a:ext cx="5486400" cy="2926080"/>
          </a:xfrm>
          <a:prstGeom prst="rect">
            <a:avLst/>
          </a:prstGeom>
          <a:solidFill>
            <a:srgbClr val="F5F9FF"/>
          </a:solidFill>
          <a:ln w="12700">
            <a:solidFill>
              <a:srgbClr val="CFE0F3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.cards {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display: grid;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grid-template-columns: repeat(auto-fit, minmax(240px, 1fr));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gap: 24px;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.card {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padding: 20px;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border-radius: 12px;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583680" y="1554480"/>
            <a:ext cx="4480560" cy="1463040"/>
          </a:xfrm>
          <a:prstGeom prst="rect">
            <a:avLst/>
          </a:prstGeom>
          <a:solidFill>
            <a:srgbClr val="F8FBFF"/>
          </a:solidFill>
          <a:ln w="12700">
            <a:solidFill>
              <a:srgbClr val="CFE0F3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Makna kode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Browser membuat kolom sebanyak mungkin. Setiap kolom minimal 240px dan dapat melebar sampai 1fr.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693408" y="1645920"/>
            <a:ext cx="42611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E66D0"/>
                </a:solidFill>
              </a:rPr>
              <a:t>Makna kode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583680" y="3429000"/>
            <a:ext cx="4480560" cy="1463040"/>
          </a:xfrm>
          <a:prstGeom prst="rect">
            <a:avLst/>
          </a:prstGeom>
          <a:solidFill>
            <a:srgbClr val="F4FBF7"/>
          </a:solidFill>
          <a:ln w="12700">
            <a:solidFill>
              <a:srgbClr val="CFE0F3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Keuntungan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Tanpa banyak media query, layout card tetap rapi di desktop, tablet, dan HP.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93408" y="3520440"/>
            <a:ext cx="42611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E9D61"/>
                </a:solidFill>
              </a:rPr>
              <a:t>Keuntungan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92608" y="65562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C93"/>
                </a:solidFill>
              </a:rPr>
              <a:t>TI401 • Pengembangan Desain Web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1612880" y="651052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2447"/>
                </a:solidFill>
              </a:rPr>
              <a:t>15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92608" y="6419088"/>
            <a:ext cx="11567160" cy="0"/>
          </a:xfrm>
          <a:prstGeom prst="line">
            <a:avLst/>
          </a:prstGeom>
          <a:noFill/>
          <a:ln w="10160">
            <a:solidFill>
              <a:srgbClr val="DDE7F3"/>
            </a:solidFill>
            <a:prstDash val="solid"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56032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66D0"/>
                </a:solidFill>
              </a:rPr>
              <a:t>PERTEMUAN 5 • CPMK51 / Sub-CPMK51.4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320040" y="658368"/>
            <a:ext cx="55778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F2447"/>
                </a:solidFill>
              </a:rPr>
              <a:t>Grid Area untuk Struktur Halaman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85800" y="1234440"/>
            <a:ext cx="5669280" cy="4343400"/>
          </a:xfrm>
          <a:prstGeom prst="rect">
            <a:avLst/>
          </a:prstGeom>
          <a:solidFill>
            <a:srgbClr val="F5F9FF"/>
          </a:solidFill>
          <a:ln w="12700">
            <a:solidFill>
              <a:srgbClr val="CFE0F3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.page {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display: grid;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grid-template-areas: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"header header"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"sidebar main"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"footer footer";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grid-template-columns: 260px 1fr;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gap: 24px;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header { grid-area: header; }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aside  { grid-area: sidebar; }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   { grid-area: main; }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footer { grid-area: footer; }</a:t>
            </a:r>
            <a:endParaRPr lang="en-US" sz="1180" dirty="0"/>
          </a:p>
        </p:txBody>
      </p:sp>
      <p:sp>
        <p:nvSpPr>
          <p:cNvPr id="5" name="Text 3"/>
          <p:cNvSpPr/>
          <p:nvPr/>
        </p:nvSpPr>
        <p:spPr>
          <a:xfrm>
            <a:off x="6720840" y="1508760"/>
            <a:ext cx="4297680" cy="1371600"/>
          </a:xfrm>
          <a:prstGeom prst="rect">
            <a:avLst/>
          </a:prstGeom>
          <a:solidFill>
            <a:srgbClr val="FFF0E3"/>
          </a:solidFill>
          <a:ln w="12700">
            <a:solidFill>
              <a:srgbClr val="CFE0F3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Kapan dipakai?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Cocok untuk layout halaman besar yang memiliki area berbeda dan perlu tetap terbaca di kode.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30568" y="1600200"/>
            <a:ext cx="4078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28C28"/>
                </a:solidFill>
              </a:rPr>
              <a:t>Kapan dipakai?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720840" y="3246120"/>
            <a:ext cx="4297680" cy="1371600"/>
          </a:xfrm>
          <a:prstGeom prst="rect">
            <a:avLst/>
          </a:prstGeom>
          <a:solidFill>
            <a:srgbClr val="F8FBFF"/>
          </a:solidFill>
          <a:ln w="12700">
            <a:solidFill>
              <a:srgbClr val="CFE0F3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Catatan responsive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Pada layar kecil, area dapat diubah menjadi satu kolom menggunakan media query.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30568" y="3337560"/>
            <a:ext cx="4078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E66D0"/>
                </a:solidFill>
              </a:rPr>
              <a:t>Catatan responsive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92608" y="65562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C93"/>
                </a:solidFill>
              </a:rPr>
              <a:t>TI401 • Pengembangan Desain Web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1612880" y="651052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2447"/>
                </a:solidFill>
              </a:rPr>
              <a:t>16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92608" y="6419088"/>
            <a:ext cx="11567160" cy="0"/>
          </a:xfrm>
          <a:prstGeom prst="line">
            <a:avLst/>
          </a:prstGeom>
          <a:noFill/>
          <a:ln w="10160">
            <a:solidFill>
              <a:srgbClr val="DDE7F3"/>
            </a:solidFill>
            <a:prstDash val="solid"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56032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66D0"/>
                </a:solidFill>
              </a:rPr>
              <a:t>PERTEMUAN 5 • CPMK51 / Sub-CPMK51.4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320040" y="658368"/>
            <a:ext cx="55778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F2447"/>
                </a:solidFill>
              </a:rPr>
              <a:t>Flexbox vs Grid: Pilih yang Tepat</a:t>
            </a:r>
            <a:endParaRPr lang="en-US" sz="2700" dirty="0"/>
          </a:p>
        </p:txBody>
      </p:sp>
      <p:pic>
        <p:nvPicPr>
          <p:cNvPr id="4" name="Image 0" descr="/mnt/data/a_clean_infographic_comparison_poster_flat_vect_batch_3.png">    </p:cNvPr>
          <p:cNvPicPr>
            <a:picLocks noChangeAspect="1"/>
          </p:cNvPicPr>
          <p:nvPr/>
        </p:nvPicPr>
        <p:blipFill>
          <a:blip r:embed="rId1"/>
          <a:srcRect l="0" r="0" t="17055" b="17055"/>
          <a:stretch/>
        </p:blipFill>
        <p:spPr>
          <a:xfrm>
            <a:off x="594360" y="1325880"/>
            <a:ext cx="10972800" cy="4069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5577840"/>
            <a:ext cx="10149840" cy="502920"/>
          </a:xfrm>
          <a:prstGeom prst="rect">
            <a:avLst/>
          </a:prstGeom>
          <a:solidFill>
            <a:srgbClr val="F0F5FF"/>
          </a:solidFill>
          <a:ln w="12700">
            <a:solidFill>
              <a:srgbClr val="0F2447">
                <a:alpha val="9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447"/>
                </a:solidFill>
              </a:rPr>
              <a:t>Rule of thumb: Flexbox untuk alur satu arah; Grid untuk struktur dua arah.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292608" y="65562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C93"/>
                </a:solidFill>
              </a:rPr>
              <a:t>TI401 • Pengembangan Desain Web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1612880" y="651052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2447"/>
                </a:solidFill>
              </a:rPr>
              <a:t>17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292608" y="6419088"/>
            <a:ext cx="11567160" cy="0"/>
          </a:xfrm>
          <a:prstGeom prst="line">
            <a:avLst/>
          </a:prstGeom>
          <a:noFill/>
          <a:ln w="10160">
            <a:solidFill>
              <a:srgbClr val="DDE7F3"/>
            </a:solidFill>
            <a:prstDash val="solid"/>
          </a:ln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56032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66D0"/>
                </a:solidFill>
              </a:rPr>
              <a:t>PERTEMUAN 5 • CPMK51 / Sub-CPMK51.4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320040" y="658368"/>
            <a:ext cx="55778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F2447"/>
                </a:solidFill>
              </a:rPr>
              <a:t>Menggabungkan Flexbox dan Grid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5349240" cy="3154680"/>
          </a:xfrm>
          <a:prstGeom prst="rect">
            <a:avLst/>
          </a:prstGeom>
          <a:solidFill>
            <a:srgbClr val="F5F9FF"/>
          </a:solidFill>
          <a:ln w="12700">
            <a:solidFill>
              <a:srgbClr val="CFE0F3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&lt;body&gt;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&lt;header class="header"&gt;...&lt;/header&gt;  &lt;!-- flex --&gt;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&lt;main class="layout"&gt;              &lt;!-- grid --&gt;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&lt;section class="hero"&gt;...&lt;/section&gt;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&lt;section class="cards"&gt;...&lt;/section&gt;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&lt;/main&gt;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&lt;footer class="footer"&gt;...&lt;/footer&gt;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&lt;/body&gt;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263640" y="1325880"/>
            <a:ext cx="5257800" cy="3154680"/>
          </a:xfrm>
          <a:prstGeom prst="rect">
            <a:avLst/>
          </a:prstGeom>
          <a:solidFill>
            <a:srgbClr val="FFFAF5"/>
          </a:solidFill>
          <a:ln w="12700">
            <a:solidFill>
              <a:srgbClr val="CFE0F3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.header { display:flex; }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.layout { display:grid; gap:32px; }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.cards  {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display:grid;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grid-template-columns: repeat(auto-fit, minmax(240px, 1fr));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.card-actions { display:flex; justify-content:space-between; }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1143000" y="5074920"/>
            <a:ext cx="9966960" cy="502920"/>
          </a:xfrm>
          <a:prstGeom prst="rect">
            <a:avLst/>
          </a:prstGeom>
          <a:solidFill>
            <a:srgbClr val="EAF8F0"/>
          </a:solidFill>
          <a:ln w="12700">
            <a:solidFill>
              <a:srgbClr val="2E9D61">
                <a:alpha val="9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9D61"/>
                </a:solidFill>
              </a:rPr>
              <a:t>Grid mengatur struktur besar; Flexbox mengatur isi komponen kecil.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92608" y="65562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C93"/>
                </a:solidFill>
              </a:rPr>
              <a:t>TI401 • Pengembangan Desain Web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612880" y="651052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2447"/>
                </a:solidFill>
              </a:rPr>
              <a:t>18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92608" y="6419088"/>
            <a:ext cx="11567160" cy="0"/>
          </a:xfrm>
          <a:prstGeom prst="line">
            <a:avLst/>
          </a:prstGeom>
          <a:noFill/>
          <a:ln w="10160">
            <a:solidFill>
              <a:srgbClr val="DDE7F3"/>
            </a:solidFill>
            <a:prstDash val="solid"/>
          </a:ln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56032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66D0"/>
                </a:solidFill>
              </a:rPr>
              <a:t>PERTEMUAN 5 • CPMK51 / Sub-CPMK51.4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320040" y="658368"/>
            <a:ext cx="55778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F2447"/>
                </a:solidFill>
              </a:rPr>
              <a:t>Responsive Thinking: Mobile First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777240" y="1325880"/>
            <a:ext cx="5166360" cy="4617720"/>
          </a:xfrm>
          <a:prstGeom prst="rect">
            <a:avLst/>
          </a:prstGeom>
          <a:solidFill>
            <a:srgbClr val="F5F9FF"/>
          </a:solidFill>
          <a:ln w="12700">
            <a:solidFill>
              <a:srgbClr val="CFE0F3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default: mobile */</a:t>
            </a: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.cards {</a:t>
            </a: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display: grid;</a:t>
            </a: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gap: 16px;</a:t>
            </a: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40" dirty="0"/>
          </a:p>
          <a:p>
            <a:pPr indent="0" marL="0">
              <a:buNone/>
            </a:pP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tablet ke atas */</a:t>
            </a: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@media (min-width: 768px) {</a:t>
            </a: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.cards {</a:t>
            </a: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grid-template-columns: repeat(2, 1fr);</a:t>
            </a: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40" dirty="0"/>
          </a:p>
          <a:p>
            <a:pPr indent="0" marL="0">
              <a:buNone/>
            </a:pP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desktop */</a:t>
            </a: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@media (min-width: 1024px) {</a:t>
            </a: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.cards {</a:t>
            </a: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grid-template-columns: repeat(3, 1fr);</a:t>
            </a: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40" dirty="0"/>
          </a:p>
        </p:txBody>
      </p:sp>
      <p:sp>
        <p:nvSpPr>
          <p:cNvPr id="5" name="Text 3"/>
          <p:cNvSpPr/>
          <p:nvPr/>
        </p:nvSpPr>
        <p:spPr>
          <a:xfrm>
            <a:off x="6355080" y="1508760"/>
            <a:ext cx="4572000" cy="1280160"/>
          </a:xfrm>
          <a:prstGeom prst="rect">
            <a:avLst/>
          </a:prstGeom>
          <a:solidFill>
            <a:srgbClr val="F8FBFF"/>
          </a:solidFill>
          <a:ln w="12700">
            <a:solidFill>
              <a:srgbClr val="CFE0F3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Strategi uji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Gunakan responsive mode di DevTools. Cek tampilan pada 360px, 768px, dan 1024px.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64808" y="1600200"/>
            <a:ext cx="4352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E66D0"/>
                </a:solidFill>
              </a:rPr>
              <a:t>Strategi uji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355080" y="3154680"/>
            <a:ext cx="4572000" cy="1280160"/>
          </a:xfrm>
          <a:prstGeom prst="rect">
            <a:avLst/>
          </a:prstGeom>
          <a:solidFill>
            <a:srgbClr val="FFF0E3"/>
          </a:solidFill>
          <a:ln w="12700">
            <a:solidFill>
              <a:srgbClr val="CFE0F3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Jangan lupa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Ukuran font, jarak, dan tombol juga harus nyaman disentuh di HP.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64808" y="3246120"/>
            <a:ext cx="4352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28C28"/>
                </a:solidFill>
              </a:rPr>
              <a:t>Jangan lupa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92608" y="65562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C93"/>
                </a:solidFill>
              </a:rPr>
              <a:t>TI401 • Pengembangan Desain Web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1612880" y="651052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2447"/>
                </a:solidFill>
              </a:rPr>
              <a:t>19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92608" y="6419088"/>
            <a:ext cx="11567160" cy="0"/>
          </a:xfrm>
          <a:prstGeom prst="line">
            <a:avLst/>
          </a:prstGeom>
          <a:noFill/>
          <a:ln w="10160">
            <a:solidFill>
              <a:srgbClr val="DDE7F3"/>
            </a:solidFill>
            <a:prstDash val="solid"/>
          </a:ln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56032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66D0"/>
                </a:solidFill>
              </a:rPr>
              <a:t>PERTEMUAN 5 • CPMK51 / Sub-CPMK51.4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320040" y="658368"/>
            <a:ext cx="55778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F2447"/>
                </a:solidFill>
              </a:rPr>
              <a:t>Debugging Layout dengan DevTools</a:t>
            </a:r>
            <a:endParaRPr lang="en-US" sz="2700" dirty="0"/>
          </a:p>
        </p:txBody>
      </p:sp>
      <p:pic>
        <p:nvPicPr>
          <p:cNvPr id="4" name="Image 0" descr="/mnt/data/wide_clean_educational_infographic_slide_style_i_batch_1.png">    </p:cNvPr>
          <p:cNvPicPr>
            <a:picLocks noChangeAspect="1"/>
          </p:cNvPicPr>
          <p:nvPr/>
        </p:nvPicPr>
        <p:blipFill>
          <a:blip r:embed="rId1"/>
          <a:srcRect l="12251" r="12251" t="0" b="0"/>
          <a:stretch/>
        </p:blipFill>
        <p:spPr>
          <a:xfrm>
            <a:off x="685800" y="1325880"/>
            <a:ext cx="5029200" cy="3749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263640" y="1234440"/>
            <a:ext cx="4983480" cy="3611880"/>
          </a:xfrm>
          <a:prstGeom prst="rect">
            <a:avLst/>
          </a:prstGeom>
          <a:solidFill>
            <a:srgbClr val="F8FBFF"/>
          </a:solidFill>
          <a:ln w="12700">
            <a:solidFill>
              <a:srgbClr val="CFE0F3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Checklist debugging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373368" y="1325880"/>
            <a:ext cx="4764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E66D0"/>
                </a:solidFill>
              </a:rPr>
              <a:t>Checklist debugging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492240" y="1828800"/>
            <a:ext cx="4526280" cy="2560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475569"/>
                </a:solidFill>
              </a:rPr>
              <a:t>• Aktifkan overlay Flex/Grid di browser DevTools
</a:t>
            </a:r>
            <a:pPr indent="0" marL="0">
              <a:buNone/>
            </a:pPr>
            <a:r>
              <a:rPr lang="en-US" sz="1420" dirty="0">
                <a:solidFill>
                  <a:srgbClr val="475569"/>
                </a:solidFill>
              </a:rPr>
              <a:t>• Cek computed style: display, gap, width, margin
</a:t>
            </a:r>
            <a:pPr indent="0" marL="0">
              <a:buNone/>
            </a:pPr>
            <a:r>
              <a:rPr lang="en-US" sz="1420" dirty="0">
                <a:solidFill>
                  <a:srgbClr val="475569"/>
                </a:solidFill>
              </a:rPr>
              <a:t>• Cari overflow horizontal
</a:t>
            </a:r>
            <a:pPr indent="0" marL="0">
              <a:buNone/>
            </a:pPr>
            <a:r>
              <a:rPr lang="en-US" sz="1420" dirty="0">
                <a:solidFill>
                  <a:srgbClr val="475569"/>
                </a:solidFill>
              </a:rPr>
              <a:t>• Nonaktifkan properti satu per satu
</a:t>
            </a:r>
            <a:pPr indent="0" marL="0">
              <a:buNone/>
            </a:pPr>
            <a:r>
              <a:rPr lang="en-US" sz="1420" dirty="0">
                <a:solidFill>
                  <a:srgbClr val="475569"/>
                </a:solidFill>
              </a:rPr>
              <a:t>• Uji ukuran layar kecil dan besar</a:t>
            </a:r>
            <a:endParaRPr lang="en-US" sz="1420" dirty="0"/>
          </a:p>
        </p:txBody>
      </p:sp>
      <p:sp>
        <p:nvSpPr>
          <p:cNvPr id="8" name="Text 5"/>
          <p:cNvSpPr/>
          <p:nvPr/>
        </p:nvSpPr>
        <p:spPr>
          <a:xfrm>
            <a:off x="1097280" y="5303520"/>
            <a:ext cx="9966960" cy="502920"/>
          </a:xfrm>
          <a:prstGeom prst="rect">
            <a:avLst/>
          </a:prstGeom>
          <a:solidFill>
            <a:srgbClr val="FFF0E3"/>
          </a:solidFill>
          <a:ln w="12700">
            <a:solidFill>
              <a:srgbClr val="F28C28">
                <a:alpha val="9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8C28"/>
                </a:solidFill>
              </a:rPr>
              <a:t>Debugging bukan menebak; debugging adalah membaca perilaku browser.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292608" y="65562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C93"/>
                </a:solidFill>
              </a:rPr>
              <a:t>TI401 • Pengembangan Desain Web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11612880" y="651052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2447"/>
                </a:solidFill>
              </a:rPr>
              <a:t>20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92608" y="6419088"/>
            <a:ext cx="11567160" cy="0"/>
          </a:xfrm>
          <a:prstGeom prst="line">
            <a:avLst/>
          </a:prstGeom>
          <a:noFill/>
          <a:ln w="10160">
            <a:solidFill>
              <a:srgbClr val="DDE7F3"/>
            </a:solidFill>
            <a:prstDash val="solid"/>
          </a:ln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56032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66D0"/>
                </a:solidFill>
              </a:rPr>
              <a:t>PERTEMUAN 5 • CPMK51 / Sub-CPMK51.4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320040" y="658368"/>
            <a:ext cx="55778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F2447"/>
                </a:solidFill>
              </a:rPr>
              <a:t>Mini Case: Homepage Berita Kampus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4937760" cy="1234440"/>
          </a:xfrm>
          <a:prstGeom prst="rect">
            <a:avLst/>
          </a:prstGeom>
          <a:solidFill>
            <a:srgbClr val="F8FBFF"/>
          </a:solidFill>
          <a:ln w="12700">
            <a:solidFill>
              <a:srgbClr val="CFE0F3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Struktur halaman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header, main, section hero, section berita, article card, footer.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95528" y="1417320"/>
            <a:ext cx="4718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E66D0"/>
                </a:solidFill>
              </a:rPr>
              <a:t>Struktur halaman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85800" y="2788920"/>
            <a:ext cx="4937760" cy="1234440"/>
          </a:xfrm>
          <a:prstGeom prst="rect">
            <a:avLst/>
          </a:prstGeom>
          <a:solidFill>
            <a:srgbClr val="FFF0E3"/>
          </a:solidFill>
          <a:ln w="12700">
            <a:solidFill>
              <a:srgbClr val="CFE0F3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Teknik layout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Flexbox untuk header dan hero. Grid untuk daftar berita.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95528" y="2880360"/>
            <a:ext cx="4718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28C28"/>
                </a:solidFill>
              </a:rPr>
              <a:t>Teknik layout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4251960"/>
            <a:ext cx="4937760" cy="1234440"/>
          </a:xfrm>
          <a:prstGeom prst="rect">
            <a:avLst/>
          </a:prstGeom>
          <a:solidFill>
            <a:srgbClr val="EAF8F0"/>
          </a:solidFill>
          <a:ln w="12700">
            <a:solidFill>
              <a:srgbClr val="CFE0F3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Kriteria hasil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Tampilan rapi, jarak konsisten, responsif, dan kode mudah dibaca.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95528" y="4343400"/>
            <a:ext cx="4718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E9D61"/>
                </a:solidFill>
              </a:rPr>
              <a:t>Kriteria hasil</a:t>
            </a:r>
            <a:endParaRPr lang="en-US" sz="1500" dirty="0"/>
          </a:p>
        </p:txBody>
      </p:sp>
      <p:pic>
        <p:nvPicPr>
          <p:cNvPr id="10" name="Image 0" descr="/mnt/data/a_clean_modern_educational_illustration_promoti_batch_2.png">    </p:cNvPr>
          <p:cNvPicPr>
            <a:picLocks noChangeAspect="1"/>
          </p:cNvPicPr>
          <p:nvPr/>
        </p:nvPicPr>
        <p:blipFill>
          <a:blip r:embed="rId1"/>
          <a:srcRect l="15057" r="15057" t="0" b="0"/>
          <a:stretch/>
        </p:blipFill>
        <p:spPr>
          <a:xfrm>
            <a:off x="6263640" y="1325880"/>
            <a:ext cx="5166360" cy="41605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92608" y="65562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C93"/>
                </a:solidFill>
              </a:rPr>
              <a:t>TI401 • Pengembangan Desain Web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11612880" y="651052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2447"/>
                </a:solidFill>
              </a:rPr>
              <a:t>21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292608" y="6419088"/>
            <a:ext cx="11567160" cy="0"/>
          </a:xfrm>
          <a:prstGeom prst="line">
            <a:avLst/>
          </a:prstGeom>
          <a:noFill/>
          <a:ln w="10160">
            <a:solidFill>
              <a:srgbClr val="DDE7F3"/>
            </a:solidFill>
            <a:prstDash val="solid"/>
          </a:ln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56032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66D0"/>
                </a:solidFill>
              </a:rPr>
              <a:t>PERTEMUAN 5 • CPMK51 / Sub-CPMK51.4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320040" y="658368"/>
            <a:ext cx="55778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F2447"/>
                </a:solidFill>
              </a:rPr>
              <a:t>Panduan Praktik 100 Menit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4983480" cy="987552"/>
          </a:xfrm>
          <a:prstGeom prst="rect">
            <a:avLst/>
          </a:prstGeom>
          <a:solidFill>
            <a:srgbClr val="F8FBFF"/>
          </a:solidFill>
          <a:ln w="12700">
            <a:solidFill>
              <a:srgbClr val="CFE0F3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475569"/>
                </a:solidFill>
              </a:rPr>
              <a:t>Langkah 1 — Buat struktur HTML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475569"/>
                </a:solidFill>
              </a:rPr>
              <a:t>header, nav, main, section, article, footer</a:t>
            </a:r>
            <a:endParaRPr lang="en-US" sz="1220" dirty="0"/>
          </a:p>
        </p:txBody>
      </p:sp>
      <p:sp>
        <p:nvSpPr>
          <p:cNvPr id="5" name="Text 3"/>
          <p:cNvSpPr/>
          <p:nvPr/>
        </p:nvSpPr>
        <p:spPr>
          <a:xfrm>
            <a:off x="795528" y="1417320"/>
            <a:ext cx="4764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1E66D0"/>
                </a:solidFill>
              </a:rPr>
              <a:t>Langkah 1 — Buat struktur HTML</a:t>
            </a:r>
            <a:endParaRPr lang="en-US" sz="1420" dirty="0"/>
          </a:p>
        </p:txBody>
      </p:sp>
      <p:sp>
        <p:nvSpPr>
          <p:cNvPr id="6" name="Text 4"/>
          <p:cNvSpPr/>
          <p:nvPr/>
        </p:nvSpPr>
        <p:spPr>
          <a:xfrm>
            <a:off x="6217920" y="1325880"/>
            <a:ext cx="4983480" cy="987552"/>
          </a:xfrm>
          <a:prstGeom prst="rect">
            <a:avLst/>
          </a:prstGeom>
          <a:solidFill>
            <a:srgbClr val="FFFAF5"/>
          </a:solidFill>
          <a:ln w="12700">
            <a:solidFill>
              <a:srgbClr val="CFE0F3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475569"/>
                </a:solidFill>
              </a:rPr>
              <a:t>Langkah 2 — Tambahkan CSS dasar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475569"/>
                </a:solidFill>
              </a:rPr>
              <a:t>warna, font, spacing, box model</a:t>
            </a:r>
            <a:endParaRPr lang="en-US" sz="1220" dirty="0"/>
          </a:p>
        </p:txBody>
      </p:sp>
      <p:sp>
        <p:nvSpPr>
          <p:cNvPr id="7" name="Text 5"/>
          <p:cNvSpPr/>
          <p:nvPr/>
        </p:nvSpPr>
        <p:spPr>
          <a:xfrm>
            <a:off x="6327648" y="1417320"/>
            <a:ext cx="4764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F28C28"/>
                </a:solidFill>
              </a:rPr>
              <a:t>Langkah 2 — Tambahkan CSS dasar</a:t>
            </a:r>
            <a:endParaRPr lang="en-US" sz="1420" dirty="0"/>
          </a:p>
        </p:txBody>
      </p:sp>
      <p:sp>
        <p:nvSpPr>
          <p:cNvPr id="8" name="Text 6"/>
          <p:cNvSpPr/>
          <p:nvPr/>
        </p:nvSpPr>
        <p:spPr>
          <a:xfrm>
            <a:off x="685800" y="2651760"/>
            <a:ext cx="4983480" cy="987552"/>
          </a:xfrm>
          <a:prstGeom prst="rect">
            <a:avLst/>
          </a:prstGeom>
          <a:solidFill>
            <a:srgbClr val="F4FBF7"/>
          </a:solidFill>
          <a:ln w="12700">
            <a:solidFill>
              <a:srgbClr val="CFE0F3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475569"/>
                </a:solidFill>
              </a:rPr>
              <a:t>Langkah 3 — Atur header &amp; hero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475569"/>
                </a:solidFill>
              </a:rPr>
              <a:t>gunakan Flexbox</a:t>
            </a:r>
            <a:endParaRPr lang="en-US" sz="1220" dirty="0"/>
          </a:p>
        </p:txBody>
      </p:sp>
      <p:sp>
        <p:nvSpPr>
          <p:cNvPr id="9" name="Text 7"/>
          <p:cNvSpPr/>
          <p:nvPr/>
        </p:nvSpPr>
        <p:spPr>
          <a:xfrm>
            <a:off x="795528" y="2743200"/>
            <a:ext cx="4764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2E9D61"/>
                </a:solidFill>
              </a:rPr>
              <a:t>Langkah 3 — Atur header &amp; hero</a:t>
            </a:r>
            <a:endParaRPr lang="en-US" sz="1420" dirty="0"/>
          </a:p>
        </p:txBody>
      </p:sp>
      <p:sp>
        <p:nvSpPr>
          <p:cNvPr id="10" name="Text 8"/>
          <p:cNvSpPr/>
          <p:nvPr/>
        </p:nvSpPr>
        <p:spPr>
          <a:xfrm>
            <a:off x="6217920" y="2651760"/>
            <a:ext cx="4983480" cy="987552"/>
          </a:xfrm>
          <a:prstGeom prst="rect">
            <a:avLst/>
          </a:prstGeom>
          <a:solidFill>
            <a:srgbClr val="F8FBFF"/>
          </a:solidFill>
          <a:ln w="12700">
            <a:solidFill>
              <a:srgbClr val="CFE0F3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475569"/>
                </a:solidFill>
              </a:rPr>
              <a:t>Langkah 4 — Atur daftar card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475569"/>
                </a:solidFill>
              </a:rPr>
              <a:t>gunakan CSS Grid</a:t>
            </a:r>
            <a:endParaRPr lang="en-US" sz="1220" dirty="0"/>
          </a:p>
        </p:txBody>
      </p:sp>
      <p:sp>
        <p:nvSpPr>
          <p:cNvPr id="11" name="Text 9"/>
          <p:cNvSpPr/>
          <p:nvPr/>
        </p:nvSpPr>
        <p:spPr>
          <a:xfrm>
            <a:off x="6327648" y="2743200"/>
            <a:ext cx="4764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1E66D0"/>
                </a:solidFill>
              </a:rPr>
              <a:t>Langkah 4 — Atur daftar card</a:t>
            </a:r>
            <a:endParaRPr lang="en-US" sz="1420" dirty="0"/>
          </a:p>
        </p:txBody>
      </p:sp>
      <p:sp>
        <p:nvSpPr>
          <p:cNvPr id="12" name="Text 10"/>
          <p:cNvSpPr/>
          <p:nvPr/>
        </p:nvSpPr>
        <p:spPr>
          <a:xfrm>
            <a:off x="685800" y="3977640"/>
            <a:ext cx="4983480" cy="987552"/>
          </a:xfrm>
          <a:prstGeom prst="rect">
            <a:avLst/>
          </a:prstGeom>
          <a:solidFill>
            <a:srgbClr val="FFFAF5"/>
          </a:solidFill>
          <a:ln w="12700">
            <a:solidFill>
              <a:srgbClr val="CFE0F3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475569"/>
                </a:solidFill>
              </a:rPr>
              <a:t>Langkah 5 — Uji responsif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475569"/>
                </a:solidFill>
              </a:rPr>
              <a:t>DevTools dan ukuran layar berbeda</a:t>
            </a:r>
            <a:endParaRPr lang="en-US" sz="1220" dirty="0"/>
          </a:p>
        </p:txBody>
      </p:sp>
      <p:sp>
        <p:nvSpPr>
          <p:cNvPr id="13" name="Text 11"/>
          <p:cNvSpPr/>
          <p:nvPr/>
        </p:nvSpPr>
        <p:spPr>
          <a:xfrm>
            <a:off x="795528" y="4069080"/>
            <a:ext cx="4764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F28C28"/>
                </a:solidFill>
              </a:rPr>
              <a:t>Langkah 5 — Uji responsif</a:t>
            </a:r>
            <a:endParaRPr lang="en-US" sz="1420" dirty="0"/>
          </a:p>
        </p:txBody>
      </p:sp>
      <p:sp>
        <p:nvSpPr>
          <p:cNvPr id="14" name="Text 12"/>
          <p:cNvSpPr/>
          <p:nvPr/>
        </p:nvSpPr>
        <p:spPr>
          <a:xfrm>
            <a:off x="292608" y="65562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C93"/>
                </a:solidFill>
              </a:rPr>
              <a:t>TI401 • Pengembangan Desain Web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1612880" y="651052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2447"/>
                </a:solidFill>
              </a:rPr>
              <a:t>22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92608" y="6419088"/>
            <a:ext cx="11567160" cy="0"/>
          </a:xfrm>
          <a:prstGeom prst="line">
            <a:avLst/>
          </a:prstGeom>
          <a:noFill/>
          <a:ln w="10160">
            <a:solidFill>
              <a:srgbClr val="DDE7F3"/>
            </a:solidFill>
            <a:prstDash val="solid"/>
          </a:ln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56032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66D0"/>
                </a:solidFill>
              </a:rPr>
              <a:t>PERTEMUAN 5 • CPMK51 / Sub-CPMK51.4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320040" y="658368"/>
            <a:ext cx="55778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F2447"/>
                </a:solidFill>
              </a:rPr>
              <a:t>Rubrik Singkat Praktik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4114800" cy="320040"/>
          </a:xfrm>
          <a:prstGeom prst="rect">
            <a:avLst/>
          </a:prstGeom>
          <a:solidFill>
            <a:srgbClr val="1D3F73"/>
          </a:solidFill>
          <a:ln/>
        </p:spPr>
        <p:txBody>
          <a:bodyPr wrap="square" lIns="889" tIns="889" rIns="889" bIns="889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Aspek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800600" y="1325880"/>
            <a:ext cx="1280160" cy="320040"/>
          </a:xfrm>
          <a:prstGeom prst="rect">
            <a:avLst/>
          </a:prstGeom>
          <a:solidFill>
            <a:srgbClr val="1D3F73"/>
          </a:solidFill>
          <a:ln/>
        </p:spPr>
        <p:txBody>
          <a:bodyPr wrap="square" lIns="889" tIns="889" rIns="889" bIns="889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Bobot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080760" y="1325880"/>
            <a:ext cx="5394960" cy="320040"/>
          </a:xfrm>
          <a:prstGeom prst="rect">
            <a:avLst/>
          </a:prstGeom>
          <a:solidFill>
            <a:srgbClr val="1D3F73"/>
          </a:solidFill>
          <a:ln/>
        </p:spPr>
        <p:txBody>
          <a:bodyPr wrap="square" lIns="889" tIns="889" rIns="889" bIns="889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Indikator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1737360"/>
            <a:ext cx="41148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FE0F3"/>
            </a:solidFill>
          </a:ln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Struktur HTML semantik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800600" y="1737360"/>
            <a:ext cx="12801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FE0F3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20%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080760" y="1737360"/>
            <a:ext cx="53949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FE0F3"/>
            </a:solidFill>
          </a:ln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section, article, nav, footer tepat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85800" y="2395728"/>
            <a:ext cx="4114800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CFE0F3"/>
            </a:solidFill>
          </a:ln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Flexbox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800600" y="2395728"/>
            <a:ext cx="1280160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CFE0F3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25%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080760" y="2395728"/>
            <a:ext cx="5394960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CFE0F3"/>
            </a:solidFill>
          </a:ln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header/hero rapi dan sejajar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85800" y="3054096"/>
            <a:ext cx="41148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FE0F3"/>
            </a:solidFill>
          </a:ln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Grid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800600" y="3054096"/>
            <a:ext cx="12801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FE0F3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25%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080760" y="3054096"/>
            <a:ext cx="53949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FE0F3"/>
            </a:solidFill>
          </a:ln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card responsif dengan gap konsisten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85800" y="3712464"/>
            <a:ext cx="4114800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CFE0F3"/>
            </a:solidFill>
          </a:ln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Responsive &amp; debugging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800600" y="3712464"/>
            <a:ext cx="1280160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CFE0F3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20%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80760" y="3712464"/>
            <a:ext cx="5394960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CFE0F3"/>
            </a:solidFill>
          </a:ln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teruji di beberapa ukuran layar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85800" y="4370832"/>
            <a:ext cx="41148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FE0F3"/>
            </a:solidFill>
          </a:ln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Kerapian kode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800600" y="4370832"/>
            <a:ext cx="12801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FE0F3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10%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080760" y="4370832"/>
            <a:ext cx="53949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FE0F3"/>
            </a:solidFill>
          </a:ln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class jelas dan CSS mudah dibaca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097280" y="5257800"/>
            <a:ext cx="9784080" cy="502920"/>
          </a:xfrm>
          <a:prstGeom prst="rect">
            <a:avLst/>
          </a:prstGeom>
          <a:solidFill>
            <a:srgbClr val="FFF0E3"/>
          </a:solidFill>
          <a:ln w="12700">
            <a:solidFill>
              <a:srgbClr val="F28C28">
                <a:alpha val="9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8C28"/>
                </a:solidFill>
              </a:rPr>
              <a:t>Upload folder 05_css-layout berisi index.html dan style.css.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92608" y="65562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C93"/>
                </a:solidFill>
              </a:rPr>
              <a:t>TI401 • Pengembangan Desain Web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1612880" y="651052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2447"/>
                </a:solidFill>
              </a:rPr>
              <a:t>23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92608" y="6419088"/>
            <a:ext cx="11567160" cy="0"/>
          </a:xfrm>
          <a:prstGeom prst="line">
            <a:avLst/>
          </a:prstGeom>
          <a:noFill/>
          <a:ln w="10160">
            <a:solidFill>
              <a:srgbClr val="DDE7F3"/>
            </a:solidFill>
            <a:prstDash val="solid"/>
          </a:ln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56032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66D0"/>
                </a:solidFill>
              </a:rPr>
              <a:t>PERTEMUAN 5 • CPMK51 / Sub-CPMK51.4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447"/>
                </a:solidFill>
              </a:rPr>
              <a:t>Refleksi &amp; Penutup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</a:rPr>
              <a:t>Pertanyaan refleksi sebelum lanjut ke Bootstrap: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85800" y="1920240"/>
            <a:ext cx="5120640" cy="1005840"/>
          </a:xfrm>
          <a:prstGeom prst="rect">
            <a:avLst/>
          </a:prstGeom>
          <a:solidFill>
            <a:srgbClr val="F8FBFF"/>
          </a:solidFill>
          <a:ln w="12700">
            <a:solidFill>
              <a:srgbClr val="CFE0F3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1. Kapan saya memilih Flexbox?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Ketika item perlu disusun dalam satu arah: horizontal atau vertikal.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95528" y="2011680"/>
            <a:ext cx="4901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E66D0"/>
                </a:solidFill>
              </a:rPr>
              <a:t>1. Kapan saya memilih Flexbox?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3246120"/>
            <a:ext cx="5120640" cy="1005840"/>
          </a:xfrm>
          <a:prstGeom prst="rect">
            <a:avLst/>
          </a:prstGeom>
          <a:solidFill>
            <a:srgbClr val="FFF0E3"/>
          </a:solidFill>
          <a:ln w="12700">
            <a:solidFill>
              <a:srgbClr val="CFE0F3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2. Kapan saya memilih Grid?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Ketika struktur membutuhkan baris dan kolom sekaligus.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95528" y="3337560"/>
            <a:ext cx="4901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28C28"/>
                </a:solidFill>
              </a:rPr>
              <a:t>2. Kapan saya memilih Grid?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85800" y="4572000"/>
            <a:ext cx="5120640" cy="1005840"/>
          </a:xfrm>
          <a:prstGeom prst="rect">
            <a:avLst/>
          </a:prstGeom>
          <a:solidFill>
            <a:srgbClr val="EAF8F0"/>
          </a:solidFill>
          <a:ln w="12700">
            <a:solidFill>
              <a:srgbClr val="CFE0F3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3. Apakah layout saya responsif?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Uji di HP, tablet, dan desktop; perbaiki overflow dan jarak.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95528" y="4663440"/>
            <a:ext cx="4901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E9D61"/>
                </a:solidFill>
              </a:rPr>
              <a:t>3. Apakah layout saya responsif?</a:t>
            </a:r>
            <a:endParaRPr lang="en-US" sz="1500" dirty="0"/>
          </a:p>
        </p:txBody>
      </p:sp>
      <p:pic>
        <p:nvPicPr>
          <p:cNvPr id="11" name="Image 0" descr="/mnt/data/a_clean_modern_educational_illustration_promoti_batch_2.png">    </p:cNvPr>
          <p:cNvPicPr>
            <a:picLocks noChangeAspect="1"/>
          </p:cNvPicPr>
          <p:nvPr/>
        </p:nvPicPr>
        <p:blipFill>
          <a:blip r:embed="rId1"/>
          <a:srcRect l="15830" r="15830" t="0" b="0"/>
          <a:stretch/>
        </p:blipFill>
        <p:spPr>
          <a:xfrm>
            <a:off x="6217920" y="914400"/>
            <a:ext cx="5440680" cy="448056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583680" y="5532120"/>
            <a:ext cx="4754880" cy="502920"/>
          </a:xfrm>
          <a:prstGeom prst="rect">
            <a:avLst/>
          </a:prstGeom>
          <a:solidFill>
            <a:srgbClr val="EAF3FF"/>
          </a:solidFill>
          <a:ln w="12700">
            <a:solidFill>
              <a:srgbClr val="1E66D0">
                <a:alpha val="9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66D0"/>
                </a:solidFill>
              </a:rPr>
              <a:t>Pertemuan berikutnya: Bootstrap Dasar &amp; Layout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292608" y="65562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C93"/>
                </a:solidFill>
              </a:rPr>
              <a:t>TI401 • Pengembangan Desain Web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1612880" y="651052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2447"/>
                </a:solidFill>
              </a:rPr>
              <a:t>24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292608" y="6419088"/>
            <a:ext cx="11567160" cy="0"/>
          </a:xfrm>
          <a:prstGeom prst="line">
            <a:avLst/>
          </a:prstGeom>
          <a:noFill/>
          <a:ln w="10160">
            <a:solidFill>
              <a:srgbClr val="DDE7F3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Program Studi Teknologi Informasi UMY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TI401 Pertemuan 5 - CSS Layout</dc:title>
  <dc:subject>TI401 Pertemuan 5 CSS Layout Flexbox &amp; Grid</dc:subject>
  <dc:creator>TI UMY</dc:creator>
  <cp:lastModifiedBy>TI UMY</cp:lastModifiedBy>
  <cp:revision>1</cp:revision>
  <dcterms:created xsi:type="dcterms:W3CDTF">2026-07-19T21:14:28Z</dcterms:created>
  <dcterms:modified xsi:type="dcterms:W3CDTF">2026-07-19T21:14:28Z</dcterms:modified>
</cp:coreProperties>
</file>