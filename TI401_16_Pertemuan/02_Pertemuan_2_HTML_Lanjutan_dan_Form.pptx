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777240"/>
            <a:ext cx="5669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HTML Dasar Lanjutan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&amp; HTML Form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47472" y="2011680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3D4653"/>
                </a:solidFill>
              </a:rPr>
              <a:t>Pertemuan 2 • 100 menit • CPMK51 / Sub-CPMK51.1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347472" y="2743200"/>
            <a:ext cx="5074920" cy="960120"/>
          </a:xfrm>
          <a:prstGeom prst="roundRect">
            <a:avLst>
              <a:gd name="adj" fmla="val 3810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2064" y="2880360"/>
            <a:ext cx="47457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Target sesi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12064" y="3182112"/>
            <a:ext cx="4745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Mahasiswa mampu membangun halaman web statis lanjutan dan menyusun form input dasar sesuai kebutuhan pengguna.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47472" y="4160520"/>
            <a:ext cx="1038758" cy="1115568"/>
          </a:xfrm>
          <a:prstGeom prst="roundRect">
            <a:avLst>
              <a:gd name="adj" fmla="val 5282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2702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3434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12064" y="4681728"/>
            <a:ext cx="709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76B"/>
                </a:solidFill>
              </a:rPr>
              <a:t>Review struktur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2064" y="5029200"/>
            <a:ext cx="70957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6C3"/>
                </a:solidFill>
              </a:rPr>
              <a:t>10’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642262" y="4160520"/>
            <a:ext cx="1038758" cy="1115568"/>
          </a:xfrm>
          <a:prstGeom prst="roundRect">
            <a:avLst>
              <a:gd name="adj" fmla="val 5282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751990" y="42702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51990" y="43434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806854" y="4681728"/>
            <a:ext cx="709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76B"/>
                </a:solidFill>
              </a:rPr>
              <a:t>HTML lanjutan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806854" y="5029200"/>
            <a:ext cx="70957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30’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937053" y="4160520"/>
            <a:ext cx="1038758" cy="1115568"/>
          </a:xfrm>
          <a:prstGeom prst="roundRect">
            <a:avLst>
              <a:gd name="adj" fmla="val 5282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046781" y="42702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046781" y="43434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101645" y="4681728"/>
            <a:ext cx="709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76B"/>
                </a:solidFill>
              </a:rPr>
              <a:t>Form dasar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101645" y="5029200"/>
            <a:ext cx="70957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6C3"/>
                </a:solidFill>
              </a:rPr>
              <a:t>25’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31843" y="4160520"/>
            <a:ext cx="1038758" cy="1115568"/>
          </a:xfrm>
          <a:prstGeom prst="roundRect">
            <a:avLst>
              <a:gd name="adj" fmla="val 5282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1571" y="42702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341571" y="43434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396435" y="4681728"/>
            <a:ext cx="709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76B"/>
                </a:solidFill>
              </a:rPr>
              <a:t>Validasi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96435" y="5029200"/>
            <a:ext cx="70957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20’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526634" y="4160520"/>
            <a:ext cx="1038758" cy="1115568"/>
          </a:xfrm>
          <a:prstGeom prst="roundRect">
            <a:avLst>
              <a:gd name="adj" fmla="val 5282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636362" y="427024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36362" y="434340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91226" y="4681728"/>
            <a:ext cx="7095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76B"/>
                </a:solidFill>
              </a:rPr>
              <a:t>Demo &amp; refleksi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691226" y="5029200"/>
            <a:ext cx="70957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6C3"/>
                </a:solidFill>
              </a:rPr>
              <a:t>15’</a:t>
            </a:r>
            <a:endParaRPr lang="en-US" sz="850" dirty="0"/>
          </a:p>
        </p:txBody>
      </p:sp>
      <p:pic>
        <p:nvPicPr>
          <p:cNvPr id="36" name="Image 0" descr="/mnt/data/wide_clean_vector_illustration_graphic_design_sc_batch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868680"/>
            <a:ext cx="5440680" cy="30632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Capaian, alur, dan output sesi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Gunakan slide ini untuk membuka sesi dan menyepakati ritme belajar.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02920" y="2057400"/>
            <a:ext cx="1630680" cy="1115568"/>
          </a:xfrm>
          <a:prstGeom prst="roundRect">
            <a:avLst>
              <a:gd name="adj" fmla="val 4918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2648" y="21671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12648" y="22402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" y="2578608"/>
            <a:ext cx="130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76B"/>
                </a:solidFill>
              </a:rPr>
              <a:t>Pembuka &amp; review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67512" y="2926080"/>
            <a:ext cx="1301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6C3"/>
                </a:solidFill>
              </a:rPr>
              <a:t>10’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389632" y="2057400"/>
            <a:ext cx="1630680" cy="1115568"/>
          </a:xfrm>
          <a:prstGeom prst="roundRect">
            <a:avLst>
              <a:gd name="adj" fmla="val 4918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499360" y="21671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99360" y="22402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54224" y="2578608"/>
            <a:ext cx="130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76B"/>
                </a:solidFill>
              </a:rPr>
              <a:t>Tag lanjutan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54224" y="2926080"/>
            <a:ext cx="1301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20’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276344" y="2057400"/>
            <a:ext cx="1630680" cy="1115568"/>
          </a:xfrm>
          <a:prstGeom prst="roundRect">
            <a:avLst>
              <a:gd name="adj" fmla="val 4918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86072" y="21671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6072" y="22402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440936" y="2578608"/>
            <a:ext cx="130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76B"/>
                </a:solidFill>
              </a:rPr>
              <a:t>Link, media, tabel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440936" y="2926080"/>
            <a:ext cx="1301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6C3"/>
                </a:solidFill>
              </a:rPr>
              <a:t>20’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63056" y="2057400"/>
            <a:ext cx="1630680" cy="1115568"/>
          </a:xfrm>
          <a:prstGeom prst="roundRect">
            <a:avLst>
              <a:gd name="adj" fmla="val 4918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72784" y="21671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72784" y="22402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27648" y="2578608"/>
            <a:ext cx="130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76B"/>
                </a:solidFill>
              </a:rPr>
              <a:t>HTML Form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2926080"/>
            <a:ext cx="1301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25’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049768" y="2057400"/>
            <a:ext cx="1630680" cy="1115568"/>
          </a:xfrm>
          <a:prstGeom prst="roundRect">
            <a:avLst>
              <a:gd name="adj" fmla="val 4918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159496" y="21671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159496" y="22402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14360" y="2578608"/>
            <a:ext cx="130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76B"/>
                </a:solidFill>
              </a:rPr>
              <a:t>Validasi &amp; a11y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214360" y="2926080"/>
            <a:ext cx="1301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6C3"/>
                </a:solidFill>
              </a:rPr>
              <a:t>15’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9936480" y="2057400"/>
            <a:ext cx="1630680" cy="1115568"/>
          </a:xfrm>
          <a:prstGeom prst="roundRect">
            <a:avLst>
              <a:gd name="adj" fmla="val 4918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046208" y="21671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046208" y="22402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0101072" y="2578608"/>
            <a:ext cx="13014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76B"/>
                </a:solidFill>
              </a:rPr>
              <a:t>Demo/kuis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0101072" y="2926080"/>
            <a:ext cx="130149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10’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640080" y="3794760"/>
            <a:ext cx="5166360" cy="1051560"/>
          </a:xfrm>
          <a:prstGeom prst="roundRect">
            <a:avLst>
              <a:gd name="adj" fmla="val 3478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04672" y="3931920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66C3"/>
                </a:solidFill>
              </a:rPr>
              <a:t>Output akhir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804672" y="4233672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File index.html berisi halaman profil/pendaftaran sederhana dengan struktur dokumen valid, tautan, media, tabel data kecil, dan form input yang berlabel.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6355080" y="3794760"/>
            <a:ext cx="5166360" cy="1051560"/>
          </a:xfrm>
          <a:prstGeom prst="roundRect">
            <a:avLst>
              <a:gd name="adj" fmla="val 3478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9672" y="3931920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Kriteria berhasil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6519672" y="4233672"/>
            <a:ext cx="48371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Mahasiswa dapat menjelaskan fungsi tag, memilih input type yang tepat, menulis label dan name, serta menjalankan validasi HTML5 dasar.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cepat Pertemuan 1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HTML bukan sekadar tampilan, tetapi struktur makna dokumen.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02920" y="209854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11680"/>
            <a:ext cx="49560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D4653"/>
                </a:solidFill>
              </a:rPr>
              <a:t>&lt;!DOCTYPE html&gt; memberi tahu browser memakai standar HTML modern.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502920" y="2574036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87168"/>
            <a:ext cx="49560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D4653"/>
                </a:solidFill>
              </a:rPr>
              <a:t>&lt;html lang="id"&gt; membantu pembaca layar dan mesin pencari memahami bahasa halaman.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02920" y="3049524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962656"/>
            <a:ext cx="49560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D4653"/>
                </a:solidFill>
              </a:rPr>
              <a:t>&lt;head&gt; berisi informasi halaman; &lt;body&gt; berisi konten yang dilihat pengguna.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502920" y="3525012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438144"/>
            <a:ext cx="4956048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3D4653"/>
                </a:solidFill>
              </a:rPr>
              <a:t>Elemen semantik membantu struktur halaman lebih mudah dipahami.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989320" y="1874520"/>
            <a:ext cx="5303520" cy="3977640"/>
          </a:xfrm>
          <a:prstGeom prst="roundRect">
            <a:avLst>
              <a:gd name="adj" fmla="val 92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984248"/>
            <a:ext cx="5029200" cy="3758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lang="id"&gt;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&lt;title&gt;Portal Kampus&lt;/title&gt;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&lt;header&gt;...&lt;/header&gt;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&lt;main&gt;...&lt;/main&gt;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Anatomi dokumen HTML lanjutan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Bagian kecil yang sering dilupakan tetapi penting untuk kualitas halaman.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02920" y="209854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1168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charset UTF-8: teks Indonesia dan Arab tampil aman.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502920" y="2537460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50592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viewport: halaman lebih siap dibuka di perangkat mobile.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02920" y="2976372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89504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title: muncul di tab browser dan hasil pencarian.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502920" y="3415284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28416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meta description: ringkasan halaman untuk SEO dasar.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502920" y="3854196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67328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body: tempat semua struktur visual dan interaksi dimulai.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5669280" y="1874520"/>
            <a:ext cx="5852160" cy="3611880"/>
          </a:xfrm>
          <a:prstGeom prst="roundRect">
            <a:avLst>
              <a:gd name="adj" fmla="val 101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84248"/>
            <a:ext cx="557784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content="width=device-width, initial-scale=1.0"&gt;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name="description"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content="Form pendaftaran kegiatan kampus"&gt;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&lt;title&gt;Pendaftaran Kegiatan&lt;/title&gt;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5669280" y="5650992"/>
            <a:ext cx="5852160" cy="621792"/>
          </a:xfrm>
          <a:prstGeom prst="roundRect">
            <a:avLst>
              <a:gd name="adj" fmla="val 5882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5788152"/>
            <a:ext cx="5522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Prinsip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833872" y="6089904"/>
            <a:ext cx="5522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Struktur yang rapi membuat halaman lebih mudah dipelihara, dicari, dan digunakan.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Tag teks: heading, paragraf, dan penekanan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Gunakan tag sesuai makna, bukan semata karena ukurannya terlihat cocok.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02920" y="209854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1168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Gunakan satu &lt;h1&gt; sebagai judul utama halaman.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502920" y="2537460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50592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Urutan heading sebaiknya logis: h1 → h2 → h3.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02920" y="2976372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89504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&lt;p&gt; untuk paragraf; jangan pakai &lt;br&gt; berlebihan untuk layout.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502920" y="3415284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28416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&lt;strong&gt; untuk penekanan penting; &lt;em&gt; untuk penekanan bernuansa.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502920" y="3854196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67328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Konten yang terstruktur lebih mudah dibaca mesin dan manusia.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5669280" y="1874520"/>
            <a:ext cx="5852160" cy="3611880"/>
          </a:xfrm>
          <a:prstGeom prst="roundRect">
            <a:avLst>
              <a:gd name="adj" fmla="val 101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84248"/>
            <a:ext cx="557784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&lt;h1&gt;Pendaftaran Seminar Web&lt;/h1&gt;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&lt;p&gt;Silakan isi data peserta dengan benar.&lt;/p&gt;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&lt;h2&gt;Ketentuan Peserta&lt;/h2&gt;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&lt;p&gt;Mahasiswa wajib menggunakan email aktif.&lt;/p&gt;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&lt;p&gt;&lt;strong&gt;Catatan:&lt;/strong&gt; kuota terbatas.&lt;/p&gt;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&lt;/main&gt;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List dan tautan: struktur informasi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Daftar dan tautan membantu pengguna melakukan navigasi dan memahami pilihan.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02920" y="209854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1168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&lt;ul&gt; untuk daftar tidak berurutan.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502920" y="2537460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50592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&lt;ol&gt; untuk langkah yang berurutan.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02920" y="2976372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89504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&lt;a href="..."&gt; untuk tautan ke halaman, file, atau bagian tertentu.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502920" y="3415284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28416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Teks tautan harus jelas; hindari “klik di sini” tanpa konteks.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502920" y="3854196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67328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Gunakan id untuk tautan internal dalam halaman.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5669280" y="1874520"/>
            <a:ext cx="5852160" cy="3611880"/>
          </a:xfrm>
          <a:prstGeom prst="roundRect">
            <a:avLst>
              <a:gd name="adj" fmla="val 101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84248"/>
            <a:ext cx="557784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href="#jadwal"&gt;Jadwal&lt;/a&gt;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 href="#form-daftar"&gt;Daftar&lt;/a&gt;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&lt;/nav&gt;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&lt;h2 id="jadwal"&gt;Jadwal Kegiatan&lt;/h2&gt;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&lt;ol&gt;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&lt;li&gt;Registrasi&lt;/li&gt;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&lt;li&gt;Materi HTML Form&lt;/li&gt;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&lt;li&gt;Praktik mandiri&lt;/li&gt;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&lt;/ol&gt;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Gambar dan aksesibilitas dasar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Gambar harus memiliki makna, sumber jelas, dan alternatif teks.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02920" y="209854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1168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src menunjuk lokasi file gambar.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502920" y="2537460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50592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alt menjelaskan isi gambar saat gambar gagal tampil atau dibaca screen reader.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02920" y="2976372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89504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Gunakan &lt;figure&gt; dan &lt;figcaption&gt; jika gambar membutuhkan keterangan.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502920" y="3415284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28416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Nama file sebaiknya pendek, huruf kecil, tanpa spasi.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502920" y="3854196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67328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Bedakan gambar dekoratif dan gambar informatif.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5669280" y="1874520"/>
            <a:ext cx="5852160" cy="3611880"/>
          </a:xfrm>
          <a:prstGeom prst="roundRect">
            <a:avLst>
              <a:gd name="adj" fmla="val 101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84248"/>
            <a:ext cx="557784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&lt;figure&gt;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&lt;img src="assets/lab-web.jpg"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alt="Mahasiswa sedang praktik HTML di laboratorium"&gt;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&lt;figcaption&gt;Praktikum desain web di laboratorium.&lt;/figcaption&gt;</a:t>
            </a:r>
            <a:endParaRPr lang="en-US" sz="1360" dirty="0"/>
          </a:p>
          <a:p>
            <a:pPr indent="0" marL="0">
              <a:buNone/>
            </a:pPr>
            <a:r>
              <a:rPr lang="en-US" sz="136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&lt;/figure&gt;</a:t>
            </a:r>
            <a:endParaRPr lang="en-US" sz="1360" dirty="0"/>
          </a:p>
        </p:txBody>
      </p:sp>
      <p:sp>
        <p:nvSpPr>
          <p:cNvPr id="20" name="Shape 18"/>
          <p:cNvSpPr/>
          <p:nvPr/>
        </p:nvSpPr>
        <p:spPr>
          <a:xfrm>
            <a:off x="5669280" y="5650992"/>
            <a:ext cx="5852160" cy="621792"/>
          </a:xfrm>
          <a:prstGeom prst="roundRect">
            <a:avLst>
              <a:gd name="adj" fmla="val 5882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5788152"/>
            <a:ext cx="5522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Ingat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833872" y="6089904"/>
            <a:ext cx="5522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Alt text bukan tempat memasukkan kata kunci sebanyak-banyaknya; tuliskan makna gambar secara ringkas.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Tabel: hanya untuk data tabular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Gunakan tabel ketika data memang perlu dibaca dalam baris dan kolom.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02920" y="209854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1168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&lt;table&gt; membungkus data tabular.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502920" y="2537460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50592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&lt;thead&gt; untuk judul kolom, &lt;tbody&gt; untuk isi data.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02920" y="2976372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89504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&lt;th&gt; memberi makna header; &lt;td&gt; berisi data biasa.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502920" y="3415284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28416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Jangan memakai tabel hanya untuk mengatur layout halaman.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502920" y="3854196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67328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Tabel yang baik punya judul kolom yang jelas.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5669280" y="1874520"/>
            <a:ext cx="5852160" cy="3611880"/>
          </a:xfrm>
          <a:prstGeom prst="roundRect">
            <a:avLst>
              <a:gd name="adj" fmla="val 101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84248"/>
            <a:ext cx="557784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&lt;table&gt;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&lt;thead&gt;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&lt;th&gt;Hari&lt;/th&gt;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&lt;th&gt;Materi&lt;/th&gt;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&lt;th&gt;Ruang&lt;/th&gt;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&lt;/thead&gt;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&lt;tbody&gt;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&lt;tr&gt;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&lt;td&gt;Senin&lt;/td&gt;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&lt;td&gt;HTML Form&lt;/td&gt;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&lt;td&gt;Lab Web&lt;/td&gt;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&lt;/tr&gt;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&lt;/tbody&gt;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&lt;/table&gt;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09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Dari halaman statis ke interaksi pengguna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HTML Form adalah pintu masuk data dari pengguna ke sistem.</a:t>
            </a:r>
            <a:endParaRPr lang="en-US" sz="1420" dirty="0"/>
          </a:p>
        </p:txBody>
      </p:sp>
      <p:pic>
        <p:nvPicPr>
          <p:cNvPr id="8" name="Image 0" descr="/mnt/data/wide_clean_vector_illustration_style_classroom_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0"/>
            <a:ext cx="4526280" cy="2542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205282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965960"/>
            <a:ext cx="48646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3D4653"/>
                </a:solidFill>
              </a:rPr>
              <a:t>Halaman statis menyampaikan informasi.</a:t>
            </a:r>
            <a:endParaRPr lang="en-US" sz="1480" dirty="0"/>
          </a:p>
        </p:txBody>
      </p:sp>
      <p:sp>
        <p:nvSpPr>
          <p:cNvPr id="11" name="Shape 8"/>
          <p:cNvSpPr/>
          <p:nvPr/>
        </p:nvSpPr>
        <p:spPr>
          <a:xfrm>
            <a:off x="502920" y="255574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468880"/>
            <a:ext cx="48646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3D4653"/>
                </a:solidFill>
              </a:rPr>
              <a:t>Form meminta data dari pengguna: nama, email, pilihan, komentar, dan file.</a:t>
            </a:r>
            <a:endParaRPr lang="en-US" sz="1480" dirty="0"/>
          </a:p>
        </p:txBody>
      </p:sp>
      <p:sp>
        <p:nvSpPr>
          <p:cNvPr id="13" name="Shape 10"/>
          <p:cNvSpPr/>
          <p:nvPr/>
        </p:nvSpPr>
        <p:spPr>
          <a:xfrm>
            <a:off x="502920" y="305866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2971800"/>
            <a:ext cx="48646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3D4653"/>
                </a:solidFill>
              </a:rPr>
              <a:t>Browser bisa melakukan validasi dasar sebelum data dikirim.</a:t>
            </a:r>
            <a:endParaRPr lang="en-US" sz="1480" dirty="0"/>
          </a:p>
        </p:txBody>
      </p:sp>
      <p:sp>
        <p:nvSpPr>
          <p:cNvPr id="15" name="Shape 12"/>
          <p:cNvSpPr/>
          <p:nvPr/>
        </p:nvSpPr>
        <p:spPr>
          <a:xfrm>
            <a:off x="502920" y="356158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474720"/>
            <a:ext cx="4864608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80" dirty="0">
                <a:solidFill>
                  <a:srgbClr val="3D4653"/>
                </a:solidFill>
              </a:rPr>
              <a:t>Pada pertemuan ini fokusnya struktur form, belum backend/server.</a:t>
            </a:r>
            <a:endParaRPr lang="en-US" sz="1480" dirty="0"/>
          </a:p>
        </p:txBody>
      </p:sp>
      <p:sp>
        <p:nvSpPr>
          <p:cNvPr id="17" name="Shape 14"/>
          <p:cNvSpPr/>
          <p:nvPr/>
        </p:nvSpPr>
        <p:spPr>
          <a:xfrm>
            <a:off x="6172200" y="4892040"/>
            <a:ext cx="5303520" cy="822960"/>
          </a:xfrm>
          <a:prstGeom prst="roundRect">
            <a:avLst>
              <a:gd name="adj" fmla="val 4444"/>
            </a:avLst>
          </a:prstGeom>
          <a:solidFill>
            <a:srgbClr val="EAF8F0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36792" y="5029200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E9E5B"/>
                </a:solidFill>
              </a:rPr>
              <a:t>Analogi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6336792" y="5330952"/>
            <a:ext cx="4974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Form seperti loket digital: setiap kolom harus jelas, berlabel, dan mengarahkan pengguna mengisi data dengan benar.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Anatomi form: form, label, input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Tiga elemen ini adalah fondasi form yang rapi dan mudah digunakan.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02920" y="209854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1168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&lt;form&gt; membungkus semua elemen input.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502920" y="2537460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50592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action menentukan tujuan pengiriman data.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02920" y="2976372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89504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method menentukan cara data dikirim.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502920" y="3415284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28416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&lt;label&gt; menjelaskan input dan menghubungkannya dengan id.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502920" y="3854196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67328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name menjadi nama data ketika form dikirim.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5669280" y="1874520"/>
            <a:ext cx="5852160" cy="3611880"/>
          </a:xfrm>
          <a:prstGeom prst="roundRect">
            <a:avLst>
              <a:gd name="adj" fmla="val 101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84248"/>
            <a:ext cx="557784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action="/daftar" method="post"&gt;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 for="nama"&gt;Nama Lengkap&lt;/label&gt;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id="nama" name="nama" required&gt;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type="submit"&gt;Kirim Pendaftaran&lt;/button&gt;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Atribut penting pada input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Atribut menentukan identitas, perilaku, dan batasan input.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4937760" cy="594360"/>
          </a:xfrm>
          <a:prstGeom prst="roundRect">
            <a:avLst>
              <a:gd name="adj" fmla="val 6154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8288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B6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sz="1320" dirty="0"/>
          </a:p>
        </p:txBody>
      </p:sp>
      <p:sp>
        <p:nvSpPr>
          <p:cNvPr id="10" name="Text 8"/>
          <p:cNvSpPr/>
          <p:nvPr/>
        </p:nvSpPr>
        <p:spPr>
          <a:xfrm>
            <a:off x="1856232" y="18196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D4653"/>
                </a:solidFill>
              </a:rPr>
              <a:t>Jenis input: text, email, number, date, password, dll.</a:t>
            </a:r>
            <a:endParaRPr lang="en-US" sz="1220" dirty="0"/>
          </a:p>
        </p:txBody>
      </p:sp>
      <p:sp>
        <p:nvSpPr>
          <p:cNvPr id="11" name="Shape 9"/>
          <p:cNvSpPr/>
          <p:nvPr/>
        </p:nvSpPr>
        <p:spPr>
          <a:xfrm>
            <a:off x="594360" y="2560320"/>
            <a:ext cx="4937760" cy="594360"/>
          </a:xfrm>
          <a:prstGeom prst="roundRect">
            <a:avLst>
              <a:gd name="adj" fmla="val 6154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697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28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1856232" y="268833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D4653"/>
                </a:solidFill>
              </a:rPr>
              <a:t>Identitas unik untuk menghubungkan label.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594360" y="3429000"/>
            <a:ext cx="4937760" cy="594360"/>
          </a:xfrm>
          <a:prstGeom prst="roundRect">
            <a:avLst>
              <a:gd name="adj" fmla="val 6154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5661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B6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320" dirty="0"/>
          </a:p>
        </p:txBody>
      </p:sp>
      <p:sp>
        <p:nvSpPr>
          <p:cNvPr id="16" name="Text 14"/>
          <p:cNvSpPr/>
          <p:nvPr/>
        </p:nvSpPr>
        <p:spPr>
          <a:xfrm>
            <a:off x="1856232" y="355701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D4653"/>
                </a:solidFill>
              </a:rPr>
              <a:t>Nama data saat dikirim ke server.</a:t>
            </a:r>
            <a:endParaRPr lang="en-US" sz="1220" dirty="0"/>
          </a:p>
        </p:txBody>
      </p:sp>
      <p:sp>
        <p:nvSpPr>
          <p:cNvPr id="17" name="Shape 15"/>
          <p:cNvSpPr/>
          <p:nvPr/>
        </p:nvSpPr>
        <p:spPr>
          <a:xfrm>
            <a:off x="6263640" y="1691640"/>
            <a:ext cx="4937760" cy="594360"/>
          </a:xfrm>
          <a:prstGeom prst="roundRect">
            <a:avLst>
              <a:gd name="adj" fmla="val 6154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182880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28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placeholder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7525512" y="181965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D4653"/>
                </a:solidFill>
              </a:rPr>
              <a:t>Contoh singkat; bukan pengganti label.</a:t>
            </a:r>
            <a:endParaRPr lang="en-US" sz="1220" dirty="0"/>
          </a:p>
        </p:txBody>
      </p:sp>
      <p:sp>
        <p:nvSpPr>
          <p:cNvPr id="20" name="Shape 18"/>
          <p:cNvSpPr/>
          <p:nvPr/>
        </p:nvSpPr>
        <p:spPr>
          <a:xfrm>
            <a:off x="6263640" y="2560320"/>
            <a:ext cx="4937760" cy="594360"/>
          </a:xfrm>
          <a:prstGeom prst="roundRect">
            <a:avLst>
              <a:gd name="adj" fmla="val 6154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28232" y="2697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B66C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required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7525512" y="268833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D4653"/>
                </a:solidFill>
              </a:rPr>
              <a:t>Input wajib diisi.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263640" y="3429000"/>
            <a:ext cx="4937760" cy="594360"/>
          </a:xfrm>
          <a:prstGeom prst="roundRect">
            <a:avLst>
              <a:gd name="adj" fmla="val 6154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28232" y="35661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F28C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7525512" y="3557016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3D4653"/>
                </a:solidFill>
              </a:rPr>
              <a:t>Nilai awal atau nilai pilihan.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2880360" y="4709160"/>
            <a:ext cx="6355080" cy="1170432"/>
          </a:xfrm>
          <a:prstGeom prst="roundRect">
            <a:avLst>
              <a:gd name="adj" fmla="val 3125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17520" y="4818888"/>
            <a:ext cx="60807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type="email"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id="email"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name="email"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placeholder="nama@student.umy.ac.id"</a:t>
            </a:r>
            <a:endParaRPr lang="en-US" sz="1270" dirty="0"/>
          </a:p>
          <a:p>
            <a:pPr indent="0" marL="0">
              <a:buNone/>
            </a:pPr>
            <a:r>
              <a:rPr lang="en-US" sz="12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required&gt;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type: memilih kolom yang tepat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Input type yang tepat membantu browser memberi keyboard, validasi, dan UI yang sesuai.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02920" y="209854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1168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text: teks umum seperti nama atau alamat.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502920" y="2537460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50592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email: validasi format email.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02920" y="2976372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89504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password: menyembunyikan karakter.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502920" y="3415284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28416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number: angka dengan min, max, step.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502920" y="3854196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67328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date/time: memilih tanggal atau waktu.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502920" y="429310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420624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file: mengunggah berkas.</a:t>
            </a:r>
            <a:endParaRPr lang="en-US" sz="1430" dirty="0"/>
          </a:p>
        </p:txBody>
      </p:sp>
      <p:sp>
        <p:nvSpPr>
          <p:cNvPr id="20" name="Shape 18"/>
          <p:cNvSpPr/>
          <p:nvPr/>
        </p:nvSpPr>
        <p:spPr>
          <a:xfrm>
            <a:off x="5669280" y="1874520"/>
            <a:ext cx="5852160" cy="3611880"/>
          </a:xfrm>
          <a:prstGeom prst="roundRect">
            <a:avLst>
              <a:gd name="adj" fmla="val 101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06440" y="1984248"/>
            <a:ext cx="557784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for="email"&gt;Email&lt;/label&gt;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type="email" id="email" name="email" required&gt;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for="tanggal"&gt;Tanggal Seminar&lt;/label&gt;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type="date" id="tanggal" name="tanggal"&gt;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for="jumlah"&gt;Jumlah Peserta&lt;/label&gt;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type="number" id="jumlah" name="jumlah" min="1" max="5"&gt;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Radio, checkbox, dan select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Pilih elemen sesuai pola pilihan yang dibutuhkan pengguna.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02920" y="209854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1168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Radio: satu pilihan dari beberapa opsi.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502920" y="2537460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50592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Checkbox: dapat memilih lebih dari satu opsi.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02920" y="2976372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89504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Select: cocok untuk daftar pilihan yang cukup panjang.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502920" y="3415284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28416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Setiap opsi harus memiliki value yang jelas.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502920" y="3854196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67328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Kelompokkan pilihan dengan fieldset dan legend bila perlu.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5669280" y="1874520"/>
            <a:ext cx="5852160" cy="3611880"/>
          </a:xfrm>
          <a:prstGeom prst="roundRect">
            <a:avLst>
              <a:gd name="adj" fmla="val 101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84248"/>
            <a:ext cx="557784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&lt;fieldset&gt;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&lt;legend&gt;Jenis Peserta&lt;/legend&gt;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&lt;label&gt;&lt;input type="radio" name="jenis" value="mahasiswa"&gt; Mahasiswa&lt;/label&gt;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&lt;label&gt;&lt;input type="radio" name="jenis" value="dosen"&gt; Dosen&lt;/label&gt;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&lt;/fieldset&gt;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for="prodi"&gt;Program Studi&lt;/label&gt;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 id="prodi" name="prodi"&gt;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value="ti"&gt;Teknologi Informasi&lt;/option&gt;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&lt;option value="if"&gt;Informatika&lt;/option&gt;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&lt;/select&gt;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Textarea dan button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Gunakan textarea untuk jawaban panjang, dan button sesuai aksi.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02920" y="209854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1168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textarea: komentar, alasan mengikuti acara, atau pesan.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502920" y="2537460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50592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button type="submit": mengirim form.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02920" y="2976372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89504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button type="reset": menghapus semua input, gunakan hati-hati.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502920" y="3415284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28416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button type="button": tombol biasa untuk JavaScript di pertemuan berikutnya.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502920" y="3854196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67328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Teks tombol harus menggambarkan aksi dengan jelas.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5669280" y="1874520"/>
            <a:ext cx="5852160" cy="3611880"/>
          </a:xfrm>
          <a:prstGeom prst="roundRect">
            <a:avLst>
              <a:gd name="adj" fmla="val 101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84248"/>
            <a:ext cx="557784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for="motivasi"&gt;Motivasi Mengikuti Seminar&lt;/label&gt;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&lt;textarea id="motivasi" name="motivasi" rows="4"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placeholder="Tuliskan motivasi singkat..."&gt;&lt;/textarea&gt;</a:t>
            </a:r>
            <a:endParaRPr lang="en-US" sz="1290" dirty="0"/>
          </a:p>
          <a:p>
            <a:pPr indent="0" marL="0">
              <a:buNone/>
            </a:pP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type="submit"&gt;Kirim Pendaftaran&lt;/button&gt;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&lt;button type="reset"&gt;Kosongkan&lt;/button&gt;</a:t>
            </a:r>
            <a:endParaRPr lang="en-US" sz="1290" dirty="0"/>
          </a:p>
        </p:txBody>
      </p:sp>
      <p:sp>
        <p:nvSpPr>
          <p:cNvPr id="20" name="Shape 18"/>
          <p:cNvSpPr/>
          <p:nvPr/>
        </p:nvSpPr>
        <p:spPr>
          <a:xfrm>
            <a:off x="5669280" y="5650992"/>
            <a:ext cx="5852160" cy="621792"/>
          </a:xfrm>
          <a:prstGeom prst="roundRect">
            <a:avLst>
              <a:gd name="adj" fmla="val 5882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5788152"/>
            <a:ext cx="55229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Best practice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833872" y="6089904"/>
            <a:ext cx="552297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Tombol “Kirim” lebih jelas jika ditulis “Kirim Pendaftaran”, “Simpan Profil”, atau aksi spesifik lainnya.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GET dan POST secara konseptual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Pada HTML dasar, cukup pahami kapan data terlihat di URL dan kapan dikirim sebagai request body.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02920" y="209854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1168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GET cocok untuk pencarian/filter sederhana; data muncul di URL.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502920" y="2537460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50592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POST cocok untuk data pendaftaran atau data yang mengubah sistem.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02920" y="2976372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89504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Jangan kirim data sensitif melalui GET.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502920" y="3415284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28416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Tanpa backend, form bisa diarahkan ke halaman dummy untuk belajar struktur.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502920" y="3854196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67328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Kunci form: setiap input yang dikirim harus punya name.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5669280" y="1874520"/>
            <a:ext cx="5852160" cy="3611880"/>
          </a:xfrm>
          <a:prstGeom prst="roundRect">
            <a:avLst>
              <a:gd name="adj" fmla="val 101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84248"/>
            <a:ext cx="557784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action="/cari" method="get"&gt;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type="search" name="q"&gt;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type="submit"&gt;Cari&lt;/button&gt;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50" dirty="0"/>
          </a:p>
          <a:p>
            <a:pPr indent="0" marL="0">
              <a:buNone/>
            </a:pP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action="/daftar" method="post"&gt;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type="text" name="nama"&gt;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type="submit"&gt;Daftar&lt;/button&gt;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Validasi HTML5 dasar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Validasi browser membantu mengurangi kesalahan input sebelum data diproses.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02920" y="209854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1168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required: wajib diisi.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502920" y="2537460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50592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minlength/maxlength: batas panjang karakter.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02920" y="2976372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89504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min/max: batas nilai angka atau tanggal.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502920" y="3415284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28416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pattern: pola input sederhana berbasis regular expression.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502920" y="3854196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67328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Validasi HTML bukan pengganti validasi server.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5669280" y="1874520"/>
            <a:ext cx="5852160" cy="3611880"/>
          </a:xfrm>
          <a:prstGeom prst="roundRect">
            <a:avLst>
              <a:gd name="adj" fmla="val 101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84248"/>
            <a:ext cx="557784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9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for="nim"&gt;NIM&lt;/label&gt;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type="text" id="nim" name="nim"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required minlength="8" maxlength="12"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pattern="[0-9]+"&gt;</a:t>
            </a:r>
            <a:endParaRPr lang="en-US" sz="1290" dirty="0"/>
          </a:p>
          <a:p>
            <a:pPr indent="0" marL="0">
              <a:buNone/>
            </a:pP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for="email"&gt;Email UMY&lt;/label&gt;</a:t>
            </a:r>
            <a:endParaRPr lang="en-US" sz="1290" dirty="0"/>
          </a:p>
          <a:p>
            <a:pPr indent="0" marL="0">
              <a:buNone/>
            </a:pPr>
            <a:r>
              <a:rPr lang="en-US" sz="129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type="email" id="email" name="email" required&gt;</a:t>
            </a:r>
            <a:endParaRPr lang="en-US" sz="12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Aksesibilitas form: kecil tetapi penting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Form yang baik dapat dipahami, dioperasikan, dan diperbaiki ketika pengguna salah mengisi.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4983480" cy="1005840"/>
          </a:xfrm>
          <a:prstGeom prst="roundRect">
            <a:avLst>
              <a:gd name="adj" fmla="val 3636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011680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66C3"/>
                </a:solidFill>
              </a:rPr>
              <a:t>Label eksplisit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58952" y="2313432"/>
            <a:ext cx="4654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Gunakan for dan id agar label terhubung langsung dengan input.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63640" y="1874520"/>
            <a:ext cx="4983480" cy="1005840"/>
          </a:xfrm>
          <a:prstGeom prst="roundRect">
            <a:avLst>
              <a:gd name="adj" fmla="val 3636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2011680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Instruksi jelas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28232" y="2313432"/>
            <a:ext cx="4654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Jelaskan format data, contoh, atau batasan sebelum pengguna salah mengisi.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4360" y="3291840"/>
            <a:ext cx="4983480" cy="1005840"/>
          </a:xfrm>
          <a:prstGeom prst="roundRect">
            <a:avLst>
              <a:gd name="adj" fmla="val 3636"/>
            </a:avLst>
          </a:prstGeom>
          <a:solidFill>
            <a:srgbClr val="EAF8F0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3429000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E9E5B"/>
                </a:solidFill>
              </a:rPr>
              <a:t>Urutan logis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758952" y="3730752"/>
            <a:ext cx="4654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Susun field sesuai alur berpikir pengguna, bukan hanya urutan kode.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263640" y="3291840"/>
            <a:ext cx="4983480" cy="1005840"/>
          </a:xfrm>
          <a:prstGeom prst="roundRect">
            <a:avLst>
              <a:gd name="adj" fmla="val 3636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3429000"/>
            <a:ext cx="4654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66C3"/>
                </a:solidFill>
              </a:rPr>
              <a:t>Pesan validasi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428232" y="3730752"/>
            <a:ext cx="46542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Manfaatkan required, type, dan atribut validasi untuk umpan balik awal.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417320" y="4919472"/>
            <a:ext cx="9326880" cy="914400"/>
          </a:xfrm>
          <a:prstGeom prst="roundRect">
            <a:avLst>
              <a:gd name="adj" fmla="val 4000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554480" y="5029200"/>
            <a:ext cx="9052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for="telepon"&gt;No. WhatsApp&lt;/label&gt;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id="telepon" name="telepon" type="tel"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placeholder="08xxxxxxxxxx"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aria-describedby="bantuan-telepon"&gt;</a:t>
            </a:r>
            <a:endParaRPr lang="en-US" sz="1070" dirty="0"/>
          </a:p>
          <a:p>
            <a:pPr indent="0" marL="0">
              <a:buNone/>
            </a:pPr>
            <a:r>
              <a:rPr lang="en-US" sz="107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&lt;small id="bantuan-telepon"&gt;Gunakan nomor aktif untuk konfirmasi.&lt;/small&gt;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Kesalahan umum yang perlu dihindari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Debugging HTML sering dimulai dari hal kecil: tag, atribut, dan struktur.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94360" y="2052828"/>
            <a:ext cx="91440" cy="91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1965960"/>
            <a:ext cx="477316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Input tidak punya name, sehingga data tidak terkirim.</a:t>
            </a:r>
            <a:endParaRPr lang="en-US" sz="1420" dirty="0"/>
          </a:p>
        </p:txBody>
      </p:sp>
      <p:sp>
        <p:nvSpPr>
          <p:cNvPr id="10" name="Shape 8"/>
          <p:cNvSpPr/>
          <p:nvPr/>
        </p:nvSpPr>
        <p:spPr>
          <a:xfrm>
            <a:off x="594360" y="2464308"/>
            <a:ext cx="91440" cy="91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377440"/>
            <a:ext cx="477316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Label tidak terhubung karena id dan for berbeda.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594360" y="2875788"/>
            <a:ext cx="91440" cy="91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788920"/>
            <a:ext cx="477316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Menggunakan placeholder sebagai satu-satunya label.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594360" y="3287268"/>
            <a:ext cx="91440" cy="91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200400"/>
            <a:ext cx="477316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Radio button satu grup tetapi name berbeda-beda.</a:t>
            </a:r>
            <a:endParaRPr lang="en-US" sz="1420" dirty="0"/>
          </a:p>
        </p:txBody>
      </p:sp>
      <p:sp>
        <p:nvSpPr>
          <p:cNvPr id="16" name="Shape 14"/>
          <p:cNvSpPr/>
          <p:nvPr/>
        </p:nvSpPr>
        <p:spPr>
          <a:xfrm>
            <a:off x="594360" y="3698748"/>
            <a:ext cx="91440" cy="91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3611880"/>
            <a:ext cx="477316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Tag tidak ditutup atau nesting elemen tidak valid.</a:t>
            </a:r>
            <a:endParaRPr lang="en-US" sz="1420" dirty="0"/>
          </a:p>
        </p:txBody>
      </p:sp>
      <p:sp>
        <p:nvSpPr>
          <p:cNvPr id="18" name="Shape 16"/>
          <p:cNvSpPr/>
          <p:nvPr/>
        </p:nvSpPr>
        <p:spPr>
          <a:xfrm>
            <a:off x="594360" y="4110228"/>
            <a:ext cx="91440" cy="914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023360"/>
            <a:ext cx="4773168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Tabel dipakai untuk layout, bukan untuk data.</a:t>
            </a:r>
            <a:endParaRPr lang="en-US" sz="1420" dirty="0"/>
          </a:p>
        </p:txBody>
      </p:sp>
      <p:sp>
        <p:nvSpPr>
          <p:cNvPr id="20" name="Shape 18"/>
          <p:cNvSpPr/>
          <p:nvPr/>
        </p:nvSpPr>
        <p:spPr>
          <a:xfrm>
            <a:off x="5989320" y="1965960"/>
            <a:ext cx="5166360" cy="2148840"/>
          </a:xfrm>
          <a:prstGeom prst="roundRect">
            <a:avLst>
              <a:gd name="adj" fmla="val 1702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26480" y="2075688"/>
            <a:ext cx="4892040" cy="1929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Kurang baik --&gt;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placeholder="Nama"&gt;</a:t>
            </a:r>
            <a:endParaRPr lang="en-US" sz="1280" dirty="0"/>
          </a:p>
          <a:p>
            <a:pPr indent="0" marL="0">
              <a:buNone/>
            </a:pP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&lt;!-- Lebih baik --&gt;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&lt;label for="nama"&gt;Nama Lengkap&lt;/label&gt;</a:t>
            </a:r>
            <a:endParaRPr lang="en-US" sz="1280" dirty="0"/>
          </a:p>
          <a:p>
            <a:pPr indent="0" marL="0">
              <a:buNone/>
            </a:pPr>
            <a:r>
              <a:rPr lang="en-US" sz="128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&lt;input id="nama" name="nama" type="text" required&gt;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5989320" y="4343400"/>
            <a:ext cx="5166360" cy="914400"/>
          </a:xfrm>
          <a:prstGeom prst="roundRect">
            <a:avLst>
              <a:gd name="adj" fmla="val 4000"/>
            </a:avLst>
          </a:prstGeom>
          <a:solidFill>
            <a:srgbClr val="EAF8F0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53912" y="4480560"/>
            <a:ext cx="48371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E9E5B"/>
                </a:solidFill>
              </a:rPr>
              <a:t>Checklist cepat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153912" y="4782312"/>
            <a:ext cx="48371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Buka file di browser → coba isi form → submit kosong → periksa pesan validasi → cek struktur dengan validator.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19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dosen: halaman pendaftaran kegiatan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Dosen membangun contoh dari nol sambil menjelaskan keputusan struktur.</a:t>
            </a:r>
            <a:endParaRPr lang="en-US" sz="1420" dirty="0"/>
          </a:p>
        </p:txBody>
      </p:sp>
      <p:pic>
        <p:nvPicPr>
          <p:cNvPr id="8" name="Image 0" descr="/mnt/data/wide_clean_vector_illustration_of_a_classroom_cod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1371600"/>
            <a:ext cx="4526280" cy="2542032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02920" y="200710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3232" y="1920240"/>
            <a:ext cx="51846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Buat folder: 02-html-form dan file index.html.</a:t>
            </a:r>
            <a:endParaRPr lang="en-US" sz="1420" dirty="0"/>
          </a:p>
        </p:txBody>
      </p:sp>
      <p:sp>
        <p:nvSpPr>
          <p:cNvPr id="11" name="Shape 8"/>
          <p:cNvSpPr/>
          <p:nvPr/>
        </p:nvSpPr>
        <p:spPr>
          <a:xfrm>
            <a:off x="502920" y="2446020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359152"/>
            <a:ext cx="51846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Bangun struktur dokumen minimal.</a:t>
            </a:r>
            <a:endParaRPr lang="en-US" sz="1420" dirty="0"/>
          </a:p>
        </p:txBody>
      </p:sp>
      <p:sp>
        <p:nvSpPr>
          <p:cNvPr id="13" name="Shape 10"/>
          <p:cNvSpPr/>
          <p:nvPr/>
        </p:nvSpPr>
        <p:spPr>
          <a:xfrm>
            <a:off x="502920" y="2884932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13232" y="2798064"/>
            <a:ext cx="51846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Tambahkan header, deskripsi kegiatan, jadwal singkat.</a:t>
            </a:r>
            <a:endParaRPr lang="en-US" sz="1420" dirty="0"/>
          </a:p>
        </p:txBody>
      </p:sp>
      <p:sp>
        <p:nvSpPr>
          <p:cNvPr id="15" name="Shape 12"/>
          <p:cNvSpPr/>
          <p:nvPr/>
        </p:nvSpPr>
        <p:spPr>
          <a:xfrm>
            <a:off x="502920" y="3323844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13232" y="3236976"/>
            <a:ext cx="51846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Buat form pendaftaran: nama, NIM, email, prodi, pilihan sesi.</a:t>
            </a:r>
            <a:endParaRPr lang="en-US" sz="1420" dirty="0"/>
          </a:p>
        </p:txBody>
      </p:sp>
      <p:sp>
        <p:nvSpPr>
          <p:cNvPr id="17" name="Shape 14"/>
          <p:cNvSpPr/>
          <p:nvPr/>
        </p:nvSpPr>
        <p:spPr>
          <a:xfrm>
            <a:off x="502920" y="3762756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3675888"/>
            <a:ext cx="51846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Tambahkan validasi required, email, minlength, dan pattern.</a:t>
            </a:r>
            <a:endParaRPr lang="en-US" sz="1420" dirty="0"/>
          </a:p>
        </p:txBody>
      </p:sp>
      <p:sp>
        <p:nvSpPr>
          <p:cNvPr id="19" name="Shape 16"/>
          <p:cNvSpPr/>
          <p:nvPr/>
        </p:nvSpPr>
        <p:spPr>
          <a:xfrm>
            <a:off x="502920" y="420166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13232" y="4114800"/>
            <a:ext cx="51846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Uji di browser dan perbaiki struktur.</a:t>
            </a:r>
            <a:endParaRPr lang="en-US" sz="1420" dirty="0"/>
          </a:p>
        </p:txBody>
      </p:sp>
      <p:sp>
        <p:nvSpPr>
          <p:cNvPr id="21" name="Shape 18"/>
          <p:cNvSpPr/>
          <p:nvPr/>
        </p:nvSpPr>
        <p:spPr>
          <a:xfrm>
            <a:off x="6583680" y="4617720"/>
            <a:ext cx="4937760" cy="868680"/>
          </a:xfrm>
          <a:prstGeom prst="roundRect">
            <a:avLst>
              <a:gd name="adj" fmla="val 4211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748272" y="4754880"/>
            <a:ext cx="4608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Pertanyaan selama demo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748272" y="5056632"/>
            <a:ext cx="460857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Apa elemen yang dipakai? Mengapa memakai input type itu? Data apa yang akan dikirim oleh name?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20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Template awal praktik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Mahasiswa mulai dari struktur yang valid, lalu melengkapi konten dan form.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02920" y="209854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1168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Salin template awal ke file index.html.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502920" y="2537460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50592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Ubah judul, deskripsi, dan nama kegiatan.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02920" y="2976372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89504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Tambahkan minimal lima input berbeda.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502920" y="3415284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28416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Setiap input wajib punya label, id, dan name.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502920" y="3854196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67328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Jalankan di browser setelah setiap perubahan besar.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5669280" y="1874520"/>
            <a:ext cx="5852160" cy="3611880"/>
          </a:xfrm>
          <a:prstGeom prst="roundRect">
            <a:avLst>
              <a:gd name="adj" fmla="val 101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84248"/>
            <a:ext cx="557784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&lt;!DOCTYPE html&gt;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 lang="id"&gt;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charset="UTF-8"&gt;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&lt;meta name="viewport" content="width=device-width, initial-scale=1.0"&gt;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&lt;title&gt;Form Pendaftaran&lt;/title&gt;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&lt;main&gt;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&lt;h1&gt;Pendaftaran Kegiatan&lt;/h1&gt;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&lt;!-- Form ditulis di sini --&gt;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&lt;/main&gt;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120" dirty="0"/>
          </a:p>
          <a:p>
            <a:pPr indent="0" marL="0">
              <a:buNone/>
            </a:pPr>
            <a:r>
              <a:rPr lang="en-US" sz="11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21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Praktikum 50 menit: skenario tugas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Gunakan bagian ini sebagai panduan praktik setelah penjelasan 100 menit atau sesi lab.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685800" y="2057400"/>
            <a:ext cx="1953158" cy="1115568"/>
          </a:xfrm>
          <a:prstGeom prst="roundRect">
            <a:avLst>
              <a:gd name="adj" fmla="val 4918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95528" y="21671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2402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392" y="2578608"/>
            <a:ext cx="16239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76B"/>
                </a:solidFill>
              </a:rPr>
              <a:t>Setup folder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0392" y="2926080"/>
            <a:ext cx="162397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6C3"/>
                </a:solidFill>
              </a:rPr>
              <a:t>5’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894990" y="2057400"/>
            <a:ext cx="1953158" cy="1115568"/>
          </a:xfrm>
          <a:prstGeom prst="roundRect">
            <a:avLst>
              <a:gd name="adj" fmla="val 4918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004718" y="21671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04718" y="22402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59582" y="2578608"/>
            <a:ext cx="16239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76B"/>
                </a:solidFill>
              </a:rPr>
              <a:t>Konten halaman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059582" y="2926080"/>
            <a:ext cx="162397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10’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104181" y="2057400"/>
            <a:ext cx="1953158" cy="1115568"/>
          </a:xfrm>
          <a:prstGeom prst="roundRect">
            <a:avLst>
              <a:gd name="adj" fmla="val 4918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13909" y="21671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13909" y="22402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68773" y="2578608"/>
            <a:ext cx="16239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76B"/>
                </a:solidFill>
              </a:rPr>
              <a:t>Form dasar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68773" y="2926080"/>
            <a:ext cx="162397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6C3"/>
                </a:solidFill>
              </a:rPr>
              <a:t>15’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313371" y="2057400"/>
            <a:ext cx="1953158" cy="1115568"/>
          </a:xfrm>
          <a:prstGeom prst="roundRect">
            <a:avLst>
              <a:gd name="adj" fmla="val 4918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23099" y="21671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23099" y="22402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8C28"/>
                </a:solidFill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477963" y="2578608"/>
            <a:ext cx="16239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76B"/>
                </a:solidFill>
              </a:rPr>
              <a:t>Validasi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77963" y="2926080"/>
            <a:ext cx="162397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28C28"/>
                </a:solidFill>
              </a:rPr>
              <a:t>10’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9522562" y="2057400"/>
            <a:ext cx="1953158" cy="1115568"/>
          </a:xfrm>
          <a:prstGeom prst="roundRect">
            <a:avLst>
              <a:gd name="adj" fmla="val 4918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32290" y="2167128"/>
            <a:ext cx="384048" cy="3840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632290" y="2240280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66C3"/>
                </a:solidFill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687154" y="2578608"/>
            <a:ext cx="162397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376B"/>
                </a:solidFill>
              </a:rPr>
              <a:t>Uji &amp; unggah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687154" y="2926080"/>
            <a:ext cx="162397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66C3"/>
                </a:solidFill>
              </a:rPr>
              <a:t>10’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77240" y="3703320"/>
            <a:ext cx="5120640" cy="1234440"/>
          </a:xfrm>
          <a:prstGeom prst="roundRect">
            <a:avLst>
              <a:gd name="adj" fmla="val 2963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41832" y="384048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66C3"/>
                </a:solidFill>
              </a:rPr>
              <a:t>Skenario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941832" y="4142232"/>
            <a:ext cx="4791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Buat halaman “Pendaftaran Workshop Web” untuk mahasiswa. Halaman berisi deskripsi kegiatan, jadwal ringkas, dan form pendaftaran.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263640" y="3703320"/>
            <a:ext cx="5120640" cy="1234440"/>
          </a:xfrm>
          <a:prstGeom prst="roundRect">
            <a:avLst>
              <a:gd name="adj" fmla="val 2963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28232" y="3840480"/>
            <a:ext cx="47914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Output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6428232" y="4142232"/>
            <a:ext cx="47914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Folder 02-html-dasar-lanjutan-form dengan index.html yang bisa dibuka di browser dan siap diunggah ke GitHub/Moodle.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22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Langkah praktik 1: struktur &amp; konten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Mulai dari halaman yang terbaca rapi sebelum masuk ke form.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02920" y="209854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1168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Buat struktur dokumen lengkap.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502920" y="2537460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50592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Tambahkan header dan navigasi internal.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02920" y="2976372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89504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Tambahkan deskripsi kegiatan dengan h1, h2, dan p.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502920" y="3415284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28416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Tambahkan daftar agenda dengan ol/ul.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502920" y="3854196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67328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Tambahkan tabel jadwal singkat.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5669280" y="1874520"/>
            <a:ext cx="5852160" cy="3611880"/>
          </a:xfrm>
          <a:prstGeom prst="roundRect">
            <a:avLst>
              <a:gd name="adj" fmla="val 101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84248"/>
            <a:ext cx="557784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&lt;h1&gt;Workshop Web Dasar&lt;/h1&gt;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&lt;nav&gt;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href="#jadwal"&gt;Jadwal&lt;/a&gt;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&lt;a href="#daftar"&gt;Daftar&lt;/a&gt;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&lt;/nav&gt;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&lt;/header&gt;</a:t>
            </a:r>
            <a:endParaRPr lang="en-US" sz="1220" dirty="0"/>
          </a:p>
          <a:p>
            <a:pPr indent="0" marL="0">
              <a:buNone/>
            </a:pP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id="jadwal"&gt;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&lt;h2&gt;Jadwal&lt;/h2&gt;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&lt;!-- tabel ditulis di sini --&gt;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23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Langkah praktik 2: form pendaftaran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Susun form yang jelas, berlabel, dan mempunyai validasi dasar.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502920" y="2098548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13232" y="2011680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Buat form dengan id daftar.</a:t>
            </a:r>
            <a:endParaRPr lang="en-US" sz="1430" dirty="0"/>
          </a:p>
        </p:txBody>
      </p:sp>
      <p:sp>
        <p:nvSpPr>
          <p:cNvPr id="10" name="Shape 8"/>
          <p:cNvSpPr/>
          <p:nvPr/>
        </p:nvSpPr>
        <p:spPr>
          <a:xfrm>
            <a:off x="502920" y="2537460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3232" y="2450592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Input wajib: nama, NIM, email, prodi, kelas, pilihan sesi.</a:t>
            </a:r>
            <a:endParaRPr lang="en-US" sz="1430" dirty="0"/>
          </a:p>
        </p:txBody>
      </p:sp>
      <p:sp>
        <p:nvSpPr>
          <p:cNvPr id="12" name="Shape 10"/>
          <p:cNvSpPr/>
          <p:nvPr/>
        </p:nvSpPr>
        <p:spPr>
          <a:xfrm>
            <a:off x="502920" y="2976372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889504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Tambahkan textarea untuk motivasi mengikuti kegiatan.</a:t>
            </a:r>
            <a:endParaRPr lang="en-US" sz="1430" dirty="0"/>
          </a:p>
        </p:txBody>
      </p:sp>
      <p:sp>
        <p:nvSpPr>
          <p:cNvPr id="14" name="Shape 12"/>
          <p:cNvSpPr/>
          <p:nvPr/>
        </p:nvSpPr>
        <p:spPr>
          <a:xfrm>
            <a:off x="502920" y="3415284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328416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Gunakan required pada field penting.</a:t>
            </a:r>
            <a:endParaRPr lang="en-US" sz="1430" dirty="0"/>
          </a:p>
        </p:txBody>
      </p:sp>
      <p:sp>
        <p:nvSpPr>
          <p:cNvPr id="16" name="Shape 14"/>
          <p:cNvSpPr/>
          <p:nvPr/>
        </p:nvSpPr>
        <p:spPr>
          <a:xfrm>
            <a:off x="502920" y="3854196"/>
            <a:ext cx="91440" cy="91440"/>
          </a:xfrm>
          <a:prstGeom prst="ellipse">
            <a:avLst/>
          </a:prstGeom>
          <a:solidFill>
            <a:srgbClr val="0B66C3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3232" y="3767328"/>
            <a:ext cx="4727448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30" dirty="0">
                <a:solidFill>
                  <a:srgbClr val="3D4653"/>
                </a:solidFill>
              </a:rPr>
              <a:t>Tambahkan tombol submit dan reset.</a:t>
            </a:r>
            <a:endParaRPr lang="en-US" sz="1430" dirty="0"/>
          </a:p>
        </p:txBody>
      </p:sp>
      <p:sp>
        <p:nvSpPr>
          <p:cNvPr id="18" name="Shape 16"/>
          <p:cNvSpPr/>
          <p:nvPr/>
        </p:nvSpPr>
        <p:spPr>
          <a:xfrm>
            <a:off x="5669280" y="1874520"/>
            <a:ext cx="5852160" cy="3611880"/>
          </a:xfrm>
          <a:prstGeom prst="roundRect">
            <a:avLst>
              <a:gd name="adj" fmla="val 1013"/>
            </a:avLst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1984248"/>
            <a:ext cx="5577840" cy="33924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 id="daftar"&gt;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&lt;h2&gt;Form Pendaftaran&lt;/h2&gt;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&lt;form action="#" method="post"&gt;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 for="nama"&gt;Nama&lt;/label&gt;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id="nama" name="nama" type="text" required&gt;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&lt;label for="email"&gt;Email&lt;/label&gt;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&lt;input id="email" name="email" type="email" required&gt;</a:t>
            </a:r>
            <a:endParaRPr lang="en-US" sz="1140" dirty="0"/>
          </a:p>
          <a:p>
            <a:pPr indent="0" marL="0">
              <a:buNone/>
            </a:pP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&lt;button type="submit"&gt;Kirim&lt;/button&gt;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&lt;/form&gt;</a:t>
            </a:r>
            <a:endParaRPr lang="en-US" sz="1140" dirty="0"/>
          </a:p>
          <a:p>
            <a:pPr indent="0" marL="0">
              <a:buNone/>
            </a:pPr>
            <a:r>
              <a:rPr lang="en-US" sz="1140" dirty="0">
                <a:solidFill>
                  <a:srgbClr val="DBEA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&lt;/section&gt;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246888"/>
            <a:ext cx="5029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B66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2 • CPMK51 / Sub-CPMK51.1</a:t>
            </a:r>
            <a:endParaRPr lang="en-US" sz="950" dirty="0"/>
          </a:p>
        </p:txBody>
      </p:sp>
      <p:sp>
        <p:nvSpPr>
          <p:cNvPr id="3" name="Text 1"/>
          <p:cNvSpPr/>
          <p:nvPr/>
        </p:nvSpPr>
        <p:spPr>
          <a:xfrm>
            <a:off x="11475720" y="6537960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F376B"/>
                </a:solidFill>
              </a:rPr>
              <a:t>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65379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891AD"/>
                </a:solidFill>
              </a:rPr>
              <a:t>TI401 • Pengembangan Desain Web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0"/>
            <a:ext cx="11384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640080"/>
            <a:ext cx="6766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0F376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Rubrik cek hasil &amp; penutup</a:t>
            </a:r>
            <a:endParaRPr lang="en-US" sz="2450" dirty="0"/>
          </a:p>
        </p:txBody>
      </p:sp>
      <p:sp>
        <p:nvSpPr>
          <p:cNvPr id="7" name="Text 5"/>
          <p:cNvSpPr/>
          <p:nvPr/>
        </p:nvSpPr>
        <p:spPr>
          <a:xfrm>
            <a:off x="347472" y="1261872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D4653"/>
                </a:solidFill>
              </a:rPr>
              <a:t>Sebelum dikumpulkan, pastikan halaman memenuhi kualitas minimum.</a:t>
            </a:r>
            <a:endParaRPr lang="en-US" sz="1420" dirty="0"/>
          </a:p>
        </p:txBody>
      </p:sp>
      <p:sp>
        <p:nvSpPr>
          <p:cNvPr id="8" name="Shape 6"/>
          <p:cNvSpPr/>
          <p:nvPr/>
        </p:nvSpPr>
        <p:spPr>
          <a:xfrm>
            <a:off x="685800" y="1755648"/>
            <a:ext cx="4892040" cy="914400"/>
          </a:xfrm>
          <a:prstGeom prst="roundRect">
            <a:avLst>
              <a:gd name="adj" fmla="val 4000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0392" y="1892808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66C3"/>
                </a:solidFill>
              </a:rPr>
              <a:t>Struktur dokumen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50392" y="2194560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DOCTYPE, html lang, head lengkap, body rapi.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755648"/>
            <a:ext cx="4892040" cy="914400"/>
          </a:xfrm>
          <a:prstGeom prst="roundRect">
            <a:avLst>
              <a:gd name="adj" fmla="val 4000"/>
            </a:avLst>
          </a:prstGeom>
          <a:solidFill>
            <a:srgbClr val="FFF1E3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36792" y="1892808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8C28"/>
                </a:solidFill>
              </a:rPr>
              <a:t>Konten lanjutan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336792" y="2194560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Heading, paragraf, list, link, media/tabel digunakan tepat.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85800" y="3081528"/>
            <a:ext cx="4892040" cy="914400"/>
          </a:xfrm>
          <a:prstGeom prst="roundRect">
            <a:avLst>
              <a:gd name="adj" fmla="val 4000"/>
            </a:avLst>
          </a:prstGeom>
          <a:solidFill>
            <a:srgbClr val="EAF8F0"/>
          </a:solidFill>
          <a:ln w="12700">
            <a:solidFill>
              <a:srgbClr val="2E9E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0392" y="3218688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E9E5B"/>
                </a:solidFill>
              </a:rPr>
              <a:t>Form dasar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50392" y="3520440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Setiap input memiliki label, id, name, dan type sesuai.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172200" y="3081528"/>
            <a:ext cx="4892040" cy="914400"/>
          </a:xfrm>
          <a:prstGeom prst="roundRect">
            <a:avLst>
              <a:gd name="adj" fmla="val 4000"/>
            </a:avLst>
          </a:prstGeom>
          <a:solidFill>
            <a:srgbClr val="E7F1FE"/>
          </a:solidFill>
          <a:ln w="12700">
            <a:solidFill>
              <a:srgbClr val="0B66C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36792" y="3218688"/>
            <a:ext cx="4562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B66C3"/>
                </a:solidFill>
              </a:rPr>
              <a:t>Validasi &amp; uji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336792" y="3520440"/>
            <a:ext cx="4562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D4653"/>
                </a:solidFill>
              </a:rPr>
              <a:t>required/type/pattern digunakan dan halaman diuji di browser.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1417320" y="4937760"/>
            <a:ext cx="9372600" cy="7315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D9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691640" y="5148072"/>
            <a:ext cx="8823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0F376B"/>
                </a:solidFill>
              </a:rPr>
              <a:t>Refleksi akhir: field mana yang paling sering membuat pengguna salah isi, dan bagaimana HTML membantu mencegahnya?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67160" y="651967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376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Program Studi Teknologi Informasi UMY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TI401 Pertemuan 2 HTML Dasar Lanjutan &amp; HTML Form</dc:title>
  <dc:subject>TI401 Pertemuan 2 - HTML Dasar Lanjutan &amp; HTML Form</dc:subject>
  <dc:creator>TI UMY</dc:creator>
  <cp:lastModifiedBy>TI UMY</cp:lastModifiedBy>
  <cp:revision>1</cp:revision>
  <dcterms:created xsi:type="dcterms:W3CDTF">2026-07-19T18:36:27Z</dcterms:created>
  <dcterms:modified xsi:type="dcterms:W3CDTF">2026-07-19T18:36:27Z</dcterms:modified>
</cp:coreProperties>
</file>