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9456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0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40080"/>
            <a:ext cx="108813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800" b="1">
                <a:solidFill>
                  <a:srgbClr val="173B67"/>
                </a:solidFill>
                <a:latin typeface="Aptos"/>
              </a:rPr>
              <a:t>Web 3.0 Front-End: Wallet Integration dan Data On-Chain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600" b="0">
                <a:solidFill>
                  <a:srgbClr val="646E7D"/>
                </a:solidFill>
                <a:latin typeface="Aptos"/>
              </a:rPr>
              <a:t>Mahasiswa mampu menghubungkan wallet dan menampilkan data on-chain menggunakan Web3.js atau Ethers.js, serta memahami risiko keamanan dasar seperti phishing wallet.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331720"/>
            <a:ext cx="5349240" cy="233172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43891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800" b="1">
                <a:solidFill>
                  <a:srgbClr val="1565C0"/>
                </a:solidFill>
                <a:latin typeface="Aptos"/>
              </a:rPr>
              <a:t>WALLET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44805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600" b="0">
                <a:solidFill>
                  <a:srgbClr val="30353D"/>
                </a:solidFill>
                <a:latin typeface="Aptos"/>
              </a:rPr>
              <a:t>Browser → Wallet → Provider → DApp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40480"/>
            <a:ext cx="44805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646E7D"/>
                </a:solidFill>
                <a:latin typeface="Aptos"/>
              </a:rPr>
              <a:t>Menghubungkan aplikasi web ke wallet tanpa mengekspos private key.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331720"/>
            <a:ext cx="5440680" cy="2331720"/>
          </a:xfrm>
          <a:prstGeom prst="roundRect">
            <a:avLst/>
          </a:prstGeom>
          <a:solidFill>
            <a:srgbClr val="FFF4E5"/>
          </a:solidFill>
          <a:ln>
            <a:solidFill>
              <a:srgbClr val="FF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651760"/>
            <a:ext cx="4480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800" b="1">
                <a:solidFill>
                  <a:srgbClr val="F29E00"/>
                </a:solidFill>
                <a:latin typeface="Aptos"/>
              </a:rPr>
              <a:t>ON-CHAIN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246120"/>
            <a:ext cx="4572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600" b="0">
                <a:solidFill>
                  <a:srgbClr val="30353D"/>
                </a:solidFill>
                <a:latin typeface="Aptos"/>
              </a:rPr>
              <a:t>Address → Balance → Contract →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840480"/>
            <a:ext cx="4572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646E7D"/>
                </a:solidFill>
                <a:latin typeface="Aptos"/>
              </a:rPr>
              <a:t>Membaca data blockchain dan menampilkannya secara aman di UI.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Capaian &amp; Alur Pembelajaran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Capaian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Memahami arsitektur Web3 front-end: DApp, wallet, provider, dan blockchain.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Menghubungkan wallet browser dengan Ethers.js.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Menampilkan address, network, dan balance.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Membaca data contract menggunakan ABI dan Provider.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Mengenali phishing wallet dan praktik aman saat signing.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Alur 100 menit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10’ orientasi &amp; review JavaScript modules.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20’ konsep wallet, provider, signer &amp; network.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20’ demo connect wallet + address/balance.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25’ baca data on-chain &amp; contract.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15’ praktik, debugging &amp; security check.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0799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10’ refleksi / exit ticket.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Posisi Pertemuan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Sebelumnya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Pertemuan 11: DOM &amp; event handling.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Pertemuan 12: async/await, Fetch &amp; AI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Pertemuan 13: JavaScript Modules + Bootstrap.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Front-end sudah modular; sekarang dihubungkan ke ekosistem Web3.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Hari 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Hubungkan browser dengan wallet.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Kenali Provider vs Signer.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Baca address, network, balance, dan data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Tampilkan hasil on-chain pada UI.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Terapkan pemeriksaan keamanan sebelum pengguna signing.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Progression: DOM → Async/API → Modules → Web3 Front-End.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Mengapa Front-End Perlu Terhubung ke Wallet?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Web biasa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Data dan autentikasi umumnya bergantung pada server.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Identitas pengguna dikelola aplikasi.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Aksi penting diproses oleh backend.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State utama berada di server/database.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Web3 front-end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Wallet menjadi pintu identitas/account pengguna.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Provider membaca state blockchain.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Signer mengotorisasi transaksi melalui wallet.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Contract menjadi sumber logika/state on-chain.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70448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Prinsip: front-end meminta izin; wallet tetap memegang private key.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Arsitektur Web3 Front-End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86400" cy="416052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Komponen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45919"/>
            <a:ext cx="5166360" cy="36850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100" b="0">
                <a:solidFill>
                  <a:srgbClr val="EBEFF3"/>
                </a:solidFill>
                <a:latin typeface="Consolas"/>
              </a:rPr>
              <a:t>Browser / DApp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↓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Ethers.js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↓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BrowserProvider (EIP-1193)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↓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Wallet — mis. MetaMask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↓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RPC / Blockchain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303520" cy="416052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53312"/>
            <a:ext cx="4983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Alur koneksi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19"/>
            <a:ext cx="4983480" cy="368503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100" b="0">
                <a:solidFill>
                  <a:srgbClr val="EBEFF3"/>
                </a:solidFill>
                <a:latin typeface="Consolas"/>
              </a:rPr>
              <a:t>const provider = new ethers.BrowserProvider(window.ethereum);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const accounts = await provider.send("eth_requestAccounts", []);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const address = accounts[0];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const network = await provider.getNetwork();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2412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F29E00"/>
                </a:solidFill>
                <a:latin typeface="Aptos"/>
              </a:rPr>
              <a:t>Provider digunakan untuk membaca blockchain; akses signing dilakukan melalui wallet dan Signer.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Provider vs Signer: Dua Peran Penting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72184"/>
            <a:ext cx="30632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47672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Koneksi read-only ke blockchain.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59736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Membaca block, balance, transaction, dan contract 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71800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Tidak perlu private key untuk read-only.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83864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Contoh Ethers.js: BrowserProvider.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42900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472184"/>
            <a:ext cx="30632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Signer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1947672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Mewakili account yang dapat signing.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459736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Meminta wallet mengotorisasi transaksi.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971800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Private key tidak diberikan ke halaman web.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483864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Contoh: await provider.getSigner().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325880"/>
            <a:ext cx="64008" cy="4343400"/>
          </a:xfrm>
          <a:prstGeom prst="rect">
            <a:avLst/>
          </a:prstGeom>
          <a:solidFill>
            <a:srgbClr val="2C7A53"/>
          </a:solidFill>
          <a:ln>
            <a:solidFill>
              <a:srgbClr val="2C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1472184"/>
            <a:ext cx="30632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Hubungan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1947672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Provider → baca state.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459736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Signer → otorisasi aksi yang mengubah state.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2971800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Wallet → menjaga kunci dan meminta persetujuan pengguna.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3483864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DApp → mengorkestrasi UI dan pemanggilan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Struktur Folder Pertemuan 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486400" cy="338328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490472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Struktur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783080"/>
            <a:ext cx="5166360" cy="290779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500" b="0">
                <a:solidFill>
                  <a:srgbClr val="EBEFF3"/>
                </a:solidFill>
                <a:latin typeface="Consolas"/>
              </a:rPr>
              <a:t>14_web3-wallet-onchain/</a:t>
            </a:r>
          </a:p>
          <a:p>
            <a:r>
              <a:rPr sz="1500" b="0">
                <a:solidFill>
                  <a:srgbClr val="EBEFF3"/>
                </a:solidFill>
                <a:latin typeface="Consolas"/>
              </a:rPr>
              <a:t>├── index.html</a:t>
            </a:r>
          </a:p>
          <a:p>
            <a:r>
              <a:rPr sz="1500" b="0">
                <a:solidFill>
                  <a:srgbClr val="EBEFF3"/>
                </a:solidFill>
                <a:latin typeface="Consolas"/>
              </a:rPr>
              <a:t>├── main.js</a:t>
            </a:r>
          </a:p>
          <a:p>
            <a:r>
              <a:rPr sz="1500" b="0">
                <a:solidFill>
                  <a:srgbClr val="EBEFF3"/>
                </a:solidFill>
                <a:latin typeface="Consolas"/>
              </a:rPr>
              <a:t>├── styles.css</a:t>
            </a:r>
          </a:p>
          <a:p>
            <a:r>
              <a:rPr sz="1500" b="0">
                <a:solidFill>
                  <a:srgbClr val="EBEFF3"/>
                </a:solidFill>
                <a:latin typeface="Consolas"/>
              </a:rPr>
              <a:t>├── modules/</a:t>
            </a:r>
          </a:p>
          <a:p>
            <a:r>
              <a:rPr sz="1500" b="0">
                <a:solidFill>
                  <a:srgbClr val="EBEFF3"/>
                </a:solidFill>
                <a:latin typeface="Consolas"/>
              </a:rPr>
              <a:t>│   ├── wallet.js</a:t>
            </a:r>
          </a:p>
          <a:p>
            <a:r>
              <a:rPr sz="1500" b="0">
                <a:solidFill>
                  <a:srgbClr val="EBEFF3"/>
                </a:solidFill>
                <a:latin typeface="Consolas"/>
              </a:rPr>
              <a:t>│   ├── chain.js</a:t>
            </a:r>
          </a:p>
          <a:p>
            <a:r>
              <a:rPr sz="1500" b="0">
                <a:solidFill>
                  <a:srgbClr val="EBEFF3"/>
                </a:solidFill>
                <a:latin typeface="Consolas"/>
              </a:rPr>
              <a:t>│   └── ui.js</a:t>
            </a:r>
          </a:p>
          <a:p>
            <a:r>
              <a:rPr sz="1500" b="0">
                <a:solidFill>
                  <a:srgbClr val="EBEFF3"/>
                </a:solidFill>
                <a:latin typeface="Consolas"/>
              </a:rPr>
              <a:t>└── README.md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417320"/>
            <a:ext cx="4846320" cy="33832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1417320"/>
            <a:ext cx="64008" cy="33832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1563624"/>
            <a:ext cx="448055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Tanggung Jawab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039112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index.html → UI wallet, network, balance.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2551176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main.js → entry point + event handler.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3063240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wallet.js → connect wallet +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3575304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chain.js → provider + data on-chain.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4087368"/>
            <a:ext cx="44622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ui.js → render status, error, dan hasil.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2412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Struktur mengikuti prinsip Pertemuan 13: logic dipisah dari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Connect Wallet dengan Ethers.js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6400800" cy="246888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90472"/>
            <a:ext cx="6080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index.html / main.js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6080760" cy="199339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200" b="0">
                <a:solidFill>
                  <a:srgbClr val="EBEFF3"/>
                </a:solidFill>
                <a:latin typeface="Consolas"/>
              </a:rPr>
              <a:t>&lt;button id="connectBtn"&gt;Connect Wallet&lt;/button&gt;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&lt;p id="address"&gt;Belum terhubung&lt;/p&gt;</a:t>
            </a:r>
          </a:p>
          <a:p/>
          <a:p>
            <a:r>
              <a:rPr sz="1200" b="0">
                <a:solidFill>
                  <a:srgbClr val="EBEFF3"/>
                </a:solidFill>
                <a:latin typeface="Consolas"/>
              </a:rPr>
              <a:t>&lt;script src="https://cdn.jsdelivr.net/npm/ethers@6.17.0/dist/ethers.min.js"&gt;&lt;/script&gt;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&lt;script type="module" src="./main.js"&gt;&lt;/script&gt;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160520"/>
            <a:ext cx="64008" cy="17830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30682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Mengapa BrowserProvider?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78231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Membungkus injected provider EIP-1193.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94375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Menjembatani browser dengan wallet.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80644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DApp tidak membaca private key.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160520"/>
            <a:ext cx="5394960" cy="17830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4160520"/>
            <a:ext cx="64008" cy="17830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0682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Catatan penting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8231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Pastikan wallet terpasang dan akun dipilih.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94375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Request koneksi harus dipicu oleh aksi pengguna.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80644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Tangani user reject dan wallet tidak tersedia.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08192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1">
                <a:solidFill>
                  <a:srgbClr val="B53737"/>
                </a:solidFill>
                <a:latin typeface="Aptos"/>
              </a:rPr>
              <a:t>Jangan pernah meminta seed phrase/private key melalui form DApp.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wallet.js: Menghubungkan Account Pengguna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6675120" cy="42519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07592"/>
            <a:ext cx="6355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Kode inti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0200"/>
            <a:ext cx="6355080" cy="37764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100" b="0">
                <a:solidFill>
                  <a:srgbClr val="EBEFF3"/>
                </a:solidFill>
                <a:latin typeface="Consolas"/>
              </a:rPr>
              <a:t>export async function connectWallet() {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  if (!window.ethereum) throw new Error("Wallet tidak ditemukan");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  const provider = new ethers.BrowserProvider(window.ethereum);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  await provider.send("eth_requestAccounts", []);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  const signer = await provider.getSigner();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  const address = await signer.getAddress();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  return { provider, signer, address };</a:t>
            </a:r>
          </a:p>
          <a:p>
            <a:r>
              <a:rPr sz="1100" b="0">
                <a:solidFill>
                  <a:srgbClr val="EBEFF3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234440"/>
            <a:ext cx="3977639" cy="42519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234440"/>
            <a:ext cx="64008" cy="42519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1380744"/>
            <a:ext cx="36118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Output yang Dipakai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1856232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address → identitas publik account.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2368296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provider → membaca blockchain.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80360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signer → meminta otorisasi transaksi.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3392424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Semua objek dikembalikan ke main.js; private key tetap di wallet.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3904488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Catatan: address boleh ditampilkan; private key dan SRP tidak boleh.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Menampilkan Address, Network, dan Balance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7040880" cy="44348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07592"/>
            <a:ext cx="6720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main.js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0200"/>
            <a:ext cx="6720840" cy="395935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000" b="0">
                <a:solidFill>
                  <a:srgbClr val="EBEFF3"/>
                </a:solidFill>
                <a:latin typeface="Consolas"/>
              </a:rPr>
              <a:t>const { provider, address } = await connectWallet();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const network = await provider.getNetwork();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const balanceWei = await provider.getBalance(address);</a:t>
            </a:r>
          </a:p>
          <a:p/>
          <a:p>
            <a:r>
              <a:rPr sz="1000" b="0">
                <a:solidFill>
                  <a:srgbClr val="EBEFF3"/>
                </a:solidFill>
                <a:latin typeface="Consolas"/>
              </a:rPr>
              <a:t>addressEl.textContent = address;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networkEl.textContent = `${network.name} (${network.chainId})`;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balanceEl.textContent = ethers.formatEther(balanceWei) + " ETH";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234440"/>
            <a:ext cx="3566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234440"/>
            <a:ext cx="64008" cy="443484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380744"/>
            <a:ext cx="3200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856232"/>
            <a:ext cx="3182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Address → alamat publik wallet.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368296"/>
            <a:ext cx="3182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Chain ID → identitas network yang sedang aktif.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880360"/>
            <a:ext cx="3182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Balance → saldo native asset dalam unit yang mudah dibaca.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3392424"/>
            <a:ext cx="3182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Gunakan formatEther/formatUnits untuk menghindari menampilkan nilai integer mentah.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Membaca Data On-Chain: Provider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6858000" cy="44805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07592"/>
            <a:ext cx="6537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Contoh pembacaan state blockchain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0200"/>
            <a:ext cx="6537960" cy="40050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000" b="0">
                <a:solidFill>
                  <a:srgbClr val="EBEFF3"/>
                </a:solidFill>
                <a:latin typeface="Consolas"/>
              </a:rPr>
              <a:t>const provider = new ethers.BrowserProvider(window.ethereum);</a:t>
            </a:r>
          </a:p>
          <a:p/>
          <a:p>
            <a:r>
              <a:rPr sz="1000" b="0">
                <a:solidFill>
                  <a:srgbClr val="EBEFF3"/>
                </a:solidFill>
                <a:latin typeface="Consolas"/>
              </a:rPr>
              <a:t>const block = await provider.getBlockNumber();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const balance = await provider.getBalance(address);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const txCount = await provider.getTransactionCount(address);</a:t>
            </a:r>
          </a:p>
          <a:p/>
          <a:p>
            <a:r>
              <a:rPr sz="1000" b="0">
                <a:solidFill>
                  <a:srgbClr val="EBEFF3"/>
                </a:solidFill>
                <a:latin typeface="Consolas"/>
              </a:rPr>
              <a:t>console.log({ block, balance, txCount });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234440"/>
            <a:ext cx="3749039" cy="44805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1234440"/>
            <a:ext cx="64008" cy="44805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1380744"/>
            <a:ext cx="33832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Data yang dapat dibaca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1856232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Nomor block terbaru.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368296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Balance account.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2880360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Transaction count / nonce.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3392424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Detail transaksi dan event melalui provider.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3904488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Read-only tidak sama dengan signing: data dapat dibaca tanpa memberi DApp akses private key.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Contract &amp; ABI: Pintu Masuk ke Data Aplikasi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120640" cy="19202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90472"/>
            <a:ext cx="4800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UI →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83080"/>
            <a:ext cx="4800600" cy="144475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300" b="0">
                <a:solidFill>
                  <a:srgbClr val="EBEFF3"/>
                </a:solidFill>
                <a:latin typeface="Consolas"/>
              </a:rPr>
              <a:t>const abi = [</a:t>
            </a:r>
          </a:p>
          <a:p>
            <a:r>
              <a:rPr sz="1300" b="0">
                <a:solidFill>
                  <a:srgbClr val="EBEFF3"/>
                </a:solidFill>
                <a:latin typeface="Consolas"/>
              </a:rPr>
              <a:t>  "function name() view returns (string)",</a:t>
            </a:r>
          </a:p>
          <a:p>
            <a:r>
              <a:rPr sz="1300" b="0">
                <a:solidFill>
                  <a:srgbClr val="EBEFF3"/>
                </a:solidFill>
                <a:latin typeface="Consolas"/>
              </a:rPr>
              <a:t>  "function balanceOf(address) view returns (uint256)"</a:t>
            </a:r>
          </a:p>
          <a:p>
            <a:r>
              <a:rPr sz="1300" b="0">
                <a:solidFill>
                  <a:srgbClr val="EBEFF3"/>
                </a:solidFill>
                <a:latin typeface="Consolas"/>
              </a:rPr>
              <a:t>];</a:t>
            </a:r>
          </a:p>
          <a:p/>
          <a:p>
            <a:r>
              <a:rPr sz="1300" b="0">
                <a:solidFill>
                  <a:srgbClr val="EBEFF3"/>
                </a:solidFill>
                <a:latin typeface="Consolas"/>
              </a:rPr>
              <a:t>const contract = new ethers.Contract(</a:t>
            </a:r>
          </a:p>
          <a:p>
            <a:r>
              <a:rPr sz="1300" b="0">
                <a:solidFill>
                  <a:srgbClr val="EBEFF3"/>
                </a:solidFill>
                <a:latin typeface="Consolas"/>
              </a:rPr>
              <a:t>  CONTRACT_ADDRESS, abi, provider</a:t>
            </a:r>
          </a:p>
          <a:p>
            <a:r>
              <a:rPr sz="1300" b="0">
                <a:solidFill>
                  <a:srgbClr val="EBEFF3"/>
                </a:solidFill>
                <a:latin typeface="Consolas"/>
              </a:rPr>
              <a:t>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5394960" cy="30632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490472"/>
            <a:ext cx="5074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chain.js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783080"/>
            <a:ext cx="5074920" cy="258775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200" b="0">
                <a:solidFill>
                  <a:srgbClr val="EBEFF3"/>
                </a:solidFill>
                <a:latin typeface="Consolas"/>
              </a:rPr>
              <a:t>const name = await contract.name();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const rawBalance = await contract.balanceOf(address);</a:t>
            </a:r>
          </a:p>
          <a:p/>
          <a:p>
            <a:r>
              <a:rPr sz="1200" b="0">
                <a:solidFill>
                  <a:srgbClr val="EBEFF3"/>
                </a:solidFill>
                <a:latin typeface="Consolas"/>
              </a:rPr>
              <a:t>return { name, rawBalance };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74920"/>
            <a:ext cx="105156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ABI mendeskripsikan fungsi/event yang perlu diketahui front-end; tidak perlu memasukkan seluruh ABI bila hanya memakai sebagian fungsi.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Membaca Data Contract: Read-Only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6766560" cy="347472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61872"/>
            <a:ext cx="6446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6446520" cy="299923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000" b="0">
                <a:solidFill>
                  <a:srgbClr val="EBEFF3"/>
                </a:solidFill>
                <a:latin typeface="Consolas"/>
              </a:rPr>
              <a:t>&lt;div class="card"&gt;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  &lt;div&gt;Token: &lt;span id="tokenName"&gt;-&lt;/span&gt;&lt;/div&gt;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  &lt;div&gt;Balance: &lt;span id="tokenBalance"&gt;-&lt;/span&gt;&lt;/div&gt;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&lt;/div&gt;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188720"/>
            <a:ext cx="3931920" cy="182880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1261872"/>
            <a:ext cx="361187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chain.js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1554480"/>
            <a:ext cx="3611879" cy="135331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300" b="0">
                <a:solidFill>
                  <a:srgbClr val="EBEFF3"/>
                </a:solidFill>
                <a:latin typeface="Consolas"/>
              </a:rPr>
              <a:t>const abi = [</a:t>
            </a:r>
          </a:p>
          <a:p>
            <a:r>
              <a:rPr sz="1300" b="0">
                <a:solidFill>
                  <a:srgbClr val="EBEFF3"/>
                </a:solidFill>
                <a:latin typeface="Consolas"/>
              </a:rPr>
              <a:t>  "function decimals() view returns (uint8)",</a:t>
            </a:r>
          </a:p>
          <a:p>
            <a:r>
              <a:rPr sz="1300" b="0">
                <a:solidFill>
                  <a:srgbClr val="EBEFF3"/>
                </a:solidFill>
                <a:latin typeface="Consolas"/>
              </a:rPr>
              <a:t>  "function symbol() view returns (string)",</a:t>
            </a:r>
          </a:p>
          <a:p>
            <a:r>
              <a:rPr sz="1300" b="0">
                <a:solidFill>
                  <a:srgbClr val="EBEFF3"/>
                </a:solidFill>
                <a:latin typeface="Consolas"/>
              </a:rPr>
              <a:t>  "function balanceOf(address) view returns (uint256)"</a:t>
            </a:r>
          </a:p>
          <a:p>
            <a:r>
              <a:rPr sz="1300" b="0">
                <a:solidFill>
                  <a:srgbClr val="EBEFF3"/>
                </a:solidFill>
                <a:latin typeface="Consolas"/>
              </a:rPr>
              <a:t>];</a:t>
            </a:r>
          </a:p>
          <a:p/>
          <a:p>
            <a:r>
              <a:rPr sz="1300" b="0">
                <a:solidFill>
                  <a:srgbClr val="EBEFF3"/>
                </a:solidFill>
                <a:latin typeface="Consolas"/>
              </a:rPr>
              <a:t>const contract = new ethers.Contract(TOKEN_ADDRESS, abi, provider);</a:t>
            </a:r>
          </a:p>
          <a:p>
            <a:r>
              <a:rPr sz="1300" b="0">
                <a:solidFill>
                  <a:srgbClr val="EBEFF3"/>
                </a:solidFill>
                <a:latin typeface="Consolas"/>
              </a:rPr>
              <a:t>const symbol = await contract.symbol();</a:t>
            </a:r>
          </a:p>
          <a:p>
            <a:r>
              <a:rPr sz="1300" b="0">
                <a:solidFill>
                  <a:srgbClr val="EBEFF3"/>
                </a:solidFill>
                <a:latin typeface="Consolas"/>
              </a:rPr>
              <a:t>const decimals = await contract.decimals();</a:t>
            </a:r>
          </a:p>
          <a:p>
            <a:r>
              <a:rPr sz="1300" b="0">
                <a:solidFill>
                  <a:srgbClr val="EBEFF3"/>
                </a:solidFill>
                <a:latin typeface="Consolas"/>
              </a:rPr>
              <a:t>const raw = await contract.balanceOf(address);</a:t>
            </a:r>
          </a:p>
          <a:p>
            <a:r>
              <a:rPr sz="1300" b="0">
                <a:solidFill>
                  <a:srgbClr val="EBEFF3"/>
                </a:solidFill>
                <a:latin typeface="Consolas"/>
              </a:rPr>
              <a:t>const human = ethers.formatUnits(raw, decimals);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337560"/>
            <a:ext cx="3931920" cy="19659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3337560"/>
            <a:ext cx="64008" cy="19659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3483864"/>
            <a:ext cx="3566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Peran Read 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3959352"/>
            <a:ext cx="35478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Tidak mengubah state.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4471416"/>
            <a:ext cx="35478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Tidak meminta signing.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4983480"/>
            <a:ext cx="35478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Cocok untuk dashboard dan informasi account.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5495544"/>
            <a:ext cx="35478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Tetap validasi network dan address contract sebelum menampilkan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Module chain.js: Memisahkan Akses Blockchain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7315200" cy="452628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61872"/>
            <a:ext cx="6995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chain.js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54480"/>
            <a:ext cx="6995160" cy="405079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900" b="0">
                <a:solidFill>
                  <a:srgbClr val="EBEFF3"/>
                </a:solidFill>
                <a:latin typeface="Consolas"/>
              </a:rPr>
              <a:t>export async function getAccountData(provider, address) {</a:t>
            </a:r>
          </a:p>
          <a:p>
            <a:r>
              <a:rPr sz="900" b="0">
                <a:solidFill>
                  <a:srgbClr val="EBEFF3"/>
                </a:solidFill>
                <a:latin typeface="Consolas"/>
              </a:rPr>
              <a:t>  const block = await provider.getBlockNumber();</a:t>
            </a:r>
          </a:p>
          <a:p>
            <a:r>
              <a:rPr sz="900" b="0">
                <a:solidFill>
                  <a:srgbClr val="EBEFF3"/>
                </a:solidFill>
                <a:latin typeface="Consolas"/>
              </a:rPr>
              <a:t>  const balance = await provider.getBalance(address);</a:t>
            </a:r>
          </a:p>
          <a:p>
            <a:r>
              <a:rPr sz="900" b="0">
                <a:solidFill>
                  <a:srgbClr val="EBEFF3"/>
                </a:solidFill>
                <a:latin typeface="Consolas"/>
              </a:rPr>
              <a:t>  return {</a:t>
            </a:r>
          </a:p>
          <a:p>
            <a:r>
              <a:rPr sz="900" b="0">
                <a:solidFill>
                  <a:srgbClr val="EBEFF3"/>
                </a:solidFill>
                <a:latin typeface="Consolas"/>
              </a:rPr>
              <a:t>    block,</a:t>
            </a:r>
          </a:p>
          <a:p>
            <a:r>
              <a:rPr sz="900" b="0">
                <a:solidFill>
                  <a:srgbClr val="EBEFF3"/>
                </a:solidFill>
                <a:latin typeface="Consolas"/>
              </a:rPr>
              <a:t>    balance: ethers.formatEther(balance)</a:t>
            </a:r>
          </a:p>
          <a:p>
            <a:r>
              <a:rPr sz="900" b="0">
                <a:solidFill>
                  <a:srgbClr val="EBEFF3"/>
                </a:solidFill>
                <a:latin typeface="Consolas"/>
              </a:rPr>
              <a:t>  };</a:t>
            </a:r>
          </a:p>
          <a:p>
            <a:r>
              <a:rPr sz="900" b="0">
                <a:solidFill>
                  <a:srgbClr val="EBEFF3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18872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188720"/>
            <a:ext cx="64008" cy="45262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335024"/>
            <a:ext cx="30632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Mengapa dipisah?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810512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main.js fokus pada alur aplikasi.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322576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chain.js fokus pada data blockchain.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834640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ABI dan contract address dapat dikelola terpusat.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346704"/>
            <a:ext cx="3044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Fungsi read dapat diuji dan digunakan ulang.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Transaksi: Provider → Signer → Wallet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6949440" cy="44348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6629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main.js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00200"/>
            <a:ext cx="6629400" cy="395935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000" b="0">
                <a:solidFill>
                  <a:srgbClr val="EBEFF3"/>
                </a:solidFill>
                <a:latin typeface="Consolas"/>
              </a:rPr>
              <a:t>const signer = await provider.getSigner();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const tx = await signer.sendTransaction({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  to: TARGET_ADDRESS,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  value: ethers.parseEther("0.001")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});</a:t>
            </a:r>
          </a:p>
          <a:p/>
          <a:p>
            <a:r>
              <a:rPr sz="1000" b="0">
                <a:solidFill>
                  <a:srgbClr val="EBEFF3"/>
                </a:solidFill>
                <a:latin typeface="Consolas"/>
              </a:rPr>
              <a:t>statusEl.textContent = "Menunggu konfirmasi...";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await tx.wait();</a:t>
            </a:r>
          </a:p>
          <a:p>
            <a:r>
              <a:rPr sz="1000" b="0">
                <a:solidFill>
                  <a:srgbClr val="EBEFF3"/>
                </a:solidFill>
                <a:latin typeface="Consolas"/>
              </a:rPr>
              <a:t>statusEl.textContent = "Transaksi confirmed";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34440"/>
            <a:ext cx="3657600" cy="44348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34440"/>
            <a:ext cx="64008" cy="443484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380744"/>
            <a:ext cx="32918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Tanggung Jawab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56232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DApp menyiapkan request transaksi.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368296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Wallet menampilkan detail dan meminta approval.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2880360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Pengguna memeriksa recipient, network, value, dan gas.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3392424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Signer mengirim transaksi setelah disetujui.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3904488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tx.wait() menunggu transaksi masuk ke blockchain.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4416552"/>
            <a:ext cx="32735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Untuk praktikum gunakan testnet; jangan menguji dengan dana nyata.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Alur Connect Wallet → Data On-Chain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600200" cy="352044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1565C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100" b="0">
                <a:solidFill>
                  <a:srgbClr val="30353D"/>
                </a:solidFill>
                <a:latin typeface="Aptos"/>
              </a:rPr>
              <a:t>Klik Connect Wallet.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39" y="1417320"/>
            <a:ext cx="1600200" cy="35204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F29E0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Wallet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599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100" b="0">
                <a:solidFill>
                  <a:srgbClr val="30353D"/>
                </a:solidFill>
                <a:latin typeface="Aptos"/>
              </a:rPr>
              <a:t>Minta persetujuan koneksi.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1417320"/>
            <a:ext cx="1600200" cy="352044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1565C0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Provider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100" b="0">
                <a:solidFill>
                  <a:srgbClr val="30353D"/>
                </a:solidFill>
                <a:latin typeface="Aptos"/>
              </a:rPr>
              <a:t>BrowserProvider terhubung ke EIP-1193.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1417320"/>
            <a:ext cx="1600200" cy="35204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F29E00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100" b="0">
                <a:solidFill>
                  <a:srgbClr val="30353D"/>
                </a:solidFill>
                <a:latin typeface="Aptos"/>
              </a:rPr>
              <a:t>Ambil address &amp; network.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417320"/>
            <a:ext cx="1600200" cy="352044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7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1565C0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Blockchain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100" b="0">
                <a:solidFill>
                  <a:srgbClr val="30353D"/>
                </a:solidFill>
                <a:latin typeface="Aptos"/>
              </a:rPr>
              <a:t>Baca balance / contract state.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78892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1417320"/>
            <a:ext cx="1600200" cy="35204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5248" y="16642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F29E00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194560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2743200"/>
            <a:ext cx="13258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100" b="0">
                <a:solidFill>
                  <a:srgbClr val="30353D"/>
                </a:solidFill>
                <a:latin typeface="Aptos"/>
              </a:rPr>
              <a:t>Render data dan status.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440680"/>
            <a:ext cx="10058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600" b="1">
                <a:solidFill>
                  <a:srgbClr val="173B67"/>
                </a:solidFill>
                <a:latin typeface="Aptos"/>
              </a:rPr>
              <a:t>Pola utama: User → Wallet → Provider → Blockchain → UI. Signing hanya terjadi setelah persetujuan pengguna.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Event On-Chain: Menampilkan Aktivitas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6400800" cy="388620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99032"/>
            <a:ext cx="6080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chain.js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91640"/>
            <a:ext cx="6080760" cy="3410711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200" b="0">
                <a:solidFill>
                  <a:srgbClr val="EBEFF3"/>
                </a:solidFill>
                <a:latin typeface="Consolas"/>
              </a:rPr>
              <a:t>const abi = [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  "event Transfer(address indexed from, address indexed to, uint256 value)"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];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const contract = new ethers.Contract(TOKEN_ADDRESS, abi, provider);</a:t>
            </a:r>
          </a:p>
          <a:p/>
          <a:p>
            <a:r>
              <a:rPr sz="1200" b="0">
                <a:solidFill>
                  <a:srgbClr val="EBEFF3"/>
                </a:solidFill>
                <a:latin typeface="Consolas"/>
              </a:rPr>
              <a:t>contract.on("Transfer", (from, to, value) =&gt; {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  console.log(from, to, ethers.formatUnits(value, 18));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});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325880"/>
            <a:ext cx="4206240" cy="38862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325880"/>
            <a:ext cx="64008" cy="38862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472184"/>
            <a:ext cx="38404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Dua kebutuhan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1947672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State → baca nilai terbaru dengan fungsi 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0648" y="2459736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Event → pantau aktivitas yang dipancarkan contract.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2971800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Filter event dapat membatasi data yang relevan.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3483864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Hentikan listener saat komponen/halaman tidak lagi membutuhkannya.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0">
                <a:solidFill>
                  <a:srgbClr val="646E7D"/>
                </a:solidFill>
                <a:latin typeface="Aptos"/>
              </a:rPr>
              <a:t>Event membantu UI menjadi reaktif terhadap aktivitas blockchain, tetapi tetap perlu menangani koneksi dan error.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Web3 UI Layer: Status Harus Jelas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64008" cy="448056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26463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Wallet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0195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Connected / Disconnected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14016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Address terpotong dengan aman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26080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Tombol Connect / Disconnect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38144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Status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950208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Jangan tampilkan secret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280160"/>
            <a:ext cx="3383280" cy="44805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8" y="1280160"/>
            <a:ext cx="64008" cy="44805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1426463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On-Chain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190195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Block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414016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Native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926080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Contract/token 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438144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Transaction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0456" y="128016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0456" y="1280160"/>
            <a:ext cx="64008" cy="4480560"/>
          </a:xfrm>
          <a:prstGeom prst="rect">
            <a:avLst/>
          </a:prstGeom>
          <a:solidFill>
            <a:srgbClr val="2C7A53"/>
          </a:solidFill>
          <a:ln>
            <a:solidFill>
              <a:srgbClr val="2C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1426463"/>
            <a:ext cx="3017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190195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Loading saat RPC dipanggil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414016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Error jika provider/network gagal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2926080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Confirmation setelah transaksi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3438144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Tautkan hash transaksi ke explorer hanya setelah data benar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Keamanan Wallet: Jangan Jadikan DApp sebagai Titik Lemah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6675120" cy="21488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90472"/>
            <a:ext cx="6355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Prinsip inti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83080"/>
            <a:ext cx="6355080" cy="167335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200" b="0">
                <a:solidFill>
                  <a:srgbClr val="EBEFF3"/>
                </a:solidFill>
                <a:latin typeface="Consolas"/>
              </a:rPr>
              <a:t>Jangan pernah meminta: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• Secret Recovery Phrase / seed phrase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• Private key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• Password wallet</a:t>
            </a:r>
          </a:p>
          <a:p/>
          <a:p>
            <a:r>
              <a:rPr sz="1200" b="0">
                <a:solidFill>
                  <a:srgbClr val="EBEFF3"/>
                </a:solidFill>
                <a:latin typeface="Consolas"/>
              </a:rPr>
              <a:t>DApp seharusnya meminta: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• Connect account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• Data publik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• Signature/transaction melalui wallet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17320"/>
            <a:ext cx="3749039" cy="29260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417320"/>
            <a:ext cx="64008" cy="29260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1563624"/>
            <a:ext cx="33832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Checklist sebelum signing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039112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Pastikan domain/website benar.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551176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Pastikan network sesuai.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063240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Periksa recipient dan nilai transaksi.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3575304"/>
            <a:ext cx="33649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Baca pesan/signature request sebelum menyetujui.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B53737"/>
                </a:solidFill>
                <a:latin typeface="Aptos"/>
              </a:rPr>
              <a:t>• Tolak request yang tidak dipahami.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Phishing Wallet: Kenali Polanya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891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Red Flags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Website meniru nama/URL layanan resmi.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Pop-up meminta seed phrase untuk “verifikasi”.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Pesan DM menawarkan “support” dan meminta data rahasia.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DApp meminta signing/transaksi yang tidak sesuai tujuan.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5394960" cy="438912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64008" cy="438912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Respons Aman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Hentikan interaksi jika ragu.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Jangan berikan SRP/private key.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Verifikasi URL dan sumber resmi.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Review detail transaksi di wallet.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10241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Keamanan utama: pengguna tetap menjadi pihak yang mengotorisasi akses dan transaksi.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Menjalankan Praktikum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64008" cy="448056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26463"/>
            <a:ext cx="48463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Langkah 1 — Siapkan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01952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Masuk ke folder 14_web3-wallet-onchain.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14016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Pastikan ethers.js dan wallet browser tersedia.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26080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Jalankan server lokal: python3 -m http.server 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38144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Buka http://localhost:8080.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80160"/>
            <a:ext cx="5349240" cy="24231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3533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645919"/>
            <a:ext cx="5029200" cy="19476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400" b="0">
                <a:solidFill>
                  <a:srgbClr val="EBEFF3"/>
                </a:solidFill>
                <a:latin typeface="Consolas"/>
              </a:rPr>
              <a:t>cd 14_web3-wallet-onchain</a:t>
            </a:r>
          </a:p>
          <a:p>
            <a:r>
              <a:rPr sz="1400" b="0">
                <a:solidFill>
                  <a:srgbClr val="EBEFF3"/>
                </a:solidFill>
                <a:latin typeface="Consolas"/>
              </a:rPr>
              <a:t>python3 -m http.server 8080</a:t>
            </a:r>
          </a:p>
          <a:p/>
          <a:p>
            <a:r>
              <a:rPr sz="1400" b="0">
                <a:solidFill>
                  <a:srgbClr val="EBEFF3"/>
                </a:solidFill>
                <a:latin typeface="Consolas"/>
              </a:rPr>
              <a:t># Browser</a:t>
            </a:r>
          </a:p>
          <a:p>
            <a:r>
              <a:rPr sz="1400" b="0">
                <a:solidFill>
                  <a:srgbClr val="EBEFF3"/>
                </a:solidFill>
                <a:latin typeface="Consolas"/>
              </a:rPr>
              <a:t>http://localhost:8080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5349240" cy="17830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977639"/>
            <a:ext cx="64008" cy="17830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123944"/>
            <a:ext cx="49834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Langkah 2 — Uji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599431"/>
            <a:ext cx="49651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Klik Connect Wallet.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5111496"/>
            <a:ext cx="49651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Pastikan address &amp; chain ID muncul.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23560"/>
            <a:ext cx="49651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Tampilkan native balance.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6135624"/>
            <a:ext cx="49651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Coba baca data contract pada network latihan.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Praktik Terbimbing: Dashboard Wallet Mini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577840" cy="26517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99032"/>
            <a:ext cx="5257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Tugas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91640"/>
            <a:ext cx="5257800" cy="21762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200" b="0">
                <a:solidFill>
                  <a:srgbClr val="EBEFF3"/>
                </a:solidFill>
                <a:latin typeface="Consolas"/>
              </a:rPr>
              <a:t>// modules/wallet.js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export async function connectWallet() {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  const provider = new ethers.BrowserProvider(window.ethereum);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  await provider.send("eth_requestAccounts", []);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  const signer = await provider.getSigner();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  return { provider, address: await signer.getAddress() };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212080" cy="26517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399032"/>
            <a:ext cx="4892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F29E00"/>
                </a:solidFill>
                <a:latin typeface="Aptos"/>
              </a:rPr>
              <a:t>Integrasikan ke main.js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691640"/>
            <a:ext cx="4892040" cy="217627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r>
              <a:rPr sz="1200" b="0">
                <a:solidFill>
                  <a:srgbClr val="EBEFF3"/>
                </a:solidFill>
                <a:latin typeface="Consolas"/>
              </a:rPr>
              <a:t>const { provider, address } = await connectWallet();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const balance = await provider.getBalance(address);</a:t>
            </a:r>
          </a:p>
          <a:p/>
          <a:p>
            <a:r>
              <a:rPr sz="1200" b="0">
                <a:solidFill>
                  <a:srgbClr val="EBEFF3"/>
                </a:solidFill>
                <a:latin typeface="Consolas"/>
              </a:rPr>
              <a:t>renderWallet({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  address,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  balance: ethers.formatEther(balance)</a:t>
            </a:r>
          </a:p>
          <a:p>
            <a:r>
              <a:rPr sz="1200" b="0">
                <a:solidFill>
                  <a:srgbClr val="EBEFF3"/>
                </a:solidFill>
                <a:latin typeface="Consolas"/>
              </a:rPr>
              <a:t>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343400"/>
            <a:ext cx="10972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4343400"/>
            <a:ext cx="64008" cy="1417320"/>
          </a:xfrm>
          <a:prstGeom prst="rect">
            <a:avLst/>
          </a:prstGeom>
          <a:solidFill>
            <a:srgbClr val="2C7A53"/>
          </a:solidFill>
          <a:ln>
            <a:solidFill>
              <a:srgbClr val="2C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489704"/>
            <a:ext cx="106070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Tujuan Praktik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965192"/>
            <a:ext cx="105887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200" b="0">
                <a:solidFill>
                  <a:srgbClr val="30353D"/>
                </a:solidFill>
                <a:latin typeface="Aptos"/>
              </a:rPr>
              <a:t>• Menggunakan module wallet.js untuk koneksi.</a:t>
            </a:r>
          </a:p>
          <a:p>
            <a:r>
              <a:rPr sz="1200" b="0">
                <a:solidFill>
                  <a:srgbClr val="30353D"/>
                </a:solidFill>
                <a:latin typeface="Aptos"/>
              </a:rPr>
              <a:t>• Membaca balance melalui Provider.</a:t>
            </a:r>
          </a:p>
          <a:p>
            <a:r>
              <a:rPr sz="1200" b="0">
                <a:solidFill>
                  <a:srgbClr val="30353D"/>
                </a:solidFill>
                <a:latin typeface="Aptos"/>
              </a:rPr>
              <a:t>• Menampilkan hasil ke UI.</a:t>
            </a:r>
          </a:p>
          <a:p>
            <a:r>
              <a:rPr sz="1200" b="0">
                <a:solidFill>
                  <a:srgbClr val="30353D"/>
                </a:solidFill>
                <a:latin typeface="Aptos"/>
              </a:rPr>
              <a:t>• Menangani error wallet tidak tersedia / user reject.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Pengayaan: Contract Read + Security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Tugas 2 — Data On-Chain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Tambahkan input alamat contract.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Tambahkan ABI minimal untuk fungsi 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Tampilkan symbol, decimals, dan balanceOf.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Tambahkan loading dan error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Security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Pastikan tidak ada input seed phrase/private key.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Validasi network sebelum membaca contract.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Tampilkan contract address yang sedang digunakan.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Uji skenario user menolak koneksi/signing.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646E7D"/>
                </a:solidFill>
                <a:latin typeface="Aptos"/>
              </a:rPr>
              <a:t>Target pengayaan: DApp sederhana yang informatif, modular, dan tidak menyesatkan pengguna.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7772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1565C0"/>
                </a:solidFill>
                <a:latin typeface="Aptos"/>
              </a:rPr>
              <a:t>PERTEMUAN 14 • CPMK54 / Sub-CPMK54.2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2400" b="1">
                <a:solidFill>
                  <a:srgbClr val="173B67"/>
                </a:solidFill>
                <a:latin typeface="Aptos"/>
              </a:rPr>
              <a:t>Rangkuman &amp; Exit Ticket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397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900" b="1">
                <a:solidFill>
                  <a:srgbClr val="646E7D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Poin kunci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Wallet adalah pengelola account dan private key.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Provider membaca state blockchain; Signer mengotorisasi aksi.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Ethers.js BrowserProvider menjembatani EIP-1193 wallet.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ABI + Contract digunakan untuk membaca data aplikasi on-chain.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Phishing dan permintaan SRP/private key adalah red flag.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72184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500" b="1">
                <a:solidFill>
                  <a:srgbClr val="173B67"/>
                </a:solidFill>
                <a:latin typeface="Aptos"/>
              </a:rPr>
              <a:t>Exit Ticket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Apa beda Provider dan Signer?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59736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Mengapa private key tidak boleh masuk ke JavaScript front-end?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Bagaimana menampilkan balance account dari blockchain?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83864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Apa fungsi ABI pada contract?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95928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300" b="0">
                <a:solidFill>
                  <a:srgbClr val="30353D"/>
                </a:solidFill>
                <a:latin typeface="Aptos"/>
              </a:rPr>
              <a:t>• Sebutkan 3 tanda phishing wallet.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33872"/>
            <a:ext cx="10698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r>
              <a:rPr sz="1400" b="1">
                <a:solidFill>
                  <a:srgbClr val="173B67"/>
                </a:solidFill>
                <a:latin typeface="Aptos"/>
              </a:rPr>
              <a:t>Referensi: Ethers.js v6 Documentation &amp; MetaMask Help Center.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