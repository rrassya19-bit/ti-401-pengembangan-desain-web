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19456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>
                <a:solidFill>
                  <a:srgbClr val="1565C0"/>
                </a:solidFill>
                <a:latin typeface="Aptos"/>
              </a:rPr>
              <a:t>PERTEMUAN 12 • CPMK52 &amp; CPMK54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40080"/>
            <a:ext cx="1088136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800" b="1">
                <a:solidFill>
                  <a:srgbClr val="173B67"/>
                </a:solidFill>
                <a:latin typeface="Aptos"/>
              </a:rPr>
              <a:t>JavaScript Async, Fetch API, dan Integrasi AI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10881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0">
                <a:solidFill>
                  <a:srgbClr val="646E7D"/>
                </a:solidFill>
                <a:latin typeface="Aptos"/>
              </a:rPr>
              <a:t>Sub-CPMK 52.4 &amp; 54.1 — Mahasiswa mampu menerapkan async/await dan mengintegrasikan AI API, sekaligus mengenali bias, hallucination, dan praktik aman pengelolaan API key.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2331720"/>
            <a:ext cx="5303520" cy="2331720"/>
          </a:xfrm>
          <a:prstGeom prst="roundRect">
            <a:avLst/>
          </a:prstGeom>
          <a:solidFill>
            <a:srgbClr val="E8EFF7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633472"/>
            <a:ext cx="42062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800" b="1">
                <a:solidFill>
                  <a:srgbClr val="1565C0"/>
                </a:solidFill>
                <a:latin typeface="Aptos"/>
              </a:rPr>
              <a:t>ASYNC JAVASCRIPT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246120"/>
            <a:ext cx="4389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0">
                <a:solidFill>
                  <a:srgbClr val="30353D"/>
                </a:solidFill>
                <a:latin typeface="Aptos"/>
              </a:rPr>
              <a:t>Promise → async/await → Fetch → try/catch/finally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858768"/>
            <a:ext cx="43891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6E7D"/>
                </a:solidFill>
                <a:latin typeface="Aptos"/>
              </a:rPr>
              <a:t>Kode tetap responsif saat menunggu I/O jaringan.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331720"/>
            <a:ext cx="5486400" cy="2331720"/>
          </a:xfrm>
          <a:prstGeom prst="roundRect">
            <a:avLst/>
          </a:prstGeom>
          <a:solidFill>
            <a:srgbClr val="FFF4E5"/>
          </a:solidFill>
          <a:ln>
            <a:solidFill>
              <a:srgbClr val="FFF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633472"/>
            <a:ext cx="45720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800" b="1">
                <a:solidFill>
                  <a:srgbClr val="F29E00"/>
                </a:solidFill>
                <a:latin typeface="Aptos"/>
              </a:rPr>
              <a:t>AI API SECURE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246120"/>
            <a:ext cx="45720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0">
                <a:solidFill>
                  <a:srgbClr val="30353D"/>
                </a:solidFill>
                <a:latin typeface="Aptos"/>
              </a:rPr>
              <a:t>Browser → Backend Proxy → AI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858768"/>
            <a:ext cx="4572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6E7D"/>
                </a:solidFill>
                <a:latin typeface="Aptos"/>
              </a:rPr>
              <a:t>API key berada di server, bukan di front-end.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12 • JavaScript Async, Fetch API &amp; Integrasi AI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Mengapa Async Dibutuhkan?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524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3949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29768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90472"/>
            <a:ext cx="5029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Masalah operasi jaringan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Request ke server membutuhkan waktu.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059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Program tidak boleh berhenti menunggu respons.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5351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UI perlu tetap dapat menerima input pengguna.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325880"/>
            <a:ext cx="5394960" cy="429768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325880"/>
            <a:ext cx="64008" cy="429768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490472"/>
            <a:ext cx="5029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Solusi async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Promise merepresentasikan hasil yang tersedia nanti.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5059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async/await membuat kode asynchronous lebih mudah dibaca.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5351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Error jaringan ditangani secara eksplisit dengan try/catch.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6984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500" b="1">
                <a:solidFill>
                  <a:srgbClr val="173B67"/>
                </a:solidFill>
                <a:latin typeface="Aptos"/>
              </a:rPr>
              <a:t>Inti: asynchronous bukan berarti tanpa menunggu; program menunggu secara non-blocking.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12 • JavaScript Async, Fetch API &amp; Integrasi AI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Prasyarat &amp; Posisi Pertemuan 12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524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3949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25196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90472"/>
            <a:ext cx="5029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Sebelumnya — Pertemuan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DOM: memilih dan memanipulasi elemen.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059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Event handling: click, keydown, submit.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5351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State dan render UI.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325880"/>
            <a:ext cx="5394960" cy="425196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325880"/>
            <a:ext cx="64008" cy="425196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490472"/>
            <a:ext cx="5029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Hari 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Promise, async/await.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5059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Fetch API dan JSON.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5351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Backend proxy untuk AI API.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5643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Keamanan API key dan evaluasi respons AI.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79008"/>
            <a:ext cx="104241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400" b="0">
                <a:solidFill>
                  <a:srgbClr val="646E7D"/>
                </a:solidFill>
                <a:latin typeface="Aptos"/>
              </a:rPr>
              <a:t>Setelah ini — Pertemuan 13: JavaScript Modules &amp; Bootstrap Form/Component.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12 • JavaScript Async, Fetch API &amp; Integrasi AI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Promise: Representasi Hasil di Masa Depan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524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4747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64008" cy="43434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90472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Pending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47672"/>
            <a:ext cx="30906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Request masih berjalan.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50591"/>
            <a:ext cx="30906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Belum ada hasil final.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953511"/>
            <a:ext cx="30906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UI dapat menampilkan status loading.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325880"/>
            <a:ext cx="34747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325880"/>
            <a:ext cx="64008" cy="4343400"/>
          </a:xfrm>
          <a:prstGeom prst="rect">
            <a:avLst/>
          </a:prstGeom>
          <a:solidFill>
            <a:srgbClr val="2C7A53"/>
          </a:solidFill>
          <a:ln>
            <a:solidFill>
              <a:srgbClr val="2C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490472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Fulfilled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947672"/>
            <a:ext cx="30906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Operasi berhasil.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50591"/>
            <a:ext cx="30906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Nilai hasil tersedia.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953511"/>
            <a:ext cx="30906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Lanjutkan proses berikutnya.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7304" y="1325880"/>
            <a:ext cx="3474720" cy="43434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47304" y="1325880"/>
            <a:ext cx="64008" cy="4343400"/>
          </a:xfrm>
          <a:prstGeom prst="rect">
            <a:avLst/>
          </a:prstGeom>
          <a:solidFill>
            <a:srgbClr val="B53737"/>
          </a:solidFill>
          <a:ln>
            <a:solidFill>
              <a:srgbClr val="B5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1490472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Rejected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1947672"/>
            <a:ext cx="30906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Operasi gagal.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2450591"/>
            <a:ext cx="30906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Error perlu ditangani.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2953511"/>
            <a:ext cx="30906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Tampilkan pesan yang aman untuk pengguna.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897880"/>
            <a:ext cx="89611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600" b="1">
                <a:solidFill>
                  <a:srgbClr val="173B67"/>
                </a:solidFill>
                <a:latin typeface="Aptos"/>
              </a:rPr>
              <a:t>Promise → pending → fulfilled / rejected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12 • JavaScript Async, Fetch API &amp; Integrasi AI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async/await: Sintaks untuk Mengelola Promise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524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5486400" cy="320040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17320"/>
            <a:ext cx="5166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Contoh dasar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91640"/>
            <a:ext cx="5166360" cy="2761488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400" b="0">
                <a:solidFill>
                  <a:srgbClr val="EBEFF3"/>
                </a:solidFill>
                <a:latin typeface="Consolas"/>
              </a:rPr>
              <a:t>async function ambilData() {
  const response = await fetch('/api/data');
  const data = await response.json();
  return data;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25880"/>
            <a:ext cx="5212080" cy="32004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25880"/>
            <a:ext cx="64008" cy="32004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490472"/>
            <a:ext cx="4846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Apa yang terjadi?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1947672"/>
            <a:ext cx="4828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`async` membuat fungsi mengembalikan Promise.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450591"/>
            <a:ext cx="4828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`await` menunggu Promise selesai sebelum lanjut.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953511"/>
            <a:ext cx="4828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Await tidak membuat browser berhenti total.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3456431"/>
            <a:ext cx="4828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Hasil `await` dapat dipakai sebagai nilai biasa.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83480"/>
            <a:ext cx="105156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500" b="1">
                <a:solidFill>
                  <a:srgbClr val="173B67"/>
                </a:solidFill>
                <a:latin typeface="Aptos"/>
              </a:rPr>
              <a:t>Gunakan async/await terutama ketika alur operasi asynchronous perlu dibaca berurutan.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12 • JavaScript Async, Fetch API &amp; Integrasi AI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Event Loop secara Sederhana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524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2461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64008" cy="425196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90472"/>
            <a:ext cx="2880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Call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47672"/>
            <a:ext cx="28620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Menjalankan JavaScript synchronous.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50591"/>
            <a:ext cx="28620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Fungsi diproses satu per satu.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953511"/>
            <a:ext cx="28620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Jangan melakukan pekerjaan blocking yang berat.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325880"/>
            <a:ext cx="3246120" cy="425196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325880"/>
            <a:ext cx="64008" cy="425196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490472"/>
            <a:ext cx="2880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Web / Network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947672"/>
            <a:ext cx="28620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Browser menangani operasi I/O.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450591"/>
            <a:ext cx="28620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Fetch berjalan di luar stack utama.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53511"/>
            <a:ext cx="28620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Hasil dikembalikan ketika siap.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0183" y="1325880"/>
            <a:ext cx="32461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30183" y="1325880"/>
            <a:ext cx="64008" cy="4251960"/>
          </a:xfrm>
          <a:prstGeom prst="rect">
            <a:avLst/>
          </a:prstGeom>
          <a:solidFill>
            <a:srgbClr val="2C7A53"/>
          </a:solidFill>
          <a:ln>
            <a:solidFill>
              <a:srgbClr val="2C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1352" y="1490472"/>
            <a:ext cx="2880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Queue → Event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1947672"/>
            <a:ext cx="28620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Callback/continuation menunggu giliran.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1352" y="2450591"/>
            <a:ext cx="28620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Event loop memasukkan pekerjaan kembali ke stack.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352" y="2953511"/>
            <a:ext cx="28620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UI tetap dapat merespons.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06440"/>
            <a:ext cx="102412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500" b="1">
                <a:solidFill>
                  <a:srgbClr val="173B67"/>
                </a:solidFill>
                <a:latin typeface="Aptos"/>
              </a:rPr>
              <a:t>Model mental: mulai → tunggu I/O → lanjutkan saat hasil tersedia.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12 • JavaScript Async, Fetch API &amp; Integrasi AI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Fetch API: Mengirim HTTP Request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524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98448"/>
            <a:ext cx="6492240" cy="347472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89888"/>
            <a:ext cx="6172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Front-end pada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64207"/>
            <a:ext cx="6172200" cy="3035808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300" b="0">
                <a:solidFill>
                  <a:srgbClr val="EBEFF3"/>
                </a:solidFill>
                <a:latin typeface="Consolas"/>
              </a:rPr>
              <a:t>const response = await fetch('/api/chat', {
  method: 'POST',
  headers: { 'Content-Type': 'application/json' },
  body: JSON.stringify({ message: teks })
});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298448"/>
            <a:ext cx="4206240" cy="347472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1298448"/>
            <a:ext cx="64008" cy="347472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2088" y="1463039"/>
            <a:ext cx="384047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Bagian penting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2088" y="1920240"/>
            <a:ext cx="38221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URL endpoint: `/api/chat`.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2423160"/>
            <a:ext cx="38221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Method: POST.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2088" y="2926080"/>
            <a:ext cx="38221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Header menyatakan JSON.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2088" y="3429000"/>
            <a:ext cx="38221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`JSON.stringify()` mengubah object menjadi JSON text.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38928"/>
            <a:ext cx="10698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600" b="1">
                <a:solidFill>
                  <a:srgbClr val="173B67"/>
                </a:solidFill>
                <a:latin typeface="Aptos"/>
              </a:rPr>
              <a:t>Fetch mengembalikan Promise&lt;Response&gt;.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12 • JavaScript Async, Fetch API &amp; Integrasi AI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Response: Jangan Lupa Memeriksa Status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524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5852160" cy="342900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463040"/>
            <a:ext cx="5532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Pola pada script.js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37360"/>
            <a:ext cx="5532120" cy="2990088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300" b="0">
                <a:solidFill>
                  <a:srgbClr val="EBEFF3"/>
                </a:solidFill>
                <a:latin typeface="Consolas"/>
              </a:rPr>
              <a:t>const data = await response.json();
if (!response.ok) {
  tampilkanError(data.error);
  return;
}
renderJawaban(data.reply);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371600"/>
            <a:ext cx="47548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12280" y="1371600"/>
            <a:ext cx="64008" cy="34290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13448" y="1536192"/>
            <a:ext cx="43891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Mengapa response.ok?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1993392"/>
            <a:ext cx="43708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HTTP error tidak selalu membuat fetch() reject.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3448" y="2496312"/>
            <a:ext cx="43708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Status 4xx/5xx perlu diperiksa sendiri.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2999232"/>
            <a:ext cx="43708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Baca body error agar UI dapat memberi informasi yang relevan.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3502152"/>
            <a:ext cx="43708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Pisahkan error server/API dari error jaringan.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57800"/>
            <a:ext cx="105156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500" b="1">
                <a:solidFill>
                  <a:srgbClr val="173B67"/>
                </a:solidFill>
                <a:latin typeface="Aptos"/>
              </a:rPr>
              <a:t>Urutan aman: fetch → response.json() → cek response.ok → proses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12 • JavaScript Async, Fetch API &amp; Integrasi AI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try / catch / finally: Pola Penanganan Error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524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6537960" cy="438912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25880"/>
            <a:ext cx="6217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Pola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00200"/>
            <a:ext cx="6217920" cy="3950208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100" b="0">
                <a:solidFill>
                  <a:srgbClr val="EBEFF3"/>
                </a:solidFill>
                <a:latin typeface="Consolas"/>
              </a:rPr>
              <a:t>try {
  // request asynchronous
  const response = await fetch('/api/chat', options);
  const data = await response.json();
  renderJawaban(data.reply);
} catch (error) {
  console.error(error);
  tampilkanError('Gagal terhubung ke server.');
} finally {
  kirimBtn.disabled = false;
  kirimBtn.textContent = 'Kirim';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234440"/>
            <a:ext cx="4206240" cy="438912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1234440"/>
            <a:ext cx="64008" cy="438912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2088" y="1399032"/>
            <a:ext cx="384047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Tiga peran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2088" y="1856232"/>
            <a:ext cx="38221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try → jalankan operasi yang berisiko gagal.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2359152"/>
            <a:ext cx="38221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catch → tangani error jaringan/runtime.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2088" y="2862072"/>
            <a:ext cx="38221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finally → rapikan state UI apa pun hasilnya.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2088" y="3364991"/>
            <a:ext cx="38221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Jangan tampilkan detail rahasia server ke pengguna.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12 • JavaScript Async, Fetch API &amp; Integrasi AI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Arsitektur Integrasi AI API yang Aman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524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926080" cy="1417320"/>
          </a:xfrm>
          <a:prstGeom prst="roundRect">
            <a:avLst/>
          </a:prstGeom>
          <a:solidFill>
            <a:srgbClr val="E8EFF7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24688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>
                <a:solidFill>
                  <a:srgbClr val="173B67"/>
                </a:solidFill>
                <a:latin typeface="Aptos"/>
              </a:rPr>
              <a:t>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78608"/>
            <a:ext cx="24688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200" b="0">
                <a:solidFill>
                  <a:srgbClr val="30353D"/>
                </a:solidFill>
                <a:latin typeface="Aptos"/>
              </a:rPr>
              <a:t>public/script.js
fetch('/api/chat')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874519"/>
            <a:ext cx="2926080" cy="1417320"/>
          </a:xfrm>
          <a:prstGeom prst="roundRect">
            <a:avLst/>
          </a:prstGeom>
          <a:solidFill>
            <a:srgbClr val="FFF4E5"/>
          </a:solidFill>
          <a:ln>
            <a:solidFill>
              <a:srgbClr val="FFF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148840"/>
            <a:ext cx="24688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>
                <a:solidFill>
                  <a:srgbClr val="F29E00"/>
                </a:solidFill>
                <a:latin typeface="Aptos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578608"/>
            <a:ext cx="24688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200" b="0">
                <a:solidFill>
                  <a:srgbClr val="30353D"/>
                </a:solidFill>
                <a:latin typeface="Aptos"/>
              </a:rPr>
              <a:t>server.js
.env menyimpan key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1874519"/>
            <a:ext cx="2926080" cy="1417320"/>
          </a:xfrm>
          <a:prstGeom prst="roundRect">
            <a:avLst/>
          </a:prstGeom>
          <a:solidFill>
            <a:srgbClr val="E8EFF7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2148840"/>
            <a:ext cx="24688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>
                <a:solidFill>
                  <a:srgbClr val="173B67"/>
                </a:solidFill>
                <a:latin typeface="Aptos"/>
              </a:rPr>
              <a:t>AI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578608"/>
            <a:ext cx="24688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200" b="0">
                <a:solidFill>
                  <a:srgbClr val="30353D"/>
                </a:solidFill>
                <a:latin typeface="Aptos"/>
              </a:rPr>
              <a:t>Anthropic / provider lain
endpoint eksternal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240280"/>
            <a:ext cx="640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2800" b="1">
                <a:solidFill>
                  <a:srgbClr val="1565C0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240280"/>
            <a:ext cx="640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2800" b="1">
                <a:solidFill>
                  <a:srgbClr val="F29E00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703320"/>
            <a:ext cx="1188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200" b="1">
                <a:solidFill>
                  <a:srgbClr val="B53737"/>
                </a:solidFill>
                <a:latin typeface="Aptos"/>
              </a:rPr>
              <a:t>API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069080"/>
            <a:ext cx="4572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400" b="1">
                <a:solidFill>
                  <a:srgbClr val="173B67"/>
                </a:solidFill>
                <a:latin typeface="Aptos"/>
              </a:rPr>
              <a:t>tidak pernah dikirim ke browser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83480"/>
            <a:ext cx="102412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600" b="1">
                <a:solidFill>
                  <a:srgbClr val="173B67"/>
                </a:solidFill>
                <a:latin typeface="Aptos"/>
              </a:rPr>
              <a:t>Prinsip repository: Browser → backend kita → AI API; secret berada di server.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12 • JavaScript Async, Fetch API &amp; Integrasi AI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Mengapa API Key Tidak Boleh di Front-End?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524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394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3434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90472"/>
            <a:ext cx="5029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Risiko jika key di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JavaScript dikirim ke pengguna.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059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DevTools / View Source dapat membuka kode.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5351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Key dapat dicuri dan disalahgunakan.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5643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Rotasi dan kontrol akses menjadi sulit.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325880"/>
            <a:ext cx="5394960" cy="43434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1325880"/>
            <a:ext cx="64008" cy="43434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90472"/>
            <a:ext cx="5029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Pola aman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Simpan key di environment variable server.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5059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Front-end hanya mengetahui endpoint backend.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5351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Backend meneruskan request ke AI API.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5643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Tambahkan validasi input dan error handling.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33872"/>
            <a:ext cx="102412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600" b="1">
                <a:solidFill>
                  <a:srgbClr val="B53737"/>
                </a:solidFill>
                <a:latin typeface="Aptos"/>
              </a:rPr>
              <a:t>Rule sederhana: secret ≠ source code publik ≠ browser.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12 • JavaScript Async, Fetch API &amp; Integrasi AI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Backend Proxy: Endpoint /api/chat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524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7315200" cy="452628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25880"/>
            <a:ext cx="6995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Potongan server.js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00200"/>
            <a:ext cx="6995160" cy="4087368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000" b="0">
                <a:solidFill>
                  <a:srgbClr val="EBEFF3"/>
                </a:solidFill>
                <a:latin typeface="Consolas"/>
              </a:rPr>
              <a:t>app.post('/api/chat', async (req, res) =&gt; {
  try {
    const userMessage = req.body.message;
    if (!userMessage || typeof userMessage !== 'string') {
      return res.status(400).json({ error: 'Field message wajib diisi.' });
    }
    // lanjut memanggil AI API...
  } catch (error) {
    res.status(500).json({ error: 'Terjadi kesalahan di server.' });
  }
});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234440"/>
            <a:ext cx="3383280" cy="452628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79" y="1234440"/>
            <a:ext cx="64008" cy="452628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8" y="1399032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Tanggung jawab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5048" y="1856232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Validasi input.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359152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Menyimpan secret.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862072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Memanggil AI API.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3364991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Menyaring error.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3867911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Mengirim respons aman ke browser.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12 • JavaScript Async, Fetch API &amp; Integrasi AI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Memanggil AI API dari Backend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524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7498079" cy="470916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80160"/>
            <a:ext cx="7178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Contoh dari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54480"/>
            <a:ext cx="7178040" cy="4270248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900" b="0">
                <a:solidFill>
                  <a:srgbClr val="EBEFF3"/>
                </a:solidFill>
                <a:latin typeface="Consolas"/>
              </a:rPr>
              <a:t>const response = await fetch(
  'https://api.anthropic.com/v1/messages',
  {
    method: 'POST',
    headers: {
      'Content-Type': 'application/json',
      'x-api-key': process.env.ANTHROPIC_API_KEY,
      'anthropic-version': '2023-06-01'
    },
    body: JSON.stringify({
      model: 'claude-3-5-haiku-latest',
      max_tokens: 300,
      messages: [{ role: 'user', content: userMessage }]
    })
  }
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188720"/>
            <a:ext cx="3246120" cy="470916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75320" y="1188720"/>
            <a:ext cx="64008" cy="470916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1353312"/>
            <a:ext cx="2880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Perhatikan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1810512"/>
            <a:ext cx="28620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Request dilakukan server-side.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2313432"/>
            <a:ext cx="28620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API key berasal dari process.env.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2816352"/>
            <a:ext cx="28620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Payload dikirim sebagai JSON.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3319272"/>
            <a:ext cx="28620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Model dan parameter dapat berbeda antar-provider.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3822191"/>
            <a:ext cx="28620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Jangan menyalin key nyata ke source code.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12 • JavaScript Async, Fetch API &amp; Integrasi AI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Mengambil Respons AI dan Mengirim ke Front-End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524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7132320" cy="452628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25880"/>
            <a:ext cx="6812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server.js — pola respons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00200"/>
            <a:ext cx="6812280" cy="4087368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000" b="0">
                <a:solidFill>
                  <a:srgbClr val="EBEFF3"/>
                </a:solidFill>
                <a:latin typeface="Consolas"/>
              </a:rPr>
              <a:t>if (!response.ok) {
  const errorBody = await response.text();
  console.error('AI API error:', response.status, errorBody);
  return res.status(502).json({
    error: 'Gagal menghubungi AI API.'
  });
}
const data = await response.json();
const teksJawaban = data.content?.[0]?.text ?? '(tidak ada respons)';
res.json({ reply: teksJawaban });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23444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1234440"/>
            <a:ext cx="64008" cy="452628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8" y="1399032"/>
            <a:ext cx="32461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Mengapa dipisahkan?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8" y="1856232"/>
            <a:ext cx="32278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Detail error provider tidak perlu dibocorkan.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8" y="2359152"/>
            <a:ext cx="32278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Front-end mendapat format respons yang sederhana.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728" y="2862072"/>
            <a:ext cx="32278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Backend menjadi boundary keamanan.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8" y="3364991"/>
            <a:ext cx="32278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Perubahan provider dapat diisolasi di server.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12 • JavaScript Async, Fetch API &amp; Integrasi AI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Front-End: Menghubungkan DOM + Fetch + Async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524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7406640" cy="489204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34440"/>
            <a:ext cx="7086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script.js — inti alur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08760"/>
            <a:ext cx="7086600" cy="4453127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900" b="0">
                <a:solidFill>
                  <a:srgbClr val="EBEFF3"/>
                </a:solidFill>
                <a:latin typeface="Consolas"/>
              </a:rPr>
              <a:t>async function kirimPesan() {
  const teks = pesanInput.value.trim();
  if (teks === '') return;
  tambahPesan(teks, 'user');
  pesanInput.value = '';
  kirimBtn.disabled = true;
  kirimBtn.textContent = 'Mengirim...';
  try {
    const response = await fetch('/api/chat', options);
    const data = await response.json();
    if (!response.ok) {
      tambahPesan(`Error: ${data.error}`, 'error');
      return;
    }
    tambahPesan(data.reply, 'ai');
  } finally {
    kirimBtn.disabled = false;
    kirimBtn.textContent = 'Kirim';
  }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143000"/>
            <a:ext cx="3337560" cy="489204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79" y="1143000"/>
            <a:ext cx="64008" cy="489204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8" y="1307592"/>
            <a:ext cx="2971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Koneksi dengan Pertemuan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5048" y="1764792"/>
            <a:ext cx="29535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DOM mengambil input.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267712"/>
            <a:ext cx="29535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Event click/Enter memanggil fungsi.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770632"/>
            <a:ext cx="29535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DOM menambahkan pesan ke chatBox.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3273552"/>
            <a:ext cx="29535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Async/await menangani request.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3776472"/>
            <a:ext cx="29535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UI menunjukkan loading dan error.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12 • JavaScript Async, Fetch API &amp; Integrasi AI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Alur Lengkap: User → AI → UI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524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600200" cy="3429000"/>
          </a:xfrm>
          <a:prstGeom prst="roundRect">
            <a:avLst/>
          </a:prstGeom>
          <a:solidFill>
            <a:srgbClr val="E8EFF7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411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2000" b="1">
                <a:solidFill>
                  <a:srgbClr val="1565C0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240280"/>
            <a:ext cx="12801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400" b="1">
                <a:solidFill>
                  <a:srgbClr val="173B67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788920"/>
            <a:ext cx="1280160" cy="1417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100" b="0">
                <a:solidFill>
                  <a:srgbClr val="30353D"/>
                </a:solidFill>
                <a:latin typeface="Aptos"/>
              </a:rPr>
              <a:t>Pengguna mengetik pertanyaan.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743200"/>
            <a:ext cx="3200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>
                <a:solidFill>
                  <a:srgbClr val="646E7D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39" y="1417320"/>
            <a:ext cx="1600200" cy="34290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599" y="1691640"/>
            <a:ext cx="411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2000" b="1">
                <a:solidFill>
                  <a:srgbClr val="F29E00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240280"/>
            <a:ext cx="12801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400" b="1">
                <a:solidFill>
                  <a:srgbClr val="173B67"/>
                </a:solidFill>
                <a:latin typeface="Aptos"/>
              </a:rPr>
              <a:t>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788920"/>
            <a:ext cx="1280160" cy="1417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100" b="0">
                <a:solidFill>
                  <a:srgbClr val="30353D"/>
                </a:solidFill>
                <a:latin typeface="Aptos"/>
              </a:rPr>
              <a:t>click / Enter memanggil kirimPesan().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743200"/>
            <a:ext cx="3200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>
                <a:solidFill>
                  <a:srgbClr val="646E7D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59" y="1417320"/>
            <a:ext cx="1600200" cy="3429000"/>
          </a:xfrm>
          <a:prstGeom prst="roundRect">
            <a:avLst/>
          </a:prstGeom>
          <a:solidFill>
            <a:srgbClr val="E8EFF7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691640"/>
            <a:ext cx="411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2000" b="1">
                <a:solidFill>
                  <a:srgbClr val="1565C0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1" y="2240280"/>
            <a:ext cx="12801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400" b="1">
                <a:solidFill>
                  <a:srgbClr val="173B67"/>
                </a:solidFill>
                <a:latin typeface="Aptos"/>
              </a:rPr>
              <a:t>Fetch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1" y="2788920"/>
            <a:ext cx="1280160" cy="1417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100" b="0">
                <a:solidFill>
                  <a:srgbClr val="30353D"/>
                </a:solidFill>
                <a:latin typeface="Aptos"/>
              </a:rPr>
              <a:t>Browser POST ke /api/chat.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59" y="2743200"/>
            <a:ext cx="3200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>
                <a:solidFill>
                  <a:srgbClr val="646E7D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79" y="1417320"/>
            <a:ext cx="1600200" cy="34290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691640"/>
            <a:ext cx="411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2000" b="1">
                <a:solidFill>
                  <a:srgbClr val="F29E00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1" y="2240280"/>
            <a:ext cx="12801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400" b="1">
                <a:solidFill>
                  <a:srgbClr val="173B67"/>
                </a:solidFill>
                <a:latin typeface="Aptos"/>
              </a:rPr>
              <a:t>Proxy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1" y="2788920"/>
            <a:ext cx="1280160" cy="1417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100" b="0">
                <a:solidFill>
                  <a:srgbClr val="30353D"/>
                </a:solidFill>
                <a:latin typeface="Aptos"/>
              </a:rPr>
              <a:t>Backend menambahkan secret dan memanggil AI.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2743200"/>
            <a:ext cx="3200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>
                <a:solidFill>
                  <a:srgbClr val="646E7D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1417320"/>
            <a:ext cx="1600200" cy="3429000"/>
          </a:xfrm>
          <a:prstGeom prst="roundRect">
            <a:avLst/>
          </a:prstGeom>
          <a:solidFill>
            <a:srgbClr val="E8EFF7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1691640"/>
            <a:ext cx="411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2000" b="1">
                <a:solidFill>
                  <a:srgbClr val="1565C0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2240280"/>
            <a:ext cx="12801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400" b="1">
                <a:solidFill>
                  <a:srgbClr val="173B67"/>
                </a:solidFill>
                <a:latin typeface="Aptos"/>
              </a:rPr>
              <a:t>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2788920"/>
            <a:ext cx="1280160" cy="1417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100" b="0">
                <a:solidFill>
                  <a:srgbClr val="30353D"/>
                </a:solidFill>
                <a:latin typeface="Aptos"/>
              </a:rPr>
              <a:t>Backend mengambil hasil AI.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743200"/>
            <a:ext cx="3200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>
                <a:solidFill>
                  <a:srgbClr val="646E7D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1417320"/>
            <a:ext cx="1600200" cy="34290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1691640"/>
            <a:ext cx="411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2000" b="1">
                <a:solidFill>
                  <a:srgbClr val="F29E00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0112" y="2240280"/>
            <a:ext cx="12801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400" b="1">
                <a:solidFill>
                  <a:srgbClr val="173B67"/>
                </a:solidFill>
                <a:latin typeface="Aptos"/>
              </a:rPr>
              <a:t>Render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40112" y="2788920"/>
            <a:ext cx="1280160" cy="1417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100" b="0">
                <a:solidFill>
                  <a:srgbClr val="30353D"/>
                </a:solidFill>
                <a:latin typeface="Aptos"/>
              </a:rPr>
              <a:t>Browser menampilkan data.reply.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349240"/>
            <a:ext cx="96012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700" b="1">
                <a:solidFill>
                  <a:srgbClr val="173B67"/>
                </a:solidFill>
                <a:latin typeface="Aptos"/>
              </a:rPr>
              <a:t>Pahami alur sebelum menghafal sintaks.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12 • JavaScript Async, Fetch API &amp; Integrasi AI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AI Bukan Mesin Kebenaran: Hallucination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524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394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38912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90472"/>
            <a:ext cx="5029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Hallucination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Model dapat menghasilkan jawaban yang terdengar meyakinkan tetapi salah.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059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Kelancaran bahasa bukan bukti kebenaran.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5351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Risiko meningkat pada fakta spesifik, data terbaru, atau konteks yang tidak tersedia.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325880"/>
            <a:ext cx="5394960" cy="438912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325880"/>
            <a:ext cx="64008" cy="438912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490472"/>
            <a:ext cx="5029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Respons pengembang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Verifikasi informasi penting.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5059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Bandingkan dengan sumber tepercaya.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5351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Jangan menganggap output AI sebagai ground truth.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5643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Tambahkan validasi dan batasan pada aplikasi.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2160"/>
            <a:ext cx="10698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500" b="1">
                <a:solidFill>
                  <a:srgbClr val="F29E00"/>
                </a:solidFill>
                <a:latin typeface="Aptos"/>
              </a:rPr>
              <a:t>Pertanyaan kelas: “Bagaimana kita membuktikan bahwa jawaban AI benar?”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12 • JavaScript Async, Fetch API &amp; Integrasi AI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Bias: Output AI Dipengaruhi Data &amp; Prompt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524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64008" cy="438912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90472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Sumber bias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47672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Data pelatihan tidak selalu seimbang.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50591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Representasi kelompok dapat berbeda.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953511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Prompt dapat mengarahkan jawaban.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456431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Konteks yang hilang dapat menghasilkan generalisasi.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325880"/>
            <a:ext cx="3383280" cy="438912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8" y="1325880"/>
            <a:ext cx="64008" cy="438912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1490472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Gejala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1947672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Jawaban terlalu menyederhanakan.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450591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Asumsi tidak dinyatakan.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953511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Perspektif tertentu dominan.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456431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Hasil berbeda ketika prompt diubah.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0456" y="132588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0456" y="1325880"/>
            <a:ext cx="64008" cy="4389120"/>
          </a:xfrm>
          <a:prstGeom prst="rect">
            <a:avLst/>
          </a:prstGeom>
          <a:solidFill>
            <a:srgbClr val="2C7A53"/>
          </a:solidFill>
          <a:ln>
            <a:solidFill>
              <a:srgbClr val="2C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4" y="1490472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Mitigasi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1947672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Uji dengan beberapa formulasi prompt.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2450591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Cari sumber pembanding.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2953511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Dokumentasikan batasan.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3456431"/>
            <a:ext cx="29992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Gunakan human review untuk keputusan penting.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12 • JavaScript Async, Fetch API &amp; Integrasi AI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Evaluasi Kritis Respons AI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524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698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700" b="1">
                <a:solidFill>
                  <a:srgbClr val="173B67"/>
                </a:solidFill>
                <a:latin typeface="Aptos"/>
              </a:rPr>
              <a:t>Gunakan 5 pertanyaan sebelum mempercayai output: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10561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79"/>
            <a:ext cx="9966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400" b="0">
                <a:solidFill>
                  <a:srgbClr val="30353D"/>
                </a:solidFill>
                <a:latin typeface="Aptos"/>
              </a:rPr>
              <a:t>1. Apakah jawabannya menjawab pertanyaan yang sebenarnya?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660903"/>
            <a:ext cx="10561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98063"/>
            <a:ext cx="9966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400" b="0">
                <a:solidFill>
                  <a:srgbClr val="30353D"/>
                </a:solidFill>
                <a:latin typeface="Aptos"/>
              </a:rPr>
              <a:t>2. Apakah ada klaim faktual yang perlu diverifikasi?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447287"/>
            <a:ext cx="10561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84447"/>
            <a:ext cx="9966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400" b="0">
                <a:solidFill>
                  <a:srgbClr val="30353D"/>
                </a:solidFill>
                <a:latin typeface="Aptos"/>
              </a:rPr>
              <a:t>3. Apakah ada asumsi atau bias yang tidak dinyatakan?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33672"/>
            <a:ext cx="10561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70832"/>
            <a:ext cx="9966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400" b="0">
                <a:solidFill>
                  <a:srgbClr val="30353D"/>
                </a:solidFill>
                <a:latin typeface="Aptos"/>
              </a:rPr>
              <a:t>4. Apakah sumber/rujukan dapat diperiksa?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020056"/>
            <a:ext cx="10561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157216"/>
            <a:ext cx="9966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400" b="0">
                <a:solidFill>
                  <a:srgbClr val="30353D"/>
                </a:solidFill>
                <a:latin typeface="Aptos"/>
              </a:rPr>
              <a:t>5. Apa konsekuensinya jika jawaban ternyata salah?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300" b="0">
                <a:solidFill>
                  <a:srgbClr val="646E7D"/>
                </a:solidFill>
                <a:latin typeface="Aptos"/>
              </a:rPr>
              <a:t>Ini menjadi fondasi evaluasi kritis yang diperdalam pada Pertemuan 15.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12 • JavaScript Async, Fetch API &amp; Integrasi AI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Standard Library: Array + Date dalam Chat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524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6675120" cy="443484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25880"/>
            <a:ext cx="6355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Potongan script.js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00200"/>
            <a:ext cx="6355080" cy="3995927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100" b="0">
                <a:solidFill>
                  <a:srgbClr val="EBEFF3"/>
                </a:solidFill>
                <a:latin typeface="Consolas"/>
              </a:rPr>
              <a:t>let riwayatChat = [];
const waktu = new Date().toLocaleTimeString('id-ID', {
  hour: '2-digit', minute: '2-digit'
});
riwayatChat.push({ teks, jenis, waktu });
const jumlahDariAI = riwayatChat
  .filter(pesan =&gt; pesan.jenis === 'ai').length;
const daftarWaktu = riwayatChat.map(pesan =&gt; pesan.waktu);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234440"/>
            <a:ext cx="3977639" cy="443484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1234440"/>
            <a:ext cx="64008" cy="443484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1399032"/>
            <a:ext cx="361187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Yang dipelajari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1856232"/>
            <a:ext cx="35935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Array menyimpan riwayat pesan.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2359152"/>
            <a:ext cx="35935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Date memberi timestamp.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2862072"/>
            <a:ext cx="35935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push() menambah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4968" y="3364991"/>
            <a:ext cx="35935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filter() menyaring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3867911"/>
            <a:ext cx="3593591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map() menghasilkan array baru.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12 • JavaScript Async, Fetch API &amp; Integrasi AI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Praktikum: Menjalankan Aplikasi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524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64008" cy="452628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44751"/>
            <a:ext cx="4846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Langkah 1 —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01952"/>
            <a:ext cx="4828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Masuk ke folder 12_javascript-async-integrasi-ai-api.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04872"/>
            <a:ext cx="4828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Salin `.env.example` menjadi `.env`.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907791"/>
            <a:ext cx="4828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Isi `ANTHROPIC_API_KEY` di `.env`.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410711"/>
            <a:ext cx="4828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Jalankan `npm install`.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913631"/>
            <a:ext cx="4828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Jalankan `npm start`.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280160"/>
            <a:ext cx="5394960" cy="452628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280160"/>
            <a:ext cx="64008" cy="452628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444751"/>
            <a:ext cx="5029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Langkah 2 — Uji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190195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Buka `http://localhost:3000`.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4048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Kirim pertanyaan dari chat.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90779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Amati Network dan Console di DevTools.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41071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Periksa request `/api/chat`.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91363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Pastikan API key tidak muncul di browser.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89320"/>
            <a:ext cx="10607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300" b="0">
                <a:solidFill>
                  <a:srgbClr val="646E7D"/>
                </a:solidFill>
                <a:latin typeface="Aptos"/>
              </a:rPr>
              <a:t>Catatan repository: folder 12 membutuhkan Node.js dan environment variable.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12 • JavaScript Async, Fetch API &amp; Integrasi AI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Praktik Terbimbing: Uji Endpoint Lebih Dulu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524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852160" cy="2286000"/>
          </a:xfrm>
          <a:prstGeom prst="roundRect">
            <a:avLst/>
          </a:prstGeom>
          <a:solidFill>
            <a:srgbClr val="1D232A"/>
          </a:solidFill>
          <a:ln>
            <a:solidFill>
              <a:srgbClr val="1D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508760"/>
            <a:ext cx="5532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F29E00"/>
                </a:solidFill>
                <a:latin typeface="Aptos"/>
              </a:rPr>
              <a:t>Tes dengan curl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83080"/>
            <a:ext cx="5532120" cy="1847088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/>
            <a:r>
              <a:rPr sz="1300" b="0">
                <a:solidFill>
                  <a:srgbClr val="EBEFF3"/>
                </a:solidFill>
                <a:latin typeface="Consolas"/>
              </a:rPr>
              <a:t>curl -X POST http://localhost:3000/api/chat \
  -H "Content-Type: application/json" \
  -d '{"message":"Halo, siapa kamu?"}'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417320"/>
            <a:ext cx="4709160" cy="22860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12280" y="1417320"/>
            <a:ext cx="64008" cy="22860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13448" y="1581912"/>
            <a:ext cx="43434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Mengapa endpoint dulu?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2039112"/>
            <a:ext cx="43251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Memisahkan masalah backend dari front-end.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3448" y="2542032"/>
            <a:ext cx="43251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Lebih mudah melihat status HTTP dan JSON.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3044952"/>
            <a:ext cx="43251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Jika endpoint gagal, UI belum perlu dicurigai.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0520"/>
            <a:ext cx="2743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>
                <a:solidFill>
                  <a:srgbClr val="173B67"/>
                </a:solidFill>
                <a:latin typeface="Aptos"/>
              </a:rPr>
              <a:t>Eksperimen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72000"/>
            <a:ext cx="1033272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400" b="0">
                <a:solidFill>
                  <a:srgbClr val="30353D"/>
                </a:solidFill>
                <a:latin typeface="Aptos"/>
              </a:rPr>
              <a:t>1. Matikan server → kirim pesan dari browser.
2. Amati catch() pada script.js.
3. Hidupkan server kembali → uji lagi.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12 • JavaScript Async, Fetch API &amp; Integrasi AI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Tantangan: Ubah dan Evaluasi Aplikasi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524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4747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64008" cy="45720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399032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Tantangan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856232"/>
            <a:ext cx="30906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Tambahkan indikator loading yang lebih jelas.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359152"/>
            <a:ext cx="30906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Disable tombol selama request.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862072"/>
            <a:ext cx="30906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Tampilkan pesan error yang ramah pengguna.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234440"/>
            <a:ext cx="3474720" cy="45720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234440"/>
            <a:ext cx="64008" cy="45720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399032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Tantangan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56232"/>
            <a:ext cx="30906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Tambahkan validasi panjang pesan.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359152"/>
            <a:ext cx="30906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Batasi input kosong atau terlalu panjang.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62072"/>
            <a:ext cx="30906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Pisahkan fungsi API call dan render UI.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7304" y="1234440"/>
            <a:ext cx="34747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47304" y="1234440"/>
            <a:ext cx="64008" cy="4572000"/>
          </a:xfrm>
          <a:prstGeom prst="rect">
            <a:avLst/>
          </a:prstGeom>
          <a:solidFill>
            <a:srgbClr val="2C7A53"/>
          </a:solidFill>
          <a:ln>
            <a:solidFill>
              <a:srgbClr val="2C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1399032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Tantangan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1856232"/>
            <a:ext cx="30906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Tanyakan fakta dan opini ke chatbot.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2359152"/>
            <a:ext cx="30906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Catat kemungkinan hallucination.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2862072"/>
            <a:ext cx="30906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Verifikasi minimal 2 klaim faktual.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3364991"/>
            <a:ext cx="30906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Diskusikan potensi bias.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>
                <a:solidFill>
                  <a:srgbClr val="1565C0"/>
                </a:solidFill>
                <a:latin typeface="Aptos"/>
              </a:rPr>
              <a:t>PERTEMUAN 12 • JavaScript Async, Fetch API &amp; Integrasi AI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93776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>
                <a:solidFill>
                  <a:srgbClr val="173B67"/>
                </a:solidFill>
                <a:latin typeface="Aptos"/>
              </a:rPr>
              <a:t>Rangkuman &amp; Exit Ticket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" y="1005840"/>
            <a:ext cx="11155680" cy="0"/>
          </a:xfrm>
          <a:prstGeom prst="line">
            <a:avLst/>
          </a:prstGeom>
          <a:ln w="1524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2608" y="6565392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00" b="0">
                <a:solidFill>
                  <a:srgbClr val="646E7D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01384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900" b="1">
                <a:solidFill>
                  <a:srgbClr val="646E7D"/>
                </a:solidFill>
                <a:latin typeface="Aptos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394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3434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90472"/>
            <a:ext cx="5029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Poin kunci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Promise merepresentasikan hasil asynchronous.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059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async/await menyederhanakan alur asynchronous.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5351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Fetch digunakan untuk HTTP request.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5643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response.ok perlu diperiksa.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95935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try/catch/finally penting untuk error handling.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46227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AI API sebaiknya dipanggil melalui backend proxy.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325880"/>
            <a:ext cx="5394960" cy="4343400"/>
          </a:xfrm>
          <a:prstGeom prst="roundRect">
            <a:avLst/>
          </a:prstGeom>
          <a:solidFill>
            <a:srgbClr val="FFF4E5"/>
          </a:solidFill>
          <a:ln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91072" y="1325880"/>
            <a:ext cx="64008" cy="4343400"/>
          </a:xfrm>
          <a:prstGeom prst="rect">
            <a:avLst/>
          </a:prstGeom>
          <a:solidFill>
            <a:srgbClr val="F29E00"/>
          </a:solidFill>
          <a:ln>
            <a:solidFill>
              <a:srgbClr val="F2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90472"/>
            <a:ext cx="5029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>
                <a:solidFill>
                  <a:srgbClr val="173B67"/>
                </a:solidFill>
                <a:latin typeface="Aptos"/>
              </a:rPr>
              <a:t>Keamanan &amp; berpikir kritis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47672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API key disimpan di server/.env.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45059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Jangan menaruh secret di front-end.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5351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AI dapat hallucinate dan menunjukkan bias.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5643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Output penting harus diverifikasi.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959351"/>
            <a:ext cx="5010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>
                <a:solidFill>
                  <a:srgbClr val="30353D"/>
                </a:solidFill>
                <a:latin typeface="Aptos"/>
              </a:rPr>
              <a:t>• Pahami alur data, bukan hanya menyalin kode.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06440"/>
            <a:ext cx="106984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400" b="1">
                <a:solidFill>
                  <a:srgbClr val="173B67"/>
                </a:solidFill>
                <a:latin typeface="Aptos"/>
              </a:rPr>
              <a:t>EXIT TICKET: Gambarkan alur Browser → Backend → AI API dan jelaskan di mana API key disimpan serta bagaimana Anda memvalidasi jawaban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